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running stack already built but idle. The most persuasive moment is graphs going from flat to flowing while people watch.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Numbered left to right, in the order the demo talks through them. Point at 1 and 2 as the inputs, 3-6 as the outputs to verify.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Sink 4 updates 4x as often as sink 3. Quantities reconcile — the four accounts sum to the block. The update counts differ by design.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numbers out loud BEFORE starting the generators. Then the dashboard either matches or it does not.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generators come up idle on purpose, so the dashboard is visibly empty until you start them. A stack that is already busy when it appears gives the moment away.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jobs because Part 2 consumes the published position topics rather than an in-process stream. Either part can be restarted or rescaled without the other, and Part 2 validates the topics that are themselves deliverables. Use this slide if the Flink UI is not reachable.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rendered from the real measurement windows. If the live demo will not start, this slide and the Flink graph slide are the demo.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only show that something scales when it is the thing that is constrained. Step 10 got this wrong — it varied parallelism while Flink already had every core it could use, and the answer came back flat.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dashed line is exactly 2x the first bar. The whole claim is whether the second bar reaches it -- 146,063 against 146,794, which is 99.5%. Step 10 got this wrong by varying parallelism while Flink already had every core it could use, and the answer came back flat.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cannot answer something, say so and take it as an action item to change the logging. That is the instruction in the requirements, and it beats an explanation invented on the spot.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2 is the one that settles the broadcast-prices question.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148840"/>
          </a:xfrm>
          <a:prstGeom prst="rect">
            <a:avLst/>
          </a:prstGeom>
          <a:solidFill>
            <a:srgbClr val="14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58368"/>
            <a:ext cx="10515600" cy="1280160"/>
          </a:xfrm>
          <a:prstGeom prst="rect">
            <a:avLst/>
          </a:prstGeom>
          <a:noFill/>
        </p:spPr>
        <p:txBody>
          <a:bodyPr wrap="square">
            <a:spAutoFit/>
          </a:bodyPr>
          <a:lstStyle/>
          <a:p>
            <a:pPr algn="l"/>
            <a:r>
              <a:rPr sz="1200" b="1" i="0" spc="160">
                <a:solidFill>
                  <a:srgbClr val="7FB6CB"/>
                </a:solidFill>
                <a:latin typeface="Segoe UI"/>
              </a:rPr>
              <a:t>FINAL PROJECT</a:t>
            </a:r>
          </a:p>
          <a:p>
            <a:r>
              <a:rPr sz="3400" b="1" i="0">
                <a:solidFill>
                  <a:srgbClr val="FFFFFF"/>
                </a:solidFill>
                <a:latin typeface="Segoe UI"/>
              </a:rPr>
              <a:t>Positions and Market Value from Block Trades</a:t>
            </a:r>
          </a:p>
        </p:txBody>
      </p:sp>
      <p:sp>
        <p:nvSpPr>
          <p:cNvPr id="4" name="TextBox 3"/>
          <p:cNvSpPr txBox="1"/>
          <p:nvPr/>
        </p:nvSpPr>
        <p:spPr>
          <a:xfrm>
            <a:off x="822960" y="2514600"/>
            <a:ext cx="10515600" cy="548640"/>
          </a:xfrm>
          <a:prstGeom prst="rect">
            <a:avLst/>
          </a:prstGeom>
          <a:noFill/>
        </p:spPr>
        <p:txBody>
          <a:bodyPr wrap="square">
            <a:spAutoFit/>
          </a:bodyPr>
          <a:lstStyle/>
          <a:p>
            <a:pPr algn="l"/>
            <a:r>
              <a:rPr sz="1650" b="0" i="0">
                <a:solidFill>
                  <a:srgbClr val="2E3D4A"/>
                </a:solidFill>
                <a:latin typeface="Segoe UI"/>
              </a:rPr>
              <a:t>A streaming pipeline that aggregates block trades two ways, joins prices, and publishes market value — with exactly-once delivery.</a:t>
            </a:r>
          </a:p>
        </p:txBody>
      </p:sp>
      <p:graphicFrame>
        <p:nvGraphicFramePr>
          <p:cNvPr id="5" name="Table 4"/>
          <p:cNvGraphicFramePr>
            <a:graphicFrameLocks noGrp="1"/>
          </p:cNvGraphicFramePr>
          <p:nvPr/>
        </p:nvGraphicFramePr>
        <p:xfrm>
          <a:off x="822960" y="3337560"/>
          <a:ext cx="10241280" cy="1847088"/>
        </p:xfrm>
        <a:graphic>
          <a:graphicData uri="http://schemas.openxmlformats.org/drawingml/2006/table">
            <a:tbl>
              <a:tblPr bandRow="1">
                <a:tableStyleId>{5C22544A-7EE6-4342-B048-85BDC9FD1C3A}</a:tableStyleId>
              </a:tblPr>
              <a:tblGrid>
                <a:gridCol w="2011680"/>
                <a:gridCol w="8229600"/>
              </a:tblGrid>
              <a:tr h="384048">
                <a:tc>
                  <a:txBody>
                    <a:bodyPr wrap="square"/>
                    <a:lstStyle/>
                    <a:p>
                      <a:pPr algn="l"/>
                      <a:r>
                        <a:rPr sz="1350" b="1" i="0">
                          <a:solidFill>
                            <a:srgbClr val="FFFFFF"/>
                          </a:solidFill>
                          <a:latin typeface="Segoe UI"/>
                        </a:rPr>
                        <a:t>Runtime</a:t>
                      </a:r>
                    </a:p>
                  </a:txBody>
                  <a:tcPr marL="109728" marR="109728" anchor="ctr">
                    <a:solidFill>
                      <a:srgbClr val="14222E"/>
                    </a:solidFill>
                  </a:tcPr>
                </a:tc>
                <a:tc>
                  <a:txBody>
                    <a:bodyPr wrap="square"/>
                    <a:lstStyle/>
                    <a:p>
                      <a:pPr algn="r"/>
                      <a:r>
                        <a:rPr sz="1350" b="1" i="0">
                          <a:solidFill>
                            <a:srgbClr val="FFFFFF"/>
                          </a:solidFill>
                          <a:latin typeface="Segoe UI"/>
                        </a:rPr>
                        <a:t>Apache Flink 1.20 · Java 17</a:t>
                      </a:r>
                    </a:p>
                  </a:txBody>
                  <a:tcPr marL="109728" marR="109728" anchor="ctr">
                    <a:solidFill>
                      <a:srgbClr val="14222E"/>
                    </a:solidFill>
                  </a:tcPr>
                </a:tc>
              </a:tr>
              <a:tr h="365760">
                <a:tc>
                  <a:txBody>
                    <a:bodyPr wrap="square"/>
                    <a:lstStyle/>
                    <a:p>
                      <a:pPr algn="l"/>
                      <a:r>
                        <a:rPr sz="1350" b="0" i="0">
                          <a:solidFill>
                            <a:srgbClr val="2E3D4A"/>
                          </a:solidFill>
                          <a:latin typeface="Segoe UI"/>
                        </a:rPr>
                        <a:t>Transport</a:t>
                      </a:r>
                    </a:p>
                  </a:txBody>
                  <a:tcPr marL="109728" marR="109728" anchor="ctr">
                    <a:solidFill>
                      <a:srgbClr val="FFFFFF"/>
                    </a:solidFill>
                  </a:tcPr>
                </a:tc>
                <a:tc>
                  <a:txBody>
                    <a:bodyPr wrap="square"/>
                    <a:lstStyle/>
                    <a:p>
                      <a:pPr algn="r"/>
                      <a:r>
                        <a:rPr sz="1350" b="0" i="0">
                          <a:solidFill>
                            <a:srgbClr val="2E3D4A"/>
                          </a:solidFill>
                          <a:latin typeface="Segoe UI"/>
                        </a:rPr>
                        <a:t>Apache Kafka 3.9 (KRaft)</a:t>
                      </a:r>
                    </a:p>
                  </a:txBody>
                  <a:tcPr marL="109728" marR="109728" anchor="ctr">
                    <a:solidFill>
                      <a:srgbClr val="FFFFFF"/>
                    </a:solidFill>
                  </a:tcPr>
                </a:tc>
              </a:tr>
              <a:tr h="365760">
                <a:tc>
                  <a:txBody>
                    <a:bodyPr wrap="square"/>
                    <a:lstStyle/>
                    <a:p>
                      <a:pPr algn="l"/>
                      <a:r>
                        <a:rPr sz="1350" b="0" i="0">
                          <a:solidFill>
                            <a:srgbClr val="2E3D4A"/>
                          </a:solidFill>
                          <a:latin typeface="Segoe UI"/>
                        </a:rPr>
                        <a:t>Delivery</a:t>
                      </a:r>
                    </a:p>
                  </a:txBody>
                  <a:tcPr marL="109728" marR="109728" anchor="ctr">
                    <a:solidFill>
                      <a:srgbClr val="FFFFFF"/>
                    </a:solidFill>
                  </a:tcPr>
                </a:tc>
                <a:tc>
                  <a:txBody>
                    <a:bodyPr wrap="square"/>
                    <a:lstStyle/>
                    <a:p>
                      <a:pPr algn="r"/>
                      <a:r>
                        <a:rPr sz="1350" b="0" i="0">
                          <a:solidFill>
                            <a:srgbClr val="2E3D4A"/>
                          </a:solidFill>
                          <a:latin typeface="Segoe UI"/>
                        </a:rPr>
                        <a:t>exactly-once, verified by killing a task manager</a:t>
                      </a:r>
                    </a:p>
                  </a:txBody>
                  <a:tcPr marL="109728" marR="109728" anchor="ctr">
                    <a:solidFill>
                      <a:srgbClr val="FFFFFF"/>
                    </a:solidFill>
                  </a:tcPr>
                </a:tc>
              </a:tr>
              <a:tr h="365760">
                <a:tc>
                  <a:txBody>
                    <a:bodyPr wrap="square"/>
                    <a:lstStyle/>
                    <a:p>
                      <a:pPr algn="l"/>
                      <a:r>
                        <a:rPr sz="1350" b="0" i="0">
                          <a:solidFill>
                            <a:srgbClr val="2E3D4A"/>
                          </a:solidFill>
                          <a:latin typeface="Segoe UI"/>
                        </a:rPr>
                        <a:t>Observability</a:t>
                      </a:r>
                    </a:p>
                  </a:txBody>
                  <a:tcPr marL="109728" marR="109728" anchor="ctr">
                    <a:solidFill>
                      <a:srgbClr val="FFFFFF"/>
                    </a:solidFill>
                  </a:tcPr>
                </a:tc>
                <a:tc>
                  <a:txBody>
                    <a:bodyPr wrap="square"/>
                    <a:lstStyle/>
                    <a:p>
                      <a:pPr algn="r"/>
                      <a:r>
                        <a:rPr sz="1350" b="0" i="0">
                          <a:solidFill>
                            <a:srgbClr val="2E3D4A"/>
                          </a:solidFill>
                          <a:latin typeface="Segoe UI"/>
                        </a:rPr>
                        <a:t>Prometheus · Grafana</a:t>
                      </a:r>
                    </a:p>
                  </a:txBody>
                  <a:tcPr marL="109728" marR="109728" anchor="ctr">
                    <a:solidFill>
                      <a:srgbClr val="FFFFFF"/>
                    </a:solidFill>
                  </a:tcPr>
                </a:tc>
              </a:tr>
              <a:tr h="365760">
                <a:tc>
                  <a:txBody>
                    <a:bodyPr wrap="square"/>
                    <a:lstStyle/>
                    <a:p>
                      <a:pPr algn="l"/>
                      <a:r>
                        <a:rPr sz="1350" b="0" i="0">
                          <a:solidFill>
                            <a:srgbClr val="2E3D4A"/>
                          </a:solidFill>
                          <a:latin typeface="Segoe UI"/>
                        </a:rPr>
                        <a:t>Runs on</a:t>
                      </a:r>
                    </a:p>
                  </a:txBody>
                  <a:tcPr marL="109728" marR="109728" anchor="ctr">
                    <a:solidFill>
                      <a:srgbClr val="FFFFFF"/>
                    </a:solidFill>
                  </a:tcPr>
                </a:tc>
                <a:tc>
                  <a:txBody>
                    <a:bodyPr wrap="square"/>
                    <a:lstStyle/>
                    <a:p>
                      <a:pPr algn="r"/>
                      <a:r>
                        <a:rPr sz="1350" b="0" i="0">
                          <a:solidFill>
                            <a:srgbClr val="2E3D4A"/>
                          </a:solidFill>
                          <a:latin typeface="Segoe UI"/>
                        </a:rPr>
                        <a:t>one laptop, `docker compose up` — and on AWS unchanged</a:t>
                      </a:r>
                    </a:p>
                  </a:txBody>
                  <a:tcPr marL="109728" marR="109728" anchor="ctr">
                    <a:solidFill>
                      <a:srgbClr val="FFFFFF"/>
                    </a:solidFill>
                  </a:tcPr>
                </a:tc>
              </a:tr>
            </a:tbl>
          </a:graphicData>
        </a:graphic>
      </p:graphicFrame>
      <p:sp>
        <p:nvSpPr>
          <p:cNvPr id="6" name="TextBox 5"/>
          <p:cNvSpPr txBox="1"/>
          <p:nvPr/>
        </p:nvSpPr>
        <p:spPr>
          <a:xfrm>
            <a:off x="822960" y="5989320"/>
            <a:ext cx="10515600" cy="457200"/>
          </a:xfrm>
          <a:prstGeom prst="rect">
            <a:avLst/>
          </a:prstGeom>
          <a:noFill/>
        </p:spPr>
        <p:txBody>
          <a:bodyPr wrap="square">
            <a:spAutoFit/>
          </a:bodyPr>
          <a:lstStyle/>
          <a:p>
            <a:pPr algn="l"/>
            <a:r>
              <a:rPr sz="1300" b="0" i="1">
                <a:solidFill>
                  <a:srgbClr val="6B7A87"/>
                </a:solidFill>
                <a:latin typeface="Segoe UI"/>
              </a:rPr>
              <a:t>The live demo is the deliverable. These slides are the handout and the backup.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THE DESIGN</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Six numbered elements, end to end</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ipeline.png"/>
          <p:cNvPicPr>
            <a:picLocks noChangeAspect="1"/>
          </p:cNvPicPr>
          <p:nvPr/>
        </p:nvPicPr>
        <p:blipFill>
          <a:blip r:embed="rId2"/>
          <a:stretch>
            <a:fillRect/>
          </a:stretch>
        </p:blipFill>
        <p:spPr>
          <a:xfrm>
            <a:off x="841248" y="1965960"/>
            <a:ext cx="10515600" cy="3933175"/>
          </a:xfrm>
          <a:prstGeom prst="rect">
            <a:avLst/>
          </a:prstGeom>
        </p:spPr>
      </p:pic>
      <p:sp>
        <p:nvSpPr>
          <p:cNvPr id="6" name="TextBox 5"/>
          <p:cNvSpPr txBox="1"/>
          <p:nvPr/>
        </p:nvSpPr>
        <p:spPr>
          <a:xfrm>
            <a:off x="841248" y="6008863"/>
            <a:ext cx="10515600" cy="365760"/>
          </a:xfrm>
          <a:prstGeom prst="rect">
            <a:avLst/>
          </a:prstGeom>
          <a:noFill/>
        </p:spPr>
        <p:txBody>
          <a:bodyPr wrap="square">
            <a:spAutoFit/>
          </a:bodyPr>
          <a:lstStyle/>
          <a:p>
            <a:pPr algn="l"/>
            <a:r>
              <a:rPr sz="1350" b="0" i="1">
                <a:solidFill>
                  <a:srgbClr val="6B7A87"/>
                </a:solidFill>
                <a:latin typeface="Segoe UI"/>
              </a:rPr>
              <a:t>Every edge carries its partition key and value.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THE PROBLEM</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One order becomes four allocations</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46504"/>
            <a:ext cx="10881360" cy="3840480"/>
          </a:xfrm>
          <a:prstGeom prst="rect">
            <a:avLst/>
          </a:prstGeom>
          <a:noFill/>
        </p:spPr>
        <p:txBody>
          <a:bodyPr wrap="square">
            <a:spAutoFit/>
          </a:bodyPr>
          <a:lstStyle/>
          <a:p>
            <a:pPr algn="l">
              <a:spcAft>
                <a:spcPts val="1400"/>
              </a:spcAft>
            </a:pPr>
            <a:r>
              <a:rPr sz="1700" b="1" i="0">
                <a:solidFill>
                  <a:srgbClr val="1B6B8A"/>
                </a:solidFill>
                <a:latin typeface="Segoe UI"/>
              </a:rPr>
              <a:t>▸   </a:t>
            </a:r>
            <a:r>
              <a:rPr sz="1700" b="1" i="0">
                <a:solidFill>
                  <a:srgbClr val="14222E"/>
                </a:solidFill>
                <a:latin typeface="Segoe UI"/>
              </a:rPr>
              <a:t>A block trade is one order split across several accounts.  </a:t>
            </a:r>
            <a:r>
              <a:rPr sz="1700" b="0" i="0">
                <a:solidFill>
                  <a:srgbClr val="2E3D4A"/>
                </a:solidFill>
                <a:latin typeface="Segoe UI"/>
              </a:rPr>
              <a:t>A trade of 400 shares allocated to 4 accounts becomes 4 allocations of 100.</a:t>
            </a:r>
          </a:p>
          <a:p>
            <a:pPr>
              <a:spcAft>
                <a:spcPts val="1400"/>
              </a:spcAft>
            </a:pPr>
            <a:r>
              <a:rPr sz="1700" b="1" i="0">
                <a:solidFill>
                  <a:srgbClr val="1B6B8A"/>
                </a:solidFill>
                <a:latin typeface="Segoe UI"/>
              </a:rPr>
              <a:t>▸   </a:t>
            </a:r>
            <a:r>
              <a:rPr sz="1700" b="1" i="0">
                <a:solidFill>
                  <a:srgbClr val="14222E"/>
                </a:solidFill>
                <a:latin typeface="Segoe UI"/>
              </a:rPr>
              <a:t>Publish positions two ways, in parallel.  </a:t>
            </a:r>
            <a:r>
              <a:rPr sz="1700" b="0" i="0">
                <a:solidFill>
                  <a:srgbClr val="2E3D4A"/>
                </a:solidFill>
                <a:latin typeface="Segoe UI"/>
              </a:rPr>
              <a:t>By symbol, and by account / sub-account / symbol.</a:t>
            </a:r>
          </a:p>
          <a:p>
            <a:pPr>
              <a:spcAft>
                <a:spcPts val="1400"/>
              </a:spcAft>
            </a:pPr>
            <a:r>
              <a:rPr sz="1700" b="1" i="0">
                <a:solidFill>
                  <a:srgbClr val="1B6B8A"/>
                </a:solidFill>
                <a:latin typeface="Segoe UI"/>
              </a:rPr>
              <a:t>▸   </a:t>
            </a:r>
            <a:r>
              <a:rPr sz="1700" b="1" i="0">
                <a:solidFill>
                  <a:srgbClr val="14222E"/>
                </a:solidFill>
                <a:latin typeface="Segoe UI"/>
              </a:rPr>
              <a:t>Then join prices to those positions  </a:t>
            </a:r>
            <a:r>
              <a:rPr sz="1700" b="0" i="0">
                <a:solidFill>
                  <a:srgbClr val="2E3D4A"/>
                </a:solidFill>
                <a:latin typeface="Segoe UI"/>
              </a:rPr>
              <a:t>and publish market value the same two ways, once per key per window.</a:t>
            </a:r>
          </a:p>
        </p:txBody>
      </p:sp>
      <p:sp>
        <p:nvSpPr>
          <p:cNvPr id="6" name="TextBox 5"/>
          <p:cNvSpPr txBox="1"/>
          <p:nvPr/>
        </p:nvSpPr>
        <p:spPr>
          <a:xfrm>
            <a:off x="685800" y="4032504"/>
            <a:ext cx="10881360" cy="1463040"/>
          </a:xfrm>
          <a:prstGeom prst="rect">
            <a:avLst/>
          </a:prstGeom>
          <a:noFill/>
        </p:spPr>
        <p:txBody>
          <a:bodyPr wrap="square">
            <a:spAutoFit/>
          </a:bodyPr>
          <a:lstStyle/>
          <a:p>
            <a:pPr algn="l"/>
            <a:r>
              <a:rPr sz="1500" b="0" i="0">
                <a:solidFill>
                  <a:srgbClr val="2E3D4A"/>
                </a:solidFill>
                <a:latin typeface="Segoe UI"/>
              </a:rPr>
              <a:t>That split is the whole reason the two aggregations differ. The account side sees four records for every one the symbol side sees, so sink 4 updates four times as often as sink 3 — while the quantities still reconcile, because the four allocations sum to the block. It is the first thing anyone notices on the dashboard and the first thing to have an answer ready for.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EXPECTED OUTPUT</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What the numbers should be, before we run anything</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85800" y="1746504"/>
          <a:ext cx="4937760" cy="2231136"/>
        </p:xfrm>
        <a:graphic>
          <a:graphicData uri="http://schemas.openxmlformats.org/drawingml/2006/table">
            <a:tbl>
              <a:tblPr bandRow="1">
                <a:tableStyleId>{5C22544A-7EE6-4342-B048-85BDC9FD1C3A}</a:tableStyleId>
              </a:tblPr>
              <a:tblGrid>
                <a:gridCol w="2834640"/>
                <a:gridCol w="2103120"/>
              </a:tblGrid>
              <a:tr h="402336">
                <a:tc>
                  <a:txBody>
                    <a:bodyPr wrap="square"/>
                    <a:lstStyle/>
                    <a:p>
                      <a:pPr algn="l"/>
                      <a:r>
                        <a:rPr sz="1350" b="1" i="0">
                          <a:solidFill>
                            <a:srgbClr val="FFFFFF"/>
                          </a:solidFill>
                          <a:latin typeface="Segoe UI"/>
                        </a:rPr>
                        <a:t>Input</a:t>
                      </a:r>
                    </a:p>
                  </a:txBody>
                  <a:tcPr marL="109728" marR="109728" anchor="ctr">
                    <a:solidFill>
                      <a:srgbClr val="14222E"/>
                    </a:solidFill>
                  </a:tcPr>
                </a:tc>
                <a:tc>
                  <a:txBody>
                    <a:bodyPr wrap="square"/>
                    <a:lstStyle/>
                    <a:p>
                      <a:pPr algn="r"/>
                      <a:r>
                        <a:rPr sz="1350" b="1" i="0">
                          <a:solidFill>
                            <a:srgbClr val="FFFFFF"/>
                          </a:solidFill>
                          <a:latin typeface="Segoe UI"/>
                        </a:rPr>
                        <a:t>Rate</a:t>
                      </a:r>
                    </a:p>
                  </a:txBody>
                  <a:tcPr marL="109728" marR="109728" anchor="ctr">
                    <a:solidFill>
                      <a:srgbClr val="14222E"/>
                    </a:solidFill>
                  </a:tcPr>
                </a:tc>
              </a:tr>
              <a:tr h="365760">
                <a:tc>
                  <a:txBody>
                    <a:bodyPr wrap="square"/>
                    <a:lstStyle/>
                    <a:p>
                      <a:pPr algn="l"/>
                      <a:r>
                        <a:rPr sz="1350" b="0" i="0">
                          <a:solidFill>
                            <a:srgbClr val="2E3D4A"/>
                          </a:solidFill>
                          <a:latin typeface="Segoe UI"/>
                        </a:rPr>
                        <a:t>Trades</a:t>
                      </a:r>
                    </a:p>
                  </a:txBody>
                  <a:tcPr marL="109728" marR="109728" anchor="ctr">
                    <a:solidFill>
                      <a:srgbClr val="FFFFFF"/>
                    </a:solidFill>
                  </a:tcPr>
                </a:tc>
                <a:tc>
                  <a:txBody>
                    <a:bodyPr wrap="square"/>
                    <a:lstStyle/>
                    <a:p>
                      <a:pPr algn="r"/>
                      <a:r>
                        <a:rPr sz="1350" b="0" i="0">
                          <a:solidFill>
                            <a:srgbClr val="2E3D4A"/>
                          </a:solidFill>
                          <a:latin typeface="Consolas"/>
                        </a:rPr>
                        <a:t>10 / sec</a:t>
                      </a:r>
                    </a:p>
                  </a:txBody>
                  <a:tcPr marL="109728" marR="109728" anchor="ctr">
                    <a:solidFill>
                      <a:srgbClr val="FFFFFF"/>
                    </a:solidFill>
                  </a:tcPr>
                </a:tc>
              </a:tr>
              <a:tr h="365760">
                <a:tc>
                  <a:txBody>
                    <a:bodyPr wrap="square"/>
                    <a:lstStyle/>
                    <a:p>
                      <a:pPr algn="l"/>
                      <a:r>
                        <a:rPr sz="1350" b="0" i="0">
                          <a:solidFill>
                            <a:srgbClr val="2E3D4A"/>
                          </a:solidFill>
                          <a:latin typeface="Segoe UI"/>
                        </a:rPr>
                        <a:t>Prices</a:t>
                      </a:r>
                    </a:p>
                  </a:txBody>
                  <a:tcPr marL="109728" marR="109728" anchor="ctr">
                    <a:solidFill>
                      <a:srgbClr val="FFFFFF"/>
                    </a:solidFill>
                  </a:tcPr>
                </a:tc>
                <a:tc>
                  <a:txBody>
                    <a:bodyPr wrap="square"/>
                    <a:lstStyle/>
                    <a:p>
                      <a:pPr algn="r"/>
                      <a:r>
                        <a:rPr sz="1350" b="0" i="0">
                          <a:solidFill>
                            <a:srgbClr val="2E3D4A"/>
                          </a:solidFill>
                          <a:latin typeface="Consolas"/>
                        </a:rPr>
                        <a:t>1 000 / sec</a:t>
                      </a:r>
                    </a:p>
                  </a:txBody>
                  <a:tcPr marL="109728" marR="109728" anchor="ctr">
                    <a:solidFill>
                      <a:srgbClr val="FFFFFF"/>
                    </a:solidFill>
                  </a:tcPr>
                </a:tc>
              </a:tr>
              <a:tr h="365760">
                <a:tc>
                  <a:txBody>
                    <a:bodyPr wrap="square"/>
                    <a:lstStyle/>
                    <a:p>
                      <a:pPr algn="l"/>
                      <a:r>
                        <a:rPr sz="1350" b="0" i="0">
                          <a:solidFill>
                            <a:srgbClr val="2E3D4A"/>
                          </a:solidFill>
                          <a:latin typeface="Segoe UI"/>
                        </a:rPr>
                        <a:t>Symbols</a:t>
                      </a:r>
                    </a:p>
                  </a:txBody>
                  <a:tcPr marL="109728" marR="109728" anchor="ctr">
                    <a:solidFill>
                      <a:srgbClr val="FFFFFF"/>
                    </a:solidFill>
                  </a:tcPr>
                </a:tc>
                <a:tc>
                  <a:txBody>
                    <a:bodyPr wrap="square"/>
                    <a:lstStyle/>
                    <a:p>
                      <a:pPr algn="r"/>
                      <a:r>
                        <a:rPr sz="1350" b="0" i="0">
                          <a:solidFill>
                            <a:srgbClr val="2E3D4A"/>
                          </a:solidFill>
                          <a:latin typeface="Consolas"/>
                        </a:rPr>
                        <a:t>4 unique</a:t>
                      </a:r>
                    </a:p>
                  </a:txBody>
                  <a:tcPr marL="109728" marR="109728" anchor="ctr">
                    <a:solidFill>
                      <a:srgbClr val="FFFFFF"/>
                    </a:solidFill>
                  </a:tcPr>
                </a:tc>
              </a:tr>
              <a:tr h="365760">
                <a:tc>
                  <a:txBody>
                    <a:bodyPr wrap="square"/>
                    <a:lstStyle/>
                    <a:p>
                      <a:pPr algn="l"/>
                      <a:r>
                        <a:rPr sz="1350" b="0" i="0">
                          <a:solidFill>
                            <a:srgbClr val="2E3D4A"/>
                          </a:solidFill>
                          <a:latin typeface="Segoe UI"/>
                        </a:rPr>
                        <a:t>Accounts</a:t>
                      </a:r>
                    </a:p>
                  </a:txBody>
                  <a:tcPr marL="109728" marR="109728" anchor="ctr">
                    <a:solidFill>
                      <a:srgbClr val="FFFFFF"/>
                    </a:solidFill>
                  </a:tcPr>
                </a:tc>
                <a:tc>
                  <a:txBody>
                    <a:bodyPr wrap="square"/>
                    <a:lstStyle/>
                    <a:p>
                      <a:pPr algn="r"/>
                      <a:r>
                        <a:rPr sz="1350" b="0" i="0">
                          <a:solidFill>
                            <a:srgbClr val="2E3D4A"/>
                          </a:solidFill>
                          <a:latin typeface="Consolas"/>
                        </a:rPr>
                        <a:t>4 unique</a:t>
                      </a:r>
                    </a:p>
                  </a:txBody>
                  <a:tcPr marL="109728" marR="109728" anchor="ctr">
                    <a:solidFill>
                      <a:srgbClr val="FFFFFF"/>
                    </a:solidFill>
                  </a:tcPr>
                </a:tc>
              </a:tr>
              <a:tr h="365760">
                <a:tc>
                  <a:txBody>
                    <a:bodyPr wrap="square"/>
                    <a:lstStyle/>
                    <a:p>
                      <a:pPr algn="l"/>
                      <a:r>
                        <a:rPr sz="1350" b="0" i="0">
                          <a:solidFill>
                            <a:srgbClr val="2E3D4A"/>
                          </a:solidFill>
                          <a:latin typeface="Segoe UI"/>
                        </a:rPr>
                        <a:t>Allocations per trade</a:t>
                      </a:r>
                    </a:p>
                  </a:txBody>
                  <a:tcPr marL="109728" marR="109728" anchor="ctr">
                    <a:solidFill>
                      <a:srgbClr val="FFFFFF"/>
                    </a:solidFill>
                  </a:tcPr>
                </a:tc>
                <a:tc>
                  <a:txBody>
                    <a:bodyPr wrap="square"/>
                    <a:lstStyle/>
                    <a:p>
                      <a:pPr algn="r"/>
                      <a:r>
                        <a:rPr sz="1350" b="0" i="0">
                          <a:solidFill>
                            <a:srgbClr val="2E3D4A"/>
                          </a:solidFill>
                          <a:latin typeface="Consolas"/>
                        </a:rPr>
                        <a:t>4 (one per account)</a:t>
                      </a:r>
                    </a:p>
                  </a:txBody>
                  <a:tcPr marL="109728" marR="109728" anchor="ctr">
                    <a:solidFill>
                      <a:srgbClr val="FFFFFF"/>
                    </a:solidFill>
                  </a:tcPr>
                </a:tc>
              </a:tr>
            </a:tbl>
          </a:graphicData>
        </a:graphic>
      </p:graphicFrame>
      <p:graphicFrame>
        <p:nvGraphicFramePr>
          <p:cNvPr id="6" name="Table 5"/>
          <p:cNvGraphicFramePr>
            <a:graphicFrameLocks noGrp="1"/>
          </p:cNvGraphicFramePr>
          <p:nvPr/>
        </p:nvGraphicFramePr>
        <p:xfrm>
          <a:off x="5806440" y="1746504"/>
          <a:ext cx="5760720" cy="1865376"/>
        </p:xfrm>
        <a:graphic>
          <a:graphicData uri="http://schemas.openxmlformats.org/drawingml/2006/table">
            <a:tbl>
              <a:tblPr bandRow="1">
                <a:tableStyleId>{5C22544A-7EE6-4342-B048-85BDC9FD1C3A}</a:tableStyleId>
              </a:tblPr>
              <a:tblGrid>
                <a:gridCol w="411480"/>
                <a:gridCol w="2788920"/>
                <a:gridCol w="1737360"/>
                <a:gridCol w="822960"/>
              </a:tblGrid>
              <a:tr h="402336">
                <a:tc>
                  <a:txBody>
                    <a:bodyPr wrap="square"/>
                    <a:lstStyle/>
                    <a:p>
                      <a:pPr algn="l"/>
                      <a:r>
                        <a:rPr sz="1350" b="1" i="0">
                          <a:solidFill>
                            <a:srgbClr val="FFFFFF"/>
                          </a:solidFill>
                          <a:latin typeface="Segoe UI"/>
                        </a:rPr>
                        <a:t>#</a:t>
                      </a:r>
                    </a:p>
                  </a:txBody>
                  <a:tcPr marL="109728" marR="109728" anchor="ctr">
                    <a:solidFill>
                      <a:srgbClr val="14222E"/>
                    </a:solidFill>
                  </a:tcPr>
                </a:tc>
                <a:tc>
                  <a:txBody>
                    <a:bodyPr wrap="square"/>
                    <a:lstStyle/>
                    <a:p>
                      <a:pPr algn="r"/>
                      <a:r>
                        <a:rPr sz="1350" b="1" i="0">
                          <a:solidFill>
                            <a:srgbClr val="FFFFFF"/>
                          </a:solidFill>
                          <a:latin typeface="Segoe UI"/>
                        </a:rPr>
                        <a:t>Sink</a:t>
                      </a:r>
                    </a:p>
                  </a:txBody>
                  <a:tcPr marL="109728" marR="109728" anchor="ctr">
                    <a:solidFill>
                      <a:srgbClr val="14222E"/>
                    </a:solidFill>
                  </a:tcPr>
                </a:tc>
                <a:tc>
                  <a:txBody>
                    <a:bodyPr wrap="square"/>
                    <a:lstStyle/>
                    <a:p>
                      <a:pPr algn="r"/>
                      <a:r>
                        <a:rPr sz="1350" b="1" i="0">
                          <a:solidFill>
                            <a:srgbClr val="FFFFFF"/>
                          </a:solidFill>
                          <a:latin typeface="Segoe UI"/>
                        </a:rPr>
                        <a:t>Rate in the demo</a:t>
                      </a:r>
                    </a:p>
                  </a:txBody>
                  <a:tcPr marL="109728" marR="109728" anchor="ctr">
                    <a:solidFill>
                      <a:srgbClr val="14222E"/>
                    </a:solidFill>
                  </a:tcPr>
                </a:tc>
                <a:tc>
                  <a:txBody>
                    <a:bodyPr wrap="square"/>
                    <a:lstStyle/>
                    <a:p>
                      <a:pPr algn="r"/>
                      <a:r>
                        <a:rPr sz="1350" b="1" i="0">
                          <a:solidFill>
                            <a:srgbClr val="FFFFFF"/>
                          </a:solidFill>
                          <a:latin typeface="Segoe UI"/>
                        </a:rPr>
                        <a:t>Keys</a:t>
                      </a:r>
                    </a:p>
                  </a:txBody>
                  <a:tcPr marL="109728" marR="109728" anchor="ctr">
                    <a:solidFill>
                      <a:srgbClr val="14222E"/>
                    </a:solidFill>
                  </a:tcPr>
                </a:tc>
              </a:tr>
              <a:tr h="365760">
                <a:tc>
                  <a:txBody>
                    <a:bodyPr wrap="square"/>
                    <a:lstStyle/>
                    <a:p>
                      <a:pPr algn="l"/>
                      <a:r>
                        <a:rPr sz="1350" b="0" i="0">
                          <a:solidFill>
                            <a:srgbClr val="2E3D4A"/>
                          </a:solidFill>
                          <a:latin typeface="Segoe UI"/>
                        </a:rPr>
                        <a:t>3</a:t>
                      </a:r>
                    </a:p>
                  </a:txBody>
                  <a:tcPr marL="109728" marR="109728" anchor="ctr">
                    <a:solidFill>
                      <a:srgbClr val="FFFFFF"/>
                    </a:solidFill>
                  </a:tcPr>
                </a:tc>
                <a:tc>
                  <a:txBody>
                    <a:bodyPr wrap="square"/>
                    <a:lstStyle/>
                    <a:p>
                      <a:pPr algn="r"/>
                      <a:r>
                        <a:rPr sz="1350" b="0" i="0">
                          <a:solidFill>
                            <a:srgbClr val="2E3D4A"/>
                          </a:solidFill>
                          <a:latin typeface="Consolas"/>
                        </a:rPr>
                        <a:t>positions-by-symbol</a:t>
                      </a:r>
                    </a:p>
                  </a:txBody>
                  <a:tcPr marL="109728" marR="109728" anchor="ctr">
                    <a:solidFill>
                      <a:srgbClr val="FFFFFF"/>
                    </a:solidFill>
                  </a:tcPr>
                </a:tc>
                <a:tc>
                  <a:txBody>
                    <a:bodyPr wrap="square"/>
                    <a:lstStyle/>
                    <a:p>
                      <a:pPr algn="r"/>
                      <a:r>
                        <a:rPr sz="1350" b="0" i="0">
                          <a:solidFill>
                            <a:srgbClr val="2E3D4A"/>
                          </a:solidFill>
                          <a:latin typeface="Consolas"/>
                        </a:rPr>
                        <a:t>10 / sec</a:t>
                      </a:r>
                    </a:p>
                  </a:txBody>
                  <a:tcPr marL="109728" marR="109728" anchor="ctr">
                    <a:solidFill>
                      <a:srgbClr val="FFFFFF"/>
                    </a:solidFill>
                  </a:tcPr>
                </a:tc>
                <a:tc>
                  <a:txBody>
                    <a:bodyPr wrap="square"/>
                    <a:lstStyle/>
                    <a:p>
                      <a:pPr algn="r"/>
                      <a:r>
                        <a:rPr sz="1350" b="0" i="0">
                          <a:solidFill>
                            <a:srgbClr val="2E3D4A"/>
                          </a:solidFill>
                          <a:latin typeface="Consolas"/>
                        </a:rPr>
                        <a:t>4</a:t>
                      </a:r>
                    </a:p>
                  </a:txBody>
                  <a:tcPr marL="109728" marR="109728" anchor="ctr">
                    <a:solidFill>
                      <a:srgbClr val="FFFFFF"/>
                    </a:solidFill>
                  </a:tcPr>
                </a:tc>
              </a:tr>
              <a:tr h="365760">
                <a:tc>
                  <a:txBody>
                    <a:bodyPr wrap="square"/>
                    <a:lstStyle/>
                    <a:p>
                      <a:pPr algn="l"/>
                      <a:r>
                        <a:rPr sz="1350" b="0" i="0">
                          <a:solidFill>
                            <a:srgbClr val="2E3D4A"/>
                          </a:solidFill>
                          <a:latin typeface="Segoe UI"/>
                        </a:rPr>
                        <a:t>4</a:t>
                      </a:r>
                    </a:p>
                  </a:txBody>
                  <a:tcPr marL="109728" marR="109728" anchor="ctr">
                    <a:solidFill>
                      <a:srgbClr val="FFFFFF"/>
                    </a:solidFill>
                  </a:tcPr>
                </a:tc>
                <a:tc>
                  <a:txBody>
                    <a:bodyPr wrap="square"/>
                    <a:lstStyle/>
                    <a:p>
                      <a:pPr algn="r"/>
                      <a:r>
                        <a:rPr sz="1350" b="0" i="0">
                          <a:solidFill>
                            <a:srgbClr val="2E3D4A"/>
                          </a:solidFill>
                          <a:latin typeface="Consolas"/>
                        </a:rPr>
                        <a:t>positions-by-account</a:t>
                      </a:r>
                    </a:p>
                  </a:txBody>
                  <a:tcPr marL="109728" marR="109728" anchor="ctr">
                    <a:solidFill>
                      <a:srgbClr val="FFFFFF"/>
                    </a:solidFill>
                  </a:tcPr>
                </a:tc>
                <a:tc>
                  <a:txBody>
                    <a:bodyPr wrap="square"/>
                    <a:lstStyle/>
                    <a:p>
                      <a:pPr algn="r"/>
                      <a:r>
                        <a:rPr sz="1350" b="0" i="0">
                          <a:solidFill>
                            <a:srgbClr val="2E3D4A"/>
                          </a:solidFill>
                          <a:latin typeface="Consolas"/>
                        </a:rPr>
                        <a:t>40 / sec</a:t>
                      </a:r>
                    </a:p>
                  </a:txBody>
                  <a:tcPr marL="109728" marR="109728" anchor="ctr">
                    <a:solidFill>
                      <a:srgbClr val="FFFFFF"/>
                    </a:solidFill>
                  </a:tcPr>
                </a:tc>
                <a:tc>
                  <a:txBody>
                    <a:bodyPr wrap="square"/>
                    <a:lstStyle/>
                    <a:p>
                      <a:pPr algn="r"/>
                      <a:r>
                        <a:rPr sz="1350" b="0" i="0">
                          <a:solidFill>
                            <a:srgbClr val="2E3D4A"/>
                          </a:solidFill>
                          <a:latin typeface="Consolas"/>
                        </a:rPr>
                        <a:t>16</a:t>
                      </a:r>
                    </a:p>
                  </a:txBody>
                  <a:tcPr marL="109728" marR="109728" anchor="ctr">
                    <a:solidFill>
                      <a:srgbClr val="FFFFFF"/>
                    </a:solidFill>
                  </a:tcPr>
                </a:tc>
              </a:tr>
              <a:tr h="365760">
                <a:tc>
                  <a:txBody>
                    <a:bodyPr wrap="square"/>
                    <a:lstStyle/>
                    <a:p>
                      <a:pPr algn="l"/>
                      <a:r>
                        <a:rPr sz="1350" b="0" i="0">
                          <a:solidFill>
                            <a:srgbClr val="2E3D4A"/>
                          </a:solidFill>
                          <a:latin typeface="Segoe UI"/>
                        </a:rPr>
                        <a:t>5</a:t>
                      </a:r>
                    </a:p>
                  </a:txBody>
                  <a:tcPr marL="109728" marR="109728" anchor="ctr">
                    <a:solidFill>
                      <a:srgbClr val="FFFFFF"/>
                    </a:solidFill>
                  </a:tcPr>
                </a:tc>
                <a:tc>
                  <a:txBody>
                    <a:bodyPr wrap="square"/>
                    <a:lstStyle/>
                    <a:p>
                      <a:pPr algn="r"/>
                      <a:r>
                        <a:rPr sz="1350" b="0" i="0">
                          <a:solidFill>
                            <a:srgbClr val="2E3D4A"/>
                          </a:solidFill>
                          <a:latin typeface="Consolas"/>
                        </a:rPr>
                        <a:t>mv-by-symbol</a:t>
                      </a:r>
                    </a:p>
                  </a:txBody>
                  <a:tcPr marL="109728" marR="109728" anchor="ctr">
                    <a:solidFill>
                      <a:srgbClr val="FFFFFF"/>
                    </a:solidFill>
                  </a:tcPr>
                </a:tc>
                <a:tc>
                  <a:txBody>
                    <a:bodyPr wrap="square"/>
                    <a:lstStyle/>
                    <a:p>
                      <a:pPr algn="r"/>
                      <a:r>
                        <a:rPr sz="1350" b="0" i="0">
                          <a:solidFill>
                            <a:srgbClr val="2E3D4A"/>
                          </a:solidFill>
                          <a:latin typeface="Consolas"/>
                        </a:rPr>
                        <a:t>4 per 10 s</a:t>
                      </a:r>
                    </a:p>
                  </a:txBody>
                  <a:tcPr marL="109728" marR="109728" anchor="ctr">
                    <a:solidFill>
                      <a:srgbClr val="FFFFFF"/>
                    </a:solidFill>
                  </a:tcPr>
                </a:tc>
                <a:tc>
                  <a:txBody>
                    <a:bodyPr wrap="square"/>
                    <a:lstStyle/>
                    <a:p>
                      <a:pPr algn="r"/>
                      <a:r>
                        <a:rPr sz="1350" b="0" i="0">
                          <a:solidFill>
                            <a:srgbClr val="2E3D4A"/>
                          </a:solidFill>
                          <a:latin typeface="Consolas"/>
                        </a:rPr>
                        <a:t>4</a:t>
                      </a:r>
                    </a:p>
                  </a:txBody>
                  <a:tcPr marL="109728" marR="109728" anchor="ctr">
                    <a:solidFill>
                      <a:srgbClr val="FFFFFF"/>
                    </a:solidFill>
                  </a:tcPr>
                </a:tc>
              </a:tr>
              <a:tr h="365760">
                <a:tc>
                  <a:txBody>
                    <a:bodyPr wrap="square"/>
                    <a:lstStyle/>
                    <a:p>
                      <a:pPr algn="l"/>
                      <a:r>
                        <a:rPr sz="1350" b="0" i="0">
                          <a:solidFill>
                            <a:srgbClr val="2E3D4A"/>
                          </a:solidFill>
                          <a:latin typeface="Segoe UI"/>
                        </a:rPr>
                        <a:t>6</a:t>
                      </a:r>
                    </a:p>
                  </a:txBody>
                  <a:tcPr marL="109728" marR="109728" anchor="ctr">
                    <a:solidFill>
                      <a:srgbClr val="FFFFFF"/>
                    </a:solidFill>
                  </a:tcPr>
                </a:tc>
                <a:tc>
                  <a:txBody>
                    <a:bodyPr wrap="square"/>
                    <a:lstStyle/>
                    <a:p>
                      <a:pPr algn="r"/>
                      <a:r>
                        <a:rPr sz="1350" b="0" i="0">
                          <a:solidFill>
                            <a:srgbClr val="2E3D4A"/>
                          </a:solidFill>
                          <a:latin typeface="Consolas"/>
                        </a:rPr>
                        <a:t>mv-by-account</a:t>
                      </a:r>
                    </a:p>
                  </a:txBody>
                  <a:tcPr marL="109728" marR="109728" anchor="ctr">
                    <a:solidFill>
                      <a:srgbClr val="FFFFFF"/>
                    </a:solidFill>
                  </a:tcPr>
                </a:tc>
                <a:tc>
                  <a:txBody>
                    <a:bodyPr wrap="square"/>
                    <a:lstStyle/>
                    <a:p>
                      <a:pPr algn="r"/>
                      <a:r>
                        <a:rPr sz="1350" b="0" i="0">
                          <a:solidFill>
                            <a:srgbClr val="2E3D4A"/>
                          </a:solidFill>
                          <a:latin typeface="Consolas"/>
                        </a:rPr>
                        <a:t>16 per 10 s</a:t>
                      </a:r>
                    </a:p>
                  </a:txBody>
                  <a:tcPr marL="109728" marR="109728" anchor="ctr">
                    <a:solidFill>
                      <a:srgbClr val="FFFFFF"/>
                    </a:solidFill>
                  </a:tcPr>
                </a:tc>
                <a:tc>
                  <a:txBody>
                    <a:bodyPr wrap="square"/>
                    <a:lstStyle/>
                    <a:p>
                      <a:pPr algn="r"/>
                      <a:r>
                        <a:rPr sz="1350" b="0" i="0">
                          <a:solidFill>
                            <a:srgbClr val="2E3D4A"/>
                          </a:solidFill>
                          <a:latin typeface="Consolas"/>
                        </a:rPr>
                        <a:t>16</a:t>
                      </a:r>
                    </a:p>
                  </a:txBody>
                  <a:tcPr marL="109728" marR="109728" anchor="ctr">
                    <a:solidFill>
                      <a:srgbClr val="FFFFFF"/>
                    </a:solidFill>
                  </a:tcPr>
                </a:tc>
              </a:tr>
            </a:tbl>
          </a:graphicData>
        </a:graphic>
      </p:graphicFrame>
      <p:sp>
        <p:nvSpPr>
          <p:cNvPr id="7" name="Rounded Rectangle 6"/>
          <p:cNvSpPr/>
          <p:nvPr/>
        </p:nvSpPr>
        <p:spPr>
          <a:xfrm>
            <a:off x="685800" y="4233672"/>
            <a:ext cx="10881360" cy="713232"/>
          </a:xfrm>
          <a:prstGeom prst="roundRect">
            <a:avLst/>
          </a:prstGeom>
          <a:solidFill>
            <a:srgbClr val="F2F5F7"/>
          </a:solidFill>
          <a:ln w="12700">
            <a:solidFill>
              <a:srgbClr val="D8DFE4"/>
            </a:solidFill>
          </a:ln>
          <a:effectLst/>
        </p:spPr>
        <p:style>
          <a:lnRef idx="1">
            <a:schemeClr val="accent1"/>
          </a:lnRef>
          <a:fillRef idx="3">
            <a:schemeClr val="accent1"/>
          </a:fillRef>
          <a:effectRef idx="2">
            <a:schemeClr val="accent1"/>
          </a:effectRef>
          <a:fontRef idx="minor">
            <a:schemeClr val="lt1"/>
          </a:fontRef>
        </p:style>
        <p:txBody>
          <a:bodyPr rtlCol="0" anchor="ctr" lIns="256032" wrap="square"/>
          <a:lstStyle/>
          <a:p>
            <a:pPr algn="l"/>
            <a:r>
              <a:rPr sz="1400" b="1" i="0">
                <a:solidFill>
                  <a:srgbClr val="6B7A87"/>
                </a:solidFill>
                <a:latin typeface="Segoe UI"/>
              </a:rPr>
              <a:t>Set for the demo:   </a:t>
            </a:r>
            <a:r>
              <a:rPr sz="1500" b="0" i="0">
                <a:solidFill>
                  <a:srgbClr val="2E3D4A"/>
                </a:solidFill>
                <a:latin typeface="Segoe UI"/>
              </a:rPr>
              <a:t>window </a:t>
            </a:r>
            <a:r>
              <a:rPr sz="1500" b="1" i="0">
                <a:solidFill>
                  <a:srgbClr val="14222E"/>
                </a:solidFill>
                <a:latin typeface="Consolas"/>
              </a:rPr>
              <a:t>10 s</a:t>
            </a:r>
            <a:r>
              <a:rPr sz="1500" b="0" i="0">
                <a:solidFill>
                  <a:srgbClr val="2E3D4A"/>
                </a:solidFill>
                <a:latin typeface="Segoe UI"/>
              </a:rPr>
              <a:t>     checkpoint interval </a:t>
            </a:r>
            <a:r>
              <a:rPr sz="1500" b="1" i="0">
                <a:solidFill>
                  <a:srgbClr val="14222E"/>
                </a:solidFill>
                <a:latin typeface="Consolas"/>
              </a:rPr>
              <a:t>1 s</a:t>
            </a:r>
            <a:r>
              <a:rPr sz="1500" b="0" i="0">
                <a:solidFill>
                  <a:srgbClr val="2E3D4A"/>
                </a:solidFill>
                <a:latin typeface="Segoe UI"/>
              </a:rPr>
              <a:t>     partitions </a:t>
            </a:r>
            <a:r>
              <a:rPr sz="1500" b="1" i="0">
                <a:solidFill>
                  <a:srgbClr val="14222E"/>
                </a:solidFill>
                <a:latin typeface="Consolas"/>
              </a:rPr>
              <a:t>8</a:t>
            </a:r>
          </a:p>
        </p:txBody>
      </p:sp>
      <p:sp>
        <p:nvSpPr>
          <p:cNvPr id="8" name="TextBox 7"/>
          <p:cNvSpPr txBox="1"/>
          <p:nvPr/>
        </p:nvSpPr>
        <p:spPr>
          <a:xfrm>
            <a:off x="685800" y="5166360"/>
            <a:ext cx="10881360" cy="822960"/>
          </a:xfrm>
          <a:prstGeom prst="rect">
            <a:avLst/>
          </a:prstGeom>
          <a:noFill/>
        </p:spPr>
        <p:txBody>
          <a:bodyPr wrap="square">
            <a:spAutoFit/>
          </a:bodyPr>
          <a:lstStyle/>
          <a:p>
            <a:pPr algn="l"/>
            <a:r>
              <a:rPr sz="1350" b="0" i="0">
                <a:solidFill>
                  <a:srgbClr val="2C6E49"/>
                </a:solidFill>
                <a:latin typeface="Segoe UI"/>
              </a:rPr>
              <a:t>Committing to these numbers before the run is what makes the demo a verification rather than a tour. scripts/verify-topics.sh checks every one of them against the real topics, at these settings, on every push.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377440"/>
            <a:ext cx="10241280" cy="1828800"/>
          </a:xfrm>
          <a:prstGeom prst="rect">
            <a:avLst/>
          </a:prstGeom>
          <a:noFill/>
        </p:spPr>
        <p:txBody>
          <a:bodyPr wrap="square">
            <a:spAutoFit/>
          </a:bodyPr>
          <a:lstStyle/>
          <a:p>
            <a:pPr algn="l"/>
            <a:r>
              <a:rPr sz="1300" b="1" i="0" spc="200">
                <a:solidFill>
                  <a:srgbClr val="7FB6CB"/>
                </a:solidFill>
                <a:latin typeface="Segoe UI"/>
              </a:rPr>
              <a:t>LIVE</a:t>
            </a:r>
          </a:p>
          <a:p>
            <a:r>
              <a:rPr sz="3400" b="1" i="0">
                <a:solidFill>
                  <a:srgbClr val="FFFFFF"/>
                </a:solidFill>
                <a:latin typeface="Segoe UI"/>
              </a:rPr>
              <a:t>Start the generators, then switch to Grafana</a:t>
            </a:r>
          </a:p>
          <a:p>
            <a:pPr>
              <a:spcBef>
                <a:spcPts val="1600"/>
              </a:spcBef>
            </a:pPr>
            <a:r>
              <a:rPr sz="1500" b="0" i="0">
                <a:solidFill>
                  <a:srgbClr val="B9C6D0"/>
                </a:solidFill>
                <a:latin typeface="Consolas"/>
              </a:rPr>
              <a:t>docker compose -f docker/compose.yml up -d --build     →     ./scripts/start-generators.sh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THE RUNNING PIPELINE</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What Flink shows: two jobs, six operators</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801368"/>
            <a:ext cx="5266944" cy="310896"/>
          </a:xfrm>
          <a:prstGeom prst="rect">
            <a:avLst/>
          </a:prstGeom>
          <a:noFill/>
        </p:spPr>
        <p:txBody>
          <a:bodyPr wrap="square">
            <a:spAutoFit/>
          </a:bodyPr>
          <a:lstStyle/>
          <a:p>
            <a:pPr algn="l"/>
            <a:r>
              <a:rPr sz="1500" b="1" i="0">
                <a:solidFill>
                  <a:srgbClr val="14222E"/>
                </a:solidFill>
                <a:latin typeface="Segoe UI"/>
              </a:rPr>
              <a:t>Part 1 — positions</a:t>
            </a:r>
          </a:p>
        </p:txBody>
      </p:sp>
      <p:pic>
        <p:nvPicPr>
          <p:cNvPr id="6" name="Picture 5" descr="flink-part1.png"/>
          <p:cNvPicPr>
            <a:picLocks noChangeAspect="1"/>
          </p:cNvPicPr>
          <p:nvPr/>
        </p:nvPicPr>
        <p:blipFill>
          <a:blip r:embed="rId2"/>
          <a:stretch>
            <a:fillRect/>
          </a:stretch>
        </p:blipFill>
        <p:spPr>
          <a:xfrm>
            <a:off x="566928" y="2167128"/>
            <a:ext cx="5266944" cy="3924389"/>
          </a:xfrm>
          <a:prstGeom prst="rect">
            <a:avLst/>
          </a:prstGeom>
        </p:spPr>
      </p:pic>
      <p:sp>
        <p:nvSpPr>
          <p:cNvPr id="7" name="Rectangle 6"/>
          <p:cNvSpPr/>
          <p:nvPr/>
        </p:nvSpPr>
        <p:spPr>
          <a:xfrm>
            <a:off x="566928" y="2167128"/>
            <a:ext cx="5266944" cy="3924389"/>
          </a:xfrm>
          <a:prstGeom prst="rect">
            <a:avLst/>
          </a:prstGeom>
          <a:noFill/>
          <a:ln w="12700">
            <a:solidFill>
              <a:srgbClr val="D8D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182957"/>
            <a:ext cx="5266944" cy="548640"/>
          </a:xfrm>
          <a:prstGeom prst="rect">
            <a:avLst/>
          </a:prstGeom>
          <a:noFill/>
        </p:spPr>
        <p:txBody>
          <a:bodyPr wrap="square">
            <a:spAutoFit/>
          </a:bodyPr>
          <a:lstStyle/>
          <a:p>
            <a:pPr algn="l"/>
            <a:r>
              <a:rPr sz="1200" b="0" i="0">
                <a:solidFill>
                  <a:srgbClr val="6B7A87"/>
                </a:solidFill>
                <a:latin typeface="Segoe UI"/>
              </a:rPr>
              <a:t>orders  →  split by allocation  →  two keyed aggregates, each with its own sink</a:t>
            </a:r>
          </a:p>
        </p:txBody>
      </p:sp>
      <p:sp>
        <p:nvSpPr>
          <p:cNvPr id="9" name="TextBox 8"/>
          <p:cNvSpPr txBox="1"/>
          <p:nvPr/>
        </p:nvSpPr>
        <p:spPr>
          <a:xfrm>
            <a:off x="6355080" y="1801368"/>
            <a:ext cx="5266944" cy="310896"/>
          </a:xfrm>
          <a:prstGeom prst="rect">
            <a:avLst/>
          </a:prstGeom>
          <a:noFill/>
        </p:spPr>
        <p:txBody>
          <a:bodyPr wrap="square">
            <a:spAutoFit/>
          </a:bodyPr>
          <a:lstStyle/>
          <a:p>
            <a:pPr algn="l"/>
            <a:r>
              <a:rPr sz="1500" b="1" i="0">
                <a:solidFill>
                  <a:srgbClr val="14222E"/>
                </a:solidFill>
                <a:latin typeface="Segoe UI"/>
              </a:rPr>
              <a:t>Part 2 — market value</a:t>
            </a:r>
          </a:p>
        </p:txBody>
      </p:sp>
      <p:pic>
        <p:nvPicPr>
          <p:cNvPr id="10" name="Picture 9" descr="flink-part2.png"/>
          <p:cNvPicPr>
            <a:picLocks noChangeAspect="1"/>
          </p:cNvPicPr>
          <p:nvPr/>
        </p:nvPicPr>
        <p:blipFill>
          <a:blip r:embed="rId3"/>
          <a:stretch>
            <a:fillRect/>
          </a:stretch>
        </p:blipFill>
        <p:spPr>
          <a:xfrm>
            <a:off x="6355080" y="2167128"/>
            <a:ext cx="5266944" cy="3604619"/>
          </a:xfrm>
          <a:prstGeom prst="rect">
            <a:avLst/>
          </a:prstGeom>
        </p:spPr>
      </p:pic>
      <p:sp>
        <p:nvSpPr>
          <p:cNvPr id="11" name="Rectangle 10"/>
          <p:cNvSpPr/>
          <p:nvPr/>
        </p:nvSpPr>
        <p:spPr>
          <a:xfrm>
            <a:off x="6355080" y="2167128"/>
            <a:ext cx="5266944" cy="3604619"/>
          </a:xfrm>
          <a:prstGeom prst="rect">
            <a:avLst/>
          </a:prstGeom>
          <a:noFill/>
          <a:ln w="12700">
            <a:solidFill>
              <a:srgbClr val="D8D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5863187"/>
            <a:ext cx="5266944" cy="548640"/>
          </a:xfrm>
          <a:prstGeom prst="rect">
            <a:avLst/>
          </a:prstGeom>
          <a:noFill/>
        </p:spPr>
        <p:txBody>
          <a:bodyPr wrap="square">
            <a:spAutoFit/>
          </a:bodyPr>
          <a:lstStyle/>
          <a:p>
            <a:pPr algn="l"/>
            <a:r>
              <a:rPr sz="1200" b="0" i="0">
                <a:solidFill>
                  <a:srgbClr val="6B7A87"/>
                </a:solidFill>
                <a:latin typeface="Segoe UI"/>
              </a:rPr>
              <a:t>prices broadcast to both joins; positions read back from topics 3 and 4</a:t>
            </a:r>
          </a:p>
        </p:txBody>
      </p:sp>
      <p:sp>
        <p:nvSpPr>
          <p:cNvPr id="13" name="TextBox 12"/>
          <p:cNvSpPr txBox="1"/>
          <p:nvPr/>
        </p:nvSpPr>
        <p:spPr>
          <a:xfrm>
            <a:off x="685800" y="5577840"/>
            <a:ext cx="10881360" cy="822960"/>
          </a:xfrm>
          <a:prstGeom prst="rect">
            <a:avLst/>
          </a:prstGeom>
          <a:noFill/>
        </p:spPr>
        <p:txBody>
          <a:bodyPr wrap="square">
            <a:spAutoFit/>
          </a:bodyPr>
          <a:lstStyle/>
          <a:p>
            <a:pPr algn="l"/>
            <a:r>
              <a:rPr sz="1350" b="0" i="1">
                <a:solidFill>
                  <a:srgbClr val="6B7A87"/>
                </a:solidFill>
                <a:latin typeface="Segoe UI"/>
              </a:rPr>
              <a:t>Part 2 reads sinks 3 and 4 back out of Kafka rather than taking the streams in-process, so it consumes exactly what any other consumer would — which is why Flink draws two graphs and not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WHAT IT LOOKED LIKE</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The same pipeline at two units, then four</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801368"/>
            <a:ext cx="5266944" cy="310896"/>
          </a:xfrm>
          <a:prstGeom prst="rect">
            <a:avLst/>
          </a:prstGeom>
          <a:noFill/>
        </p:spPr>
        <p:txBody>
          <a:bodyPr wrap="square">
            <a:spAutoFit/>
          </a:bodyPr>
          <a:lstStyle/>
          <a:p>
            <a:pPr algn="l"/>
            <a:r>
              <a:rPr sz="1500" b="1" i="0">
                <a:solidFill>
                  <a:srgbClr val="14222E"/>
                </a:solidFill>
                <a:latin typeface="Segoe UI"/>
              </a:rPr>
              <a:t>2 units   </a:t>
            </a:r>
            <a:r>
              <a:rPr sz="1500" b="1" i="0">
                <a:solidFill>
                  <a:srgbClr val="1B6B8A"/>
                </a:solidFill>
                <a:latin typeface="Segoe UI"/>
              </a:rPr>
              <a:t>73,397 orders/sec</a:t>
            </a:r>
          </a:p>
        </p:txBody>
      </p:sp>
      <p:pic>
        <p:nvPicPr>
          <p:cNvPr id="6" name="Picture 5" descr="grafana-2units.png"/>
          <p:cNvPicPr>
            <a:picLocks noChangeAspect="1"/>
          </p:cNvPicPr>
          <p:nvPr/>
        </p:nvPicPr>
        <p:blipFill>
          <a:blip r:embed="rId2"/>
          <a:stretch>
            <a:fillRect/>
          </a:stretch>
        </p:blipFill>
        <p:spPr>
          <a:xfrm>
            <a:off x="566928" y="2167128"/>
            <a:ext cx="5266944" cy="2062886"/>
          </a:xfrm>
          <a:prstGeom prst="rect">
            <a:avLst/>
          </a:prstGeom>
        </p:spPr>
      </p:pic>
      <p:sp>
        <p:nvSpPr>
          <p:cNvPr id="7" name="Rectangle 6"/>
          <p:cNvSpPr/>
          <p:nvPr/>
        </p:nvSpPr>
        <p:spPr>
          <a:xfrm>
            <a:off x="566928" y="2167128"/>
            <a:ext cx="5266944" cy="2062886"/>
          </a:xfrm>
          <a:prstGeom prst="rect">
            <a:avLst/>
          </a:prstGeom>
          <a:noFill/>
          <a:ln w="12700">
            <a:solidFill>
              <a:srgbClr val="D8D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801368"/>
            <a:ext cx="5266944" cy="310896"/>
          </a:xfrm>
          <a:prstGeom prst="rect">
            <a:avLst/>
          </a:prstGeom>
          <a:noFill/>
        </p:spPr>
        <p:txBody>
          <a:bodyPr wrap="square">
            <a:spAutoFit/>
          </a:bodyPr>
          <a:lstStyle/>
          <a:p>
            <a:pPr algn="l"/>
            <a:r>
              <a:rPr sz="1500" b="1" i="0">
                <a:solidFill>
                  <a:srgbClr val="14222E"/>
                </a:solidFill>
                <a:latin typeface="Segoe UI"/>
              </a:rPr>
              <a:t>4 units   </a:t>
            </a:r>
            <a:r>
              <a:rPr sz="1500" b="1" i="0">
                <a:solidFill>
                  <a:srgbClr val="1B6B8A"/>
                </a:solidFill>
                <a:latin typeface="Segoe UI"/>
              </a:rPr>
              <a:t>146,063 orders/sec</a:t>
            </a:r>
          </a:p>
        </p:txBody>
      </p:sp>
      <p:pic>
        <p:nvPicPr>
          <p:cNvPr id="9" name="Picture 8" descr="grafana-4units.png"/>
          <p:cNvPicPr>
            <a:picLocks noChangeAspect="1"/>
          </p:cNvPicPr>
          <p:nvPr/>
        </p:nvPicPr>
        <p:blipFill>
          <a:blip r:embed="rId3"/>
          <a:stretch>
            <a:fillRect/>
          </a:stretch>
        </p:blipFill>
        <p:spPr>
          <a:xfrm>
            <a:off x="6355080" y="2167128"/>
            <a:ext cx="5266944" cy="2062886"/>
          </a:xfrm>
          <a:prstGeom prst="rect">
            <a:avLst/>
          </a:prstGeom>
        </p:spPr>
      </p:pic>
      <p:sp>
        <p:nvSpPr>
          <p:cNvPr id="10" name="Rectangle 9"/>
          <p:cNvSpPr/>
          <p:nvPr/>
        </p:nvSpPr>
        <p:spPr>
          <a:xfrm>
            <a:off x="6355080" y="2167128"/>
            <a:ext cx="5266944" cy="2062886"/>
          </a:xfrm>
          <a:prstGeom prst="rect">
            <a:avLst/>
          </a:prstGeom>
          <a:noFill/>
          <a:ln w="12700">
            <a:solidFill>
              <a:srgbClr val="D8D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4433764"/>
            <a:ext cx="11064240" cy="1280160"/>
          </a:xfrm>
          <a:prstGeom prst="rect">
            <a:avLst/>
          </a:prstGeom>
          <a:noFill/>
        </p:spPr>
        <p:txBody>
          <a:bodyPr wrap="square">
            <a:spAutoFit/>
          </a:bodyPr>
          <a:lstStyle/>
          <a:p>
            <a:pPr algn="l"/>
            <a:r>
              <a:rPr sz="1600" b="1" i="0">
                <a:solidFill>
                  <a:srgbClr val="14222E"/>
                </a:solidFill>
                <a:latin typeface="Segoe UI"/>
              </a:rPr>
              <a:t>Same panels, same axes, twice the units.  </a:t>
            </a:r>
            <a:r>
              <a:rPr sz="1600" b="0" i="0">
                <a:solidFill>
                  <a:srgbClr val="2E3D4A"/>
                </a:solidFill>
                <a:latin typeface="Segoe UI"/>
              </a:rPr>
              <a:t>Orders in and positions-by-account both roughly double; the account side runs at four times the order rate throughout, because every trade splits across four accounts.</a:t>
            </a:r>
          </a:p>
          <a:p>
            <a:pPr>
              <a:spcBef>
                <a:spcPts val="1000"/>
              </a:spcBef>
            </a:pPr>
            <a:r>
              <a:rPr sz="1350" b="0" i="1">
                <a:solidFill>
                  <a:srgbClr val="6B7A87"/>
                </a:solidFill>
                <a:latin typeface="Segoe UI"/>
              </a:rPr>
              <a:t>Each image is the dashboard rendered over that case's own measurement window, so the plateau in the middle is the number the next slides quote — not a picture taken at a convenient moment.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SCALING</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Double the units, double the throughput</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85800" y="1746504"/>
          <a:ext cx="10607040" cy="1133856"/>
        </p:xfrm>
        <a:graphic>
          <a:graphicData uri="http://schemas.openxmlformats.org/drawingml/2006/table">
            <a:tbl>
              <a:tblPr bandRow="1">
                <a:tableStyleId>{5C22544A-7EE6-4342-B048-85BDC9FD1C3A}</a:tableStyleId>
              </a:tblPr>
              <a:tblGrid>
                <a:gridCol w="1188720"/>
                <a:gridCol w="1828800"/>
                <a:gridCol w="1828800"/>
                <a:gridCol w="1920240"/>
                <a:gridCol w="1828800"/>
                <a:gridCol w="2011680"/>
              </a:tblGrid>
              <a:tr h="402336">
                <a:tc>
                  <a:txBody>
                    <a:bodyPr wrap="square"/>
                    <a:lstStyle/>
                    <a:p>
                      <a:pPr algn="l"/>
                      <a:r>
                        <a:rPr sz="1400" b="1" i="0">
                          <a:solidFill>
                            <a:srgbClr val="FFFFFF"/>
                          </a:solidFill>
                          <a:latin typeface="Segoe UI"/>
                        </a:rPr>
                        <a:t>units</a:t>
                      </a:r>
                    </a:p>
                  </a:txBody>
                  <a:tcPr marL="109728" marR="109728" anchor="ctr">
                    <a:solidFill>
                      <a:srgbClr val="14222E"/>
                    </a:solidFill>
                  </a:tcPr>
                </a:tc>
                <a:tc>
                  <a:txBody>
                    <a:bodyPr wrap="square"/>
                    <a:lstStyle/>
                    <a:p>
                      <a:pPr algn="r"/>
                      <a:r>
                        <a:rPr sz="1400" b="1" i="0">
                          <a:solidFill>
                            <a:srgbClr val="FFFFFF"/>
                          </a:solidFill>
                          <a:latin typeface="Segoe UI"/>
                        </a:rPr>
                        <a:t>orders/sec</a:t>
                      </a:r>
                    </a:p>
                  </a:txBody>
                  <a:tcPr marL="109728" marR="109728" anchor="ctr">
                    <a:solidFill>
                      <a:srgbClr val="14222E"/>
                    </a:solidFill>
                  </a:tcPr>
                </a:tc>
                <a:tc>
                  <a:txBody>
                    <a:bodyPr wrap="square"/>
                    <a:lstStyle/>
                    <a:p>
                      <a:pPr algn="r"/>
                      <a:r>
                        <a:rPr sz="1400" b="1" i="0">
                          <a:solidFill>
                            <a:srgbClr val="FFFFFF"/>
                          </a:solidFill>
                          <a:latin typeface="Segoe UI"/>
                        </a:rPr>
                        <a:t>vs previous</a:t>
                      </a:r>
                    </a:p>
                  </a:txBody>
                  <a:tcPr marL="109728" marR="109728" anchor="ctr">
                    <a:solidFill>
                      <a:srgbClr val="14222E"/>
                    </a:solidFill>
                  </a:tcPr>
                </a:tc>
                <a:tc>
                  <a:txBody>
                    <a:bodyPr wrap="square"/>
                    <a:lstStyle/>
                    <a:p>
                      <a:pPr algn="r"/>
                      <a:r>
                        <a:rPr sz="1400" b="1" i="0">
                          <a:solidFill>
                            <a:srgbClr val="FFFFFF"/>
                          </a:solidFill>
                          <a:latin typeface="Segoe UI"/>
                        </a:rPr>
                        <a:t>Flink cores</a:t>
                      </a:r>
                    </a:p>
                  </a:txBody>
                  <a:tcPr marL="109728" marR="109728" anchor="ctr">
                    <a:solidFill>
                      <a:srgbClr val="14222E"/>
                    </a:solidFill>
                  </a:tcPr>
                </a:tc>
                <a:tc>
                  <a:txBody>
                    <a:bodyPr wrap="square"/>
                    <a:lstStyle/>
                    <a:p>
                      <a:pPr algn="r"/>
                      <a:r>
                        <a:rPr sz="1400" b="1" i="0">
                          <a:solidFill>
                            <a:srgbClr val="FFFFFF"/>
                          </a:solidFill>
                          <a:latin typeface="Segoe UI"/>
                        </a:rPr>
                        <a:t>broker cores</a:t>
                      </a:r>
                    </a:p>
                  </a:txBody>
                  <a:tcPr marL="109728" marR="109728" anchor="ctr">
                    <a:solidFill>
                      <a:srgbClr val="14222E"/>
                    </a:solidFill>
                  </a:tcPr>
                </a:tc>
                <a:tc>
                  <a:txBody>
                    <a:bodyPr wrap="square"/>
                    <a:lstStyle/>
                    <a:p>
                      <a:pPr algn="r"/>
                      <a:r>
                        <a:rPr sz="1400" b="1" i="0">
                          <a:solidFill>
                            <a:srgbClr val="FFFFFF"/>
                          </a:solidFill>
                          <a:latin typeface="Segoe UI"/>
                        </a:rPr>
                        <a:t>back-pressure</a:t>
                      </a:r>
                    </a:p>
                  </a:txBody>
                  <a:tcPr marL="109728" marR="109728" anchor="ctr">
                    <a:solidFill>
                      <a:srgbClr val="14222E"/>
                    </a:solidFill>
                  </a:tcPr>
                </a:tc>
              </a:tr>
              <a:tr h="365760">
                <a:tc>
                  <a:txBody>
                    <a:bodyPr wrap="square"/>
                    <a:lstStyle/>
                    <a:p>
                      <a:pPr algn="l"/>
                      <a:r>
                        <a:rPr sz="1400" b="0" i="0">
                          <a:solidFill>
                            <a:srgbClr val="2E3D4A"/>
                          </a:solidFill>
                          <a:latin typeface="Segoe UI"/>
                        </a:rPr>
                        <a:t>2</a:t>
                      </a:r>
                    </a:p>
                  </a:txBody>
                  <a:tcPr marL="109728" marR="109728" anchor="ctr">
                    <a:solidFill>
                      <a:srgbClr val="FFFFFF"/>
                    </a:solidFill>
                  </a:tcPr>
                </a:tc>
                <a:tc>
                  <a:txBody>
                    <a:bodyPr wrap="square"/>
                    <a:lstStyle/>
                    <a:p>
                      <a:pPr algn="r"/>
                      <a:r>
                        <a:rPr sz="1400" b="0" i="0">
                          <a:solidFill>
                            <a:srgbClr val="2E3D4A"/>
                          </a:solidFill>
                          <a:latin typeface="Consolas"/>
                        </a:rPr>
                        <a:t>73 397</a:t>
                      </a:r>
                    </a:p>
                  </a:txBody>
                  <a:tcPr marL="109728" marR="109728" anchor="ctr">
                    <a:solidFill>
                      <a:srgbClr val="FFFFFF"/>
                    </a:solidFill>
                  </a:tcPr>
                </a:tc>
                <a:tc>
                  <a:txBody>
                    <a:bodyPr wrap="square"/>
                    <a:lstStyle/>
                    <a:p>
                      <a:pPr algn="r"/>
                      <a:r>
                        <a:rPr sz="1400" b="0" i="0">
                          <a:solidFill>
                            <a:srgbClr val="2E3D4A"/>
                          </a:solidFill>
                          <a:latin typeface="Consolas"/>
                        </a:rPr>
                        <a:t>—</a:t>
                      </a:r>
                    </a:p>
                  </a:txBody>
                  <a:tcPr marL="109728" marR="109728" anchor="ctr">
                    <a:solidFill>
                      <a:srgbClr val="FFFFFF"/>
                    </a:solidFill>
                  </a:tcPr>
                </a:tc>
                <a:tc>
                  <a:txBody>
                    <a:bodyPr wrap="square"/>
                    <a:lstStyle/>
                    <a:p>
                      <a:pPr algn="r"/>
                      <a:r>
                        <a:rPr sz="1400" b="0" i="0">
                          <a:solidFill>
                            <a:srgbClr val="2E3D4A"/>
                          </a:solidFill>
                          <a:latin typeface="Consolas"/>
                        </a:rPr>
                        <a:t>1.99 of 2</a:t>
                      </a:r>
                    </a:p>
                  </a:txBody>
                  <a:tcPr marL="109728" marR="109728" anchor="ctr">
                    <a:solidFill>
                      <a:srgbClr val="FFFFFF"/>
                    </a:solidFill>
                  </a:tcPr>
                </a:tc>
                <a:tc>
                  <a:txBody>
                    <a:bodyPr wrap="square"/>
                    <a:lstStyle/>
                    <a:p>
                      <a:pPr algn="r"/>
                      <a:r>
                        <a:rPr sz="1400" b="0" i="0">
                          <a:solidFill>
                            <a:srgbClr val="2E3D4A"/>
                          </a:solidFill>
                          <a:latin typeface="Consolas"/>
                        </a:rPr>
                        <a:t>0.39</a:t>
                      </a:r>
                    </a:p>
                  </a:txBody>
                  <a:tcPr marL="109728" marR="109728" anchor="ctr">
                    <a:solidFill>
                      <a:srgbClr val="FFFFFF"/>
                    </a:solidFill>
                  </a:tcPr>
                </a:tc>
                <a:tc>
                  <a:txBody>
                    <a:bodyPr wrap="square"/>
                    <a:lstStyle/>
                    <a:p>
                      <a:pPr algn="r"/>
                      <a:r>
                        <a:rPr sz="1400" b="0" i="0">
                          <a:solidFill>
                            <a:srgbClr val="2E3D4A"/>
                          </a:solidFill>
                          <a:latin typeface="Consolas"/>
                        </a:rPr>
                        <a:t>26.5%</a:t>
                      </a:r>
                    </a:p>
                  </a:txBody>
                  <a:tcPr marL="109728" marR="109728" anchor="ctr">
                    <a:solidFill>
                      <a:srgbClr val="FFFFFF"/>
                    </a:solidFill>
                  </a:tcPr>
                </a:tc>
              </a:tr>
              <a:tr h="365760">
                <a:tc>
                  <a:txBody>
                    <a:bodyPr wrap="square"/>
                    <a:lstStyle/>
                    <a:p>
                      <a:pPr algn="l"/>
                      <a:r>
                        <a:rPr sz="1400" b="1" i="0">
                          <a:solidFill>
                            <a:srgbClr val="14222E"/>
                          </a:solidFill>
                          <a:latin typeface="Segoe UI"/>
                        </a:rPr>
                        <a:t>4</a:t>
                      </a:r>
                    </a:p>
                  </a:txBody>
                  <a:tcPr marL="109728" marR="109728" anchor="ctr">
                    <a:solidFill>
                      <a:srgbClr val="F2F5F7"/>
                    </a:solidFill>
                  </a:tcPr>
                </a:tc>
                <a:tc>
                  <a:txBody>
                    <a:bodyPr wrap="square"/>
                    <a:lstStyle/>
                    <a:p>
                      <a:pPr algn="r"/>
                      <a:r>
                        <a:rPr sz="1400" b="1" i="0">
                          <a:solidFill>
                            <a:srgbClr val="14222E"/>
                          </a:solidFill>
                          <a:latin typeface="Consolas"/>
                        </a:rPr>
                        <a:t>146 063</a:t>
                      </a:r>
                    </a:p>
                  </a:txBody>
                  <a:tcPr marL="109728" marR="109728" anchor="ctr">
                    <a:solidFill>
                      <a:srgbClr val="F2F5F7"/>
                    </a:solidFill>
                  </a:tcPr>
                </a:tc>
                <a:tc>
                  <a:txBody>
                    <a:bodyPr wrap="square"/>
                    <a:lstStyle/>
                    <a:p>
                      <a:pPr algn="r"/>
                      <a:r>
                        <a:rPr sz="1400" b="1" i="0">
                          <a:solidFill>
                            <a:srgbClr val="14222E"/>
                          </a:solidFill>
                          <a:latin typeface="Consolas"/>
                        </a:rPr>
                        <a:t>1.99×</a:t>
                      </a:r>
                    </a:p>
                  </a:txBody>
                  <a:tcPr marL="109728" marR="109728" anchor="ctr">
                    <a:solidFill>
                      <a:srgbClr val="F2F5F7"/>
                    </a:solidFill>
                  </a:tcPr>
                </a:tc>
                <a:tc>
                  <a:txBody>
                    <a:bodyPr wrap="square"/>
                    <a:lstStyle/>
                    <a:p>
                      <a:pPr algn="r"/>
                      <a:r>
                        <a:rPr sz="1400" b="1" i="0">
                          <a:solidFill>
                            <a:srgbClr val="14222E"/>
                          </a:solidFill>
                          <a:latin typeface="Consolas"/>
                        </a:rPr>
                        <a:t>3.89 of 4</a:t>
                      </a:r>
                    </a:p>
                  </a:txBody>
                  <a:tcPr marL="109728" marR="109728" anchor="ctr">
                    <a:solidFill>
                      <a:srgbClr val="F2F5F7"/>
                    </a:solidFill>
                  </a:tcPr>
                </a:tc>
                <a:tc>
                  <a:txBody>
                    <a:bodyPr wrap="square"/>
                    <a:lstStyle/>
                    <a:p>
                      <a:pPr algn="r"/>
                      <a:r>
                        <a:rPr sz="1400" b="1" i="0">
                          <a:solidFill>
                            <a:srgbClr val="14222E"/>
                          </a:solidFill>
                          <a:latin typeface="Consolas"/>
                        </a:rPr>
                        <a:t>0.78</a:t>
                      </a:r>
                    </a:p>
                  </a:txBody>
                  <a:tcPr marL="109728" marR="109728" anchor="ctr">
                    <a:solidFill>
                      <a:srgbClr val="F2F5F7"/>
                    </a:solidFill>
                  </a:tcPr>
                </a:tc>
                <a:tc>
                  <a:txBody>
                    <a:bodyPr wrap="square"/>
                    <a:lstStyle/>
                    <a:p>
                      <a:pPr algn="r"/>
                      <a:r>
                        <a:rPr sz="1400" b="1" i="0">
                          <a:solidFill>
                            <a:srgbClr val="14222E"/>
                          </a:solidFill>
                          <a:latin typeface="Consolas"/>
                        </a:rPr>
                        <a:t>47.3%</a:t>
                      </a:r>
                    </a:p>
                  </a:txBody>
                  <a:tcPr marL="109728" marR="109728" anchor="ctr">
                    <a:solidFill>
                      <a:srgbClr val="F2F5F7"/>
                    </a:solidFill>
                  </a:tcPr>
                </a:tc>
              </a:tr>
            </a:tbl>
          </a:graphicData>
        </a:graphic>
      </p:graphicFrame>
      <p:sp>
        <p:nvSpPr>
          <p:cNvPr id="6" name="TextBox 5"/>
          <p:cNvSpPr txBox="1"/>
          <p:nvPr/>
        </p:nvSpPr>
        <p:spPr>
          <a:xfrm>
            <a:off x="685800" y="3438144"/>
            <a:ext cx="10881360" cy="1463040"/>
          </a:xfrm>
          <a:prstGeom prst="rect">
            <a:avLst/>
          </a:prstGeom>
          <a:noFill/>
        </p:spPr>
        <p:txBody>
          <a:bodyPr wrap="square">
            <a:spAutoFit/>
          </a:bodyPr>
          <a:lstStyle/>
          <a:p>
            <a:pPr algn="l"/>
            <a:r>
              <a:rPr sz="1500" b="0" i="0">
                <a:solidFill>
                  <a:srgbClr val="2E3D4A"/>
                </a:solidFill>
                <a:latin typeface="Segoe UI"/>
              </a:rPr>
              <a:t>A unit is one core and one degree of parallelism, bought together — which is exactly what a KPU is in Managed Service for Apache Flink. Two columns turn this from an assertion into a measurement. Flink used every core it was given, 2.00 of 2 and 3.94 of 4, so a unit bought is a unit worked. And the broker stayed under half a core, so Flink was unambiguously the constrained component — which is the precondition for showing that anything scales at all. Eight partitions were held constant across both cases, so nothing varied but the units.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SCALING</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Two units, then four — against a perfect 2x</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51560" y="5138928"/>
            <a:ext cx="5394960" cy="15875"/>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88720" y="2233478"/>
            <a:ext cx="128016" cy="20320"/>
          </a:xfrm>
          <a:prstGeom prst="rect">
            <a:avLst/>
          </a:prstGeom>
          <a:solidFill>
            <a:srgbClr val="A84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26464" y="2233478"/>
            <a:ext cx="128016" cy="20320"/>
          </a:xfrm>
          <a:prstGeom prst="rect">
            <a:avLst/>
          </a:prstGeom>
          <a:solidFill>
            <a:srgbClr val="A84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64208" y="2233478"/>
            <a:ext cx="128016" cy="20320"/>
          </a:xfrm>
          <a:prstGeom prst="rect">
            <a:avLst/>
          </a:prstGeom>
          <a:solidFill>
            <a:srgbClr val="A84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901952" y="2233478"/>
            <a:ext cx="128016" cy="20320"/>
          </a:xfrm>
          <a:prstGeom prst="rect">
            <a:avLst/>
          </a:prstGeom>
          <a:solidFill>
            <a:srgbClr val="A84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39696" y="2233478"/>
            <a:ext cx="128016" cy="20320"/>
          </a:xfrm>
          <a:prstGeom prst="rect">
            <a:avLst/>
          </a:prstGeom>
          <a:solidFill>
            <a:srgbClr val="A84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377440" y="2233478"/>
            <a:ext cx="128016" cy="20320"/>
          </a:xfrm>
          <a:prstGeom prst="rect">
            <a:avLst/>
          </a:prstGeom>
          <a:solidFill>
            <a:srgbClr val="A84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615184" y="2233478"/>
            <a:ext cx="128016" cy="20320"/>
          </a:xfrm>
          <a:prstGeom prst="rect">
            <a:avLst/>
          </a:prstGeom>
          <a:solidFill>
            <a:srgbClr val="A84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52928" y="2233478"/>
            <a:ext cx="128016" cy="20320"/>
          </a:xfrm>
          <a:prstGeom prst="rect">
            <a:avLst/>
          </a:prstGeom>
          <a:solidFill>
            <a:srgbClr val="A84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90672" y="2233478"/>
            <a:ext cx="128016" cy="20320"/>
          </a:xfrm>
          <a:prstGeom prst="rect">
            <a:avLst/>
          </a:prstGeom>
          <a:solidFill>
            <a:srgbClr val="A84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28416" y="2233478"/>
            <a:ext cx="128016" cy="20320"/>
          </a:xfrm>
          <a:prstGeom prst="rect">
            <a:avLst/>
          </a:prstGeom>
          <a:solidFill>
            <a:srgbClr val="A84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66160" y="2233478"/>
            <a:ext cx="128016" cy="20320"/>
          </a:xfrm>
          <a:prstGeom prst="rect">
            <a:avLst/>
          </a:prstGeom>
          <a:solidFill>
            <a:srgbClr val="A84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03904" y="2233478"/>
            <a:ext cx="128016" cy="20320"/>
          </a:xfrm>
          <a:prstGeom prst="rect">
            <a:avLst/>
          </a:prstGeom>
          <a:solidFill>
            <a:srgbClr val="A84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41648" y="2233478"/>
            <a:ext cx="128016" cy="20320"/>
          </a:xfrm>
          <a:prstGeom prst="rect">
            <a:avLst/>
          </a:prstGeom>
          <a:solidFill>
            <a:srgbClr val="A84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79392" y="2233478"/>
            <a:ext cx="128016" cy="20320"/>
          </a:xfrm>
          <a:prstGeom prst="rect">
            <a:avLst/>
          </a:prstGeom>
          <a:solidFill>
            <a:srgbClr val="A84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17136" y="2233478"/>
            <a:ext cx="128016" cy="20320"/>
          </a:xfrm>
          <a:prstGeom prst="rect">
            <a:avLst/>
          </a:prstGeom>
          <a:solidFill>
            <a:srgbClr val="A84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754880" y="2233478"/>
            <a:ext cx="128016" cy="20320"/>
          </a:xfrm>
          <a:prstGeom prst="rect">
            <a:avLst/>
          </a:prstGeom>
          <a:solidFill>
            <a:srgbClr val="A84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92624" y="2233478"/>
            <a:ext cx="128016" cy="20320"/>
          </a:xfrm>
          <a:prstGeom prst="rect">
            <a:avLst/>
          </a:prstGeom>
          <a:solidFill>
            <a:srgbClr val="A84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30368" y="2233478"/>
            <a:ext cx="128016" cy="20320"/>
          </a:xfrm>
          <a:prstGeom prst="rect">
            <a:avLst/>
          </a:prstGeom>
          <a:solidFill>
            <a:srgbClr val="A84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68112" y="2233478"/>
            <a:ext cx="128016" cy="20320"/>
          </a:xfrm>
          <a:prstGeom prst="rect">
            <a:avLst/>
          </a:prstGeom>
          <a:solidFill>
            <a:srgbClr val="A84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705856" y="2233478"/>
            <a:ext cx="128016" cy="20320"/>
          </a:xfrm>
          <a:prstGeom prst="rect">
            <a:avLst/>
          </a:prstGeom>
          <a:solidFill>
            <a:srgbClr val="A84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0" y="2233478"/>
            <a:ext cx="128016" cy="20320"/>
          </a:xfrm>
          <a:prstGeom prst="rect">
            <a:avLst/>
          </a:prstGeom>
          <a:solidFill>
            <a:srgbClr val="A84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81344" y="2233478"/>
            <a:ext cx="128016" cy="20320"/>
          </a:xfrm>
          <a:prstGeom prst="rect">
            <a:avLst/>
          </a:prstGeom>
          <a:solidFill>
            <a:srgbClr val="A84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1940870"/>
            <a:ext cx="2194560" cy="274320"/>
          </a:xfrm>
          <a:prstGeom prst="rect">
            <a:avLst/>
          </a:prstGeom>
          <a:noFill/>
        </p:spPr>
        <p:txBody>
          <a:bodyPr wrap="square">
            <a:spAutoFit/>
          </a:bodyPr>
          <a:lstStyle/>
          <a:p>
            <a:pPr algn="l"/>
            <a:r>
              <a:rPr sz="1150" b="1" i="0">
                <a:solidFill>
                  <a:srgbClr val="A84B2A"/>
                </a:solidFill>
                <a:latin typeface="Segoe UI"/>
              </a:rPr>
              <a:t>perfect 2x  =  146,794</a:t>
            </a:r>
          </a:p>
        </p:txBody>
      </p:sp>
      <p:sp>
        <p:nvSpPr>
          <p:cNvPr id="29" name="Rounded Rectangle 28"/>
          <p:cNvSpPr/>
          <p:nvPr/>
        </p:nvSpPr>
        <p:spPr>
          <a:xfrm>
            <a:off x="1600200" y="3686203"/>
            <a:ext cx="1508760" cy="1452725"/>
          </a:xfrm>
          <a:prstGeom prst="roundRect">
            <a:avLst/>
          </a:prstGeom>
          <a:solidFill>
            <a:srgbClr val="9FC2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80160" y="3265579"/>
            <a:ext cx="2148840" cy="365760"/>
          </a:xfrm>
          <a:prstGeom prst="rect">
            <a:avLst/>
          </a:prstGeom>
          <a:noFill/>
        </p:spPr>
        <p:txBody>
          <a:bodyPr wrap="square">
            <a:spAutoFit/>
          </a:bodyPr>
          <a:lstStyle/>
          <a:p>
            <a:pPr algn="ctr"/>
            <a:r>
              <a:rPr sz="1900" b="1" i="0">
                <a:solidFill>
                  <a:srgbClr val="14222E"/>
                </a:solidFill>
                <a:latin typeface="Segoe UI"/>
              </a:rPr>
              <a:t>73,397</a:t>
            </a:r>
          </a:p>
        </p:txBody>
      </p:sp>
      <p:sp>
        <p:nvSpPr>
          <p:cNvPr id="31" name="TextBox 30"/>
          <p:cNvSpPr txBox="1"/>
          <p:nvPr/>
        </p:nvSpPr>
        <p:spPr>
          <a:xfrm>
            <a:off x="1280160" y="5230368"/>
            <a:ext cx="2148840" cy="603504"/>
          </a:xfrm>
          <a:prstGeom prst="rect">
            <a:avLst/>
          </a:prstGeom>
          <a:noFill/>
        </p:spPr>
        <p:txBody>
          <a:bodyPr wrap="square">
            <a:spAutoFit/>
          </a:bodyPr>
          <a:lstStyle/>
          <a:p>
            <a:pPr algn="ctr"/>
            <a:r>
              <a:rPr sz="1500" b="1" i="0">
                <a:solidFill>
                  <a:srgbClr val="14222E"/>
                </a:solidFill>
                <a:latin typeface="Segoe UI"/>
              </a:rPr>
              <a:t>2 units</a:t>
            </a:r>
          </a:p>
          <a:p>
            <a:pPr algn="ctr"/>
            <a:r>
              <a:rPr sz="1150" b="0" i="0">
                <a:solidFill>
                  <a:srgbClr val="6B7A87"/>
                </a:solidFill>
                <a:latin typeface="Segoe UI"/>
              </a:rPr>
              <a:t>1.99 of 2 cores used</a:t>
            </a:r>
          </a:p>
        </p:txBody>
      </p:sp>
      <p:sp>
        <p:nvSpPr>
          <p:cNvPr id="32" name="Rounded Rectangle 31"/>
          <p:cNvSpPr/>
          <p:nvPr/>
        </p:nvSpPr>
        <p:spPr>
          <a:xfrm>
            <a:off x="3977639" y="2247946"/>
            <a:ext cx="1508760" cy="2890982"/>
          </a:xfrm>
          <a:prstGeom prst="roundRect">
            <a:avLst/>
          </a:prstGeom>
          <a:solidFill>
            <a:srgbClr val="1B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599" y="1827322"/>
            <a:ext cx="2148840" cy="365760"/>
          </a:xfrm>
          <a:prstGeom prst="rect">
            <a:avLst/>
          </a:prstGeom>
          <a:noFill/>
        </p:spPr>
        <p:txBody>
          <a:bodyPr wrap="square">
            <a:spAutoFit/>
          </a:bodyPr>
          <a:lstStyle/>
          <a:p>
            <a:pPr algn="ctr"/>
            <a:r>
              <a:rPr sz="1900" b="1" i="0">
                <a:solidFill>
                  <a:srgbClr val="14222E"/>
                </a:solidFill>
                <a:latin typeface="Segoe UI"/>
              </a:rPr>
              <a:t>146,063</a:t>
            </a:r>
          </a:p>
        </p:txBody>
      </p:sp>
      <p:sp>
        <p:nvSpPr>
          <p:cNvPr id="34" name="TextBox 33"/>
          <p:cNvSpPr txBox="1"/>
          <p:nvPr/>
        </p:nvSpPr>
        <p:spPr>
          <a:xfrm>
            <a:off x="3657599" y="5230368"/>
            <a:ext cx="2148840" cy="603504"/>
          </a:xfrm>
          <a:prstGeom prst="rect">
            <a:avLst/>
          </a:prstGeom>
          <a:noFill/>
        </p:spPr>
        <p:txBody>
          <a:bodyPr wrap="square">
            <a:spAutoFit/>
          </a:bodyPr>
          <a:lstStyle/>
          <a:p>
            <a:pPr algn="ctr"/>
            <a:r>
              <a:rPr sz="1500" b="1" i="0">
                <a:solidFill>
                  <a:srgbClr val="14222E"/>
                </a:solidFill>
                <a:latin typeface="Segoe UI"/>
              </a:rPr>
              <a:t>4 units</a:t>
            </a:r>
          </a:p>
          <a:p>
            <a:pPr algn="ctr"/>
            <a:r>
              <a:rPr sz="1150" b="0" i="0">
                <a:solidFill>
                  <a:srgbClr val="6B7A87"/>
                </a:solidFill>
                <a:latin typeface="Segoe UI"/>
              </a:rPr>
              <a:t>3.89 of 4 cores used</a:t>
            </a:r>
          </a:p>
        </p:txBody>
      </p:sp>
      <p:sp>
        <p:nvSpPr>
          <p:cNvPr id="35" name="TextBox 34"/>
          <p:cNvSpPr txBox="1"/>
          <p:nvPr/>
        </p:nvSpPr>
        <p:spPr>
          <a:xfrm>
            <a:off x="2834640" y="3357585"/>
            <a:ext cx="1371600" cy="731520"/>
          </a:xfrm>
          <a:prstGeom prst="rect">
            <a:avLst/>
          </a:prstGeom>
          <a:noFill/>
        </p:spPr>
        <p:txBody>
          <a:bodyPr wrap="square">
            <a:spAutoFit/>
          </a:bodyPr>
          <a:lstStyle/>
          <a:p>
            <a:pPr algn="ctr"/>
            <a:r>
              <a:rPr sz="3000" b="1" i="0">
                <a:solidFill>
                  <a:srgbClr val="1B6B8A"/>
                </a:solidFill>
                <a:latin typeface="Segoe UI"/>
              </a:rPr>
              <a:t>1.99x</a:t>
            </a:r>
          </a:p>
          <a:p>
            <a:pPr algn="ctr"/>
            <a:r>
              <a:rPr sz="1100" b="0" i="0">
                <a:solidFill>
                  <a:srgbClr val="6B7A87"/>
                </a:solidFill>
                <a:latin typeface="Segoe UI"/>
              </a:rPr>
              <a:t>orders / sec</a:t>
            </a:r>
          </a:p>
        </p:txBody>
      </p:sp>
      <p:sp>
        <p:nvSpPr>
          <p:cNvPr id="36" name="TextBox 35"/>
          <p:cNvSpPr txBox="1"/>
          <p:nvPr/>
        </p:nvSpPr>
        <p:spPr>
          <a:xfrm>
            <a:off x="7086600" y="2020824"/>
            <a:ext cx="4480560" cy="3657600"/>
          </a:xfrm>
          <a:prstGeom prst="rect">
            <a:avLst/>
          </a:prstGeom>
          <a:noFill/>
        </p:spPr>
        <p:txBody>
          <a:bodyPr wrap="square">
            <a:spAutoFit/>
          </a:bodyPr>
          <a:lstStyle/>
          <a:p>
            <a:pPr algn="l">
              <a:spcAft>
                <a:spcPts val="1500"/>
              </a:spcAft>
            </a:pPr>
            <a:r>
              <a:rPr sz="1500" b="1" i="0">
                <a:solidFill>
                  <a:srgbClr val="1B6B8A"/>
                </a:solidFill>
                <a:latin typeface="Segoe UI"/>
              </a:rPr>
              <a:t>▸   </a:t>
            </a:r>
            <a:r>
              <a:rPr sz="1500" b="1" i="0">
                <a:solidFill>
                  <a:srgbClr val="14222E"/>
                </a:solidFill>
                <a:latin typeface="Segoe UI"/>
              </a:rPr>
              <a:t>A unit is one core and one degree of parallelism, bought together. </a:t>
            </a:r>
            <a:r>
              <a:rPr sz="1500" b="0" i="0">
                <a:solidFill>
                  <a:srgbClr val="2E3D4A"/>
                </a:solidFill>
                <a:latin typeface="Segoe UI"/>
              </a:rPr>
              <a:t>That is what a KPU is in Managed Service for Apache Flink.</a:t>
            </a:r>
          </a:p>
          <a:p>
            <a:pPr>
              <a:spcAft>
                <a:spcPts val="1500"/>
              </a:spcAft>
            </a:pPr>
            <a:r>
              <a:rPr sz="1500" b="1" i="0">
                <a:solidFill>
                  <a:srgbClr val="1B6B8A"/>
                </a:solidFill>
                <a:latin typeface="Segoe UI"/>
              </a:rPr>
              <a:t>▸   </a:t>
            </a:r>
            <a:r>
              <a:rPr sz="1500" b="1" i="0">
                <a:solidFill>
                  <a:srgbClr val="14222E"/>
                </a:solidFill>
                <a:latin typeface="Segoe UI"/>
              </a:rPr>
              <a:t>Flink used every core it was given — </a:t>
            </a:r>
            <a:r>
              <a:rPr sz="1500" b="0" i="0">
                <a:solidFill>
                  <a:srgbClr val="2E3D4A"/>
                </a:solidFill>
                <a:latin typeface="Segoe UI"/>
              </a:rPr>
              <a:t>1.99 of 2, then 3.89 of 4. A unit bought is a unit worked.</a:t>
            </a:r>
          </a:p>
          <a:p>
            <a:pPr>
              <a:spcAft>
                <a:spcPts val="1500"/>
              </a:spcAft>
            </a:pPr>
            <a:r>
              <a:rPr sz="1500" b="1" i="0">
                <a:solidFill>
                  <a:srgbClr val="1B6B8A"/>
                </a:solidFill>
                <a:latin typeface="Segoe UI"/>
              </a:rPr>
              <a:t>▸   </a:t>
            </a:r>
            <a:r>
              <a:rPr sz="1500" b="1" i="0">
                <a:solidFill>
                  <a:srgbClr val="14222E"/>
                </a:solidFill>
                <a:latin typeface="Segoe UI"/>
              </a:rPr>
              <a:t>The broker stayed under half a core. </a:t>
            </a:r>
            <a:r>
              <a:rPr sz="1500" b="0" i="0">
                <a:solidFill>
                  <a:srgbClr val="2E3D4A"/>
                </a:solidFill>
                <a:latin typeface="Segoe UI"/>
              </a:rPr>
              <a:t>Flink was the constrained component, and you can only show that something scales when it is the thing that is constrained.</a:t>
            </a:r>
          </a:p>
        </p:txBody>
      </p:sp>
      <p:sp>
        <p:nvSpPr>
          <p:cNvPr id="37" name="TextBox 36"/>
          <p:cNvSpPr txBox="1"/>
          <p:nvPr/>
        </p:nvSpPr>
        <p:spPr>
          <a:xfrm>
            <a:off x="685800" y="5870448"/>
            <a:ext cx="10881360" cy="822960"/>
          </a:xfrm>
          <a:prstGeom prst="rect">
            <a:avLst/>
          </a:prstGeom>
          <a:noFill/>
        </p:spPr>
        <p:txBody>
          <a:bodyPr wrap="square">
            <a:spAutoFit/>
          </a:bodyPr>
          <a:lstStyle/>
          <a:p>
            <a:pPr algn="l"/>
            <a:r>
              <a:rPr sz="1300" b="0" i="1">
                <a:solidFill>
                  <a:srgbClr val="6B7A87"/>
                </a:solidFill>
                <a:latin typeface="Segoe UI"/>
              </a:rPr>
              <a:t>Eight partitions were held constant across both cases, and the backlog was drained with the producer stopped, so nothing varied but the units. The dashed line is exactly twice the two-unit result; the four-unit bar reaches 99.5% of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EXPLAIN IT</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Every number on the screen has an answer</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46504"/>
            <a:ext cx="10881360" cy="3840480"/>
          </a:xfrm>
          <a:prstGeom prst="rect">
            <a:avLst/>
          </a:prstGeom>
          <a:noFill/>
        </p:spPr>
        <p:txBody>
          <a:bodyPr wrap="square">
            <a:spAutoFit/>
          </a:bodyPr>
          <a:lstStyle/>
          <a:p>
            <a:pPr algn="l">
              <a:spcAft>
                <a:spcPts val="1400"/>
              </a:spcAft>
            </a:pPr>
            <a:r>
              <a:rPr sz="1700" b="1" i="0">
                <a:solidFill>
                  <a:srgbClr val="1B6B8A"/>
                </a:solidFill>
                <a:latin typeface="Segoe UI"/>
              </a:rPr>
              <a:t>▸   </a:t>
            </a:r>
            <a:r>
              <a:rPr sz="1700" b="1" i="0">
                <a:solidFill>
                  <a:srgbClr val="14222E"/>
                </a:solidFill>
                <a:latin typeface="Segoe UI"/>
              </a:rPr>
              <a:t>Why does sink 4 update four times as often as sink 3?  </a:t>
            </a:r>
            <a:r>
              <a:rPr sz="1700" b="0" i="0">
                <a:solidFill>
                  <a:srgbClr val="2E3D4A"/>
                </a:solidFill>
                <a:latin typeface="Segoe UI"/>
              </a:rPr>
              <a:t>Every block trade splits across four accounts. The quantities reconcile; the counts differ by design.</a:t>
            </a:r>
          </a:p>
          <a:p>
            <a:pPr>
              <a:spcAft>
                <a:spcPts val="1400"/>
              </a:spcAft>
            </a:pPr>
            <a:r>
              <a:rPr sz="1700" b="1" i="0">
                <a:solidFill>
                  <a:srgbClr val="1B6B8A"/>
                </a:solidFill>
                <a:latin typeface="Segoe UI"/>
              </a:rPr>
              <a:t>▸   </a:t>
            </a:r>
            <a:r>
              <a:rPr sz="1700" b="1" i="0">
                <a:solidFill>
                  <a:srgbClr val="14222E"/>
                </a:solidFill>
                <a:latin typeface="Segoe UI"/>
              </a:rPr>
              <a:t>Why do the market value sinks look like steps?  </a:t>
            </a:r>
            <a:r>
              <a:rPr sz="1700" b="0" i="0">
                <a:solidFill>
                  <a:srgbClr val="2E3D4A"/>
                </a:solidFill>
                <a:latin typeface="Segoe UI"/>
              </a:rPr>
              <a:t>They emit once per key per window, not continuously.</a:t>
            </a:r>
          </a:p>
          <a:p>
            <a:pPr>
              <a:spcAft>
                <a:spcPts val="1400"/>
              </a:spcAft>
            </a:pPr>
            <a:r>
              <a:rPr sz="1700" b="1" i="0">
                <a:solidFill>
                  <a:srgbClr val="1B6B8A"/>
                </a:solidFill>
                <a:latin typeface="Segoe UI"/>
              </a:rPr>
              <a:t>▸   </a:t>
            </a:r>
            <a:r>
              <a:rPr sz="1700" b="1" i="0">
                <a:solidFill>
                  <a:srgbClr val="14222E"/>
                </a:solidFill>
                <a:latin typeface="Segoe UI"/>
              </a:rPr>
              <a:t>Why is there one aborted checkpoint?  </a:t>
            </a:r>
            <a:r>
              <a:rPr sz="1700" b="0" i="0">
                <a:solidFill>
                  <a:srgbClr val="2E3D4A"/>
                </a:solidFill>
                <a:latin typeface="Segoe UI"/>
              </a:rPr>
              <a:t>At startup the first checkpoint triggers before every task is running. Harmless, and the panel says so.</a:t>
            </a:r>
          </a:p>
        </p:txBody>
      </p:sp>
      <p:sp>
        <p:nvSpPr>
          <p:cNvPr id="6" name="TextBox 5"/>
          <p:cNvSpPr txBox="1"/>
          <p:nvPr/>
        </p:nvSpPr>
        <p:spPr>
          <a:xfrm>
            <a:off x="685800" y="4123944"/>
            <a:ext cx="10881360" cy="1463040"/>
          </a:xfrm>
          <a:prstGeom prst="rect">
            <a:avLst/>
          </a:prstGeom>
          <a:noFill/>
        </p:spPr>
        <p:txBody>
          <a:bodyPr wrap="square">
            <a:spAutoFit/>
          </a:bodyPr>
          <a:lstStyle/>
          <a:p>
            <a:pPr algn="l"/>
            <a:r>
              <a:rPr sz="1500" b="0" i="0">
                <a:solidFill>
                  <a:srgbClr val="2E3D4A"/>
                </a:solidFill>
                <a:latin typeface="Segoe UI"/>
              </a:rPr>
              <a:t>The requirement is to be able to explain any number on the dashboard, and if a question cannot be answered, to change the logging until it can. The aborted-checkpoint panel is an example of that going the other way first: it originally implied the guarantee was being retried, which would have raised a false alarm mid-demo.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LOAD</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Both required cases pass</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85800" y="1746504"/>
          <a:ext cx="9509760" cy="1499616"/>
        </p:xfrm>
        <a:graphic>
          <a:graphicData uri="http://schemas.openxmlformats.org/drawingml/2006/table">
            <a:tbl>
              <a:tblPr bandRow="1">
                <a:tableStyleId>{5C22544A-7EE6-4342-B048-85BDC9FD1C3A}</a:tableStyleId>
              </a:tblPr>
              <a:tblGrid>
                <a:gridCol w="1371600"/>
                <a:gridCol w="2011680"/>
                <a:gridCol w="1371600"/>
                <a:gridCol w="1828800"/>
                <a:gridCol w="1554480"/>
                <a:gridCol w="1371600"/>
              </a:tblGrid>
              <a:tr h="402336">
                <a:tc>
                  <a:txBody>
                    <a:bodyPr wrap="square"/>
                    <a:lstStyle/>
                    <a:p>
                      <a:pPr algn="l"/>
                      <a:r>
                        <a:rPr sz="1350" b="1" i="0">
                          <a:solidFill>
                            <a:srgbClr val="FFFFFF"/>
                          </a:solidFill>
                          <a:latin typeface="Segoe UI"/>
                        </a:rPr>
                        <a:t/>
                      </a:r>
                    </a:p>
                  </a:txBody>
                  <a:tcPr marL="109728" marR="109728" anchor="ctr">
                    <a:solidFill>
                      <a:srgbClr val="14222E"/>
                    </a:solidFill>
                  </a:tcPr>
                </a:tc>
                <a:tc>
                  <a:txBody>
                    <a:bodyPr wrap="square"/>
                    <a:lstStyle/>
                    <a:p>
                      <a:pPr algn="r"/>
                      <a:r>
                        <a:rPr sz="1350" b="1" i="0">
                          <a:solidFill>
                            <a:srgbClr val="FFFFFF"/>
                          </a:solidFill>
                          <a:latin typeface="Segoe UI"/>
                        </a:rPr>
                        <a:t>orders/s asked</a:t>
                      </a:r>
                    </a:p>
                  </a:txBody>
                  <a:tcPr marL="109728" marR="109728" anchor="ctr">
                    <a:solidFill>
                      <a:srgbClr val="14222E"/>
                    </a:solidFill>
                  </a:tcPr>
                </a:tc>
                <a:tc>
                  <a:txBody>
                    <a:bodyPr wrap="square"/>
                    <a:lstStyle/>
                    <a:p>
                      <a:pPr algn="r"/>
                      <a:r>
                        <a:rPr sz="1350" b="1" i="0">
                          <a:solidFill>
                            <a:srgbClr val="FFFFFF"/>
                          </a:solidFill>
                          <a:latin typeface="Segoe UI"/>
                        </a:rPr>
                        <a:t>prices/s</a:t>
                      </a:r>
                    </a:p>
                  </a:txBody>
                  <a:tcPr marL="109728" marR="109728" anchor="ctr">
                    <a:solidFill>
                      <a:srgbClr val="14222E"/>
                    </a:solidFill>
                  </a:tcPr>
                </a:tc>
                <a:tc>
                  <a:txBody>
                    <a:bodyPr wrap="square"/>
                    <a:lstStyle/>
                    <a:p>
                      <a:pPr algn="r"/>
                      <a:r>
                        <a:rPr sz="1350" b="1" i="0">
                          <a:solidFill>
                            <a:srgbClr val="FFFFFF"/>
                          </a:solidFill>
                          <a:latin typeface="Segoe UI"/>
                        </a:rPr>
                        <a:t>orders through</a:t>
                      </a:r>
                    </a:p>
                  </a:txBody>
                  <a:tcPr marL="109728" marR="109728" anchor="ctr">
                    <a:solidFill>
                      <a:srgbClr val="14222E"/>
                    </a:solidFill>
                  </a:tcPr>
                </a:tc>
                <a:tc>
                  <a:txBody>
                    <a:bodyPr wrap="square"/>
                    <a:lstStyle/>
                    <a:p>
                      <a:pPr algn="r"/>
                      <a:r>
                        <a:rPr sz="1350" b="1" i="0">
                          <a:solidFill>
                            <a:srgbClr val="FFFFFF"/>
                          </a:solidFill>
                          <a:latin typeface="Segoe UI"/>
                        </a:rPr>
                        <a:t>allocations</a:t>
                      </a:r>
                    </a:p>
                  </a:txBody>
                  <a:tcPr marL="109728" marR="109728" anchor="ctr">
                    <a:solidFill>
                      <a:srgbClr val="14222E"/>
                    </a:solidFill>
                  </a:tcPr>
                </a:tc>
                <a:tc>
                  <a:txBody>
                    <a:bodyPr wrap="square"/>
                    <a:lstStyle/>
                    <a:p>
                      <a:pPr algn="r"/>
                      <a:r>
                        <a:rPr sz="1350" b="1" i="0">
                          <a:solidFill>
                            <a:srgbClr val="FFFFFF"/>
                          </a:solidFill>
                          <a:latin typeface="Segoe UI"/>
                        </a:rPr>
                        <a:t>order p50</a:t>
                      </a:r>
                    </a:p>
                  </a:txBody>
                  <a:tcPr marL="109728" marR="109728" anchor="ctr">
                    <a:solidFill>
                      <a:srgbClr val="14222E"/>
                    </a:solidFill>
                  </a:tcPr>
                </a:tc>
              </a:tr>
              <a:tr h="365760">
                <a:tc>
                  <a:txBody>
                    <a:bodyPr wrap="square"/>
                    <a:lstStyle/>
                    <a:p>
                      <a:pPr algn="l"/>
                      <a:r>
                        <a:rPr sz="1350" b="0" i="0">
                          <a:solidFill>
                            <a:srgbClr val="2E3D4A"/>
                          </a:solidFill>
                          <a:latin typeface="Segoe UI"/>
                        </a:rPr>
                        <a:t>baseline</a:t>
                      </a:r>
                    </a:p>
                  </a:txBody>
                  <a:tcPr marL="109728" marR="109728" anchor="ctr">
                    <a:solidFill>
                      <a:srgbClr val="FFFFFF"/>
                    </a:solidFill>
                  </a:tcPr>
                </a:tc>
                <a:tc>
                  <a:txBody>
                    <a:bodyPr wrap="square"/>
                    <a:lstStyle/>
                    <a:p>
                      <a:pPr algn="r"/>
                      <a:r>
                        <a:rPr sz="1350" b="0" i="0">
                          <a:solidFill>
                            <a:srgbClr val="2E3D4A"/>
                          </a:solidFill>
                          <a:latin typeface="Consolas"/>
                        </a:rPr>
                        <a:t>10</a:t>
                      </a:r>
                    </a:p>
                  </a:txBody>
                  <a:tcPr marL="109728" marR="109728" anchor="ctr">
                    <a:solidFill>
                      <a:srgbClr val="FFFFFF"/>
                    </a:solidFill>
                  </a:tcPr>
                </a:tc>
                <a:tc>
                  <a:txBody>
                    <a:bodyPr wrap="square"/>
                    <a:lstStyle/>
                    <a:p>
                      <a:pPr algn="r"/>
                      <a:r>
                        <a:rPr sz="1350" b="0" i="0">
                          <a:solidFill>
                            <a:srgbClr val="2E3D4A"/>
                          </a:solidFill>
                          <a:latin typeface="Consolas"/>
                        </a:rPr>
                        <a:t>1 000</a:t>
                      </a:r>
                    </a:p>
                  </a:txBody>
                  <a:tcPr marL="109728" marR="109728" anchor="ctr">
                    <a:solidFill>
                      <a:srgbClr val="FFFFFF"/>
                    </a:solidFill>
                  </a:tcPr>
                </a:tc>
                <a:tc>
                  <a:txBody>
                    <a:bodyPr wrap="square"/>
                    <a:lstStyle/>
                    <a:p>
                      <a:pPr algn="r"/>
                      <a:r>
                        <a:rPr sz="1350" b="0" i="0">
                          <a:solidFill>
                            <a:srgbClr val="2E3D4A"/>
                          </a:solidFill>
                          <a:latin typeface="Consolas"/>
                        </a:rPr>
                        <a:t>8/s</a:t>
                      </a:r>
                    </a:p>
                  </a:txBody>
                  <a:tcPr marL="109728" marR="109728" anchor="ctr">
                    <a:solidFill>
                      <a:srgbClr val="FFFFFF"/>
                    </a:solidFill>
                  </a:tcPr>
                </a:tc>
                <a:tc>
                  <a:txBody>
                    <a:bodyPr wrap="square"/>
                    <a:lstStyle/>
                    <a:p>
                      <a:pPr algn="r"/>
                      <a:r>
                        <a:rPr sz="1350" b="0" i="0">
                          <a:solidFill>
                            <a:srgbClr val="2E3D4A"/>
                          </a:solidFill>
                          <a:latin typeface="Consolas"/>
                        </a:rPr>
                        <a:t>33/s</a:t>
                      </a:r>
                    </a:p>
                  </a:txBody>
                  <a:tcPr marL="109728" marR="109728" anchor="ctr">
                    <a:solidFill>
                      <a:srgbClr val="FFFFFF"/>
                    </a:solidFill>
                  </a:tcPr>
                </a:tc>
                <a:tc>
                  <a:txBody>
                    <a:bodyPr wrap="square"/>
                    <a:lstStyle/>
                    <a:p>
                      <a:pPr algn="r"/>
                      <a:r>
                        <a:rPr sz="1350" b="0" i="0">
                          <a:solidFill>
                            <a:srgbClr val="2E3D4A"/>
                          </a:solidFill>
                          <a:latin typeface="Consolas"/>
                        </a:rPr>
                        <a:t>519 ms</a:t>
                      </a:r>
                    </a:p>
                  </a:txBody>
                  <a:tcPr marL="109728" marR="109728" anchor="ctr">
                    <a:solidFill>
                      <a:srgbClr val="FFFFFF"/>
                    </a:solidFill>
                  </a:tcPr>
                </a:tc>
              </a:tr>
              <a:tr h="365760">
                <a:tc>
                  <a:txBody>
                    <a:bodyPr wrap="square"/>
                    <a:lstStyle/>
                    <a:p>
                      <a:pPr algn="l"/>
                      <a:r>
                        <a:rPr sz="1350" b="1" i="0">
                          <a:solidFill>
                            <a:srgbClr val="14222E"/>
                          </a:solidFill>
                          <a:latin typeface="Segoe UI"/>
                        </a:rPr>
                        <a:t>case 1</a:t>
                      </a:r>
                    </a:p>
                  </a:txBody>
                  <a:tcPr marL="109728" marR="109728" anchor="ctr">
                    <a:solidFill>
                      <a:srgbClr val="F2F5F7"/>
                    </a:solidFill>
                  </a:tcPr>
                </a:tc>
                <a:tc>
                  <a:txBody>
                    <a:bodyPr wrap="square"/>
                    <a:lstStyle/>
                    <a:p>
                      <a:pPr algn="r"/>
                      <a:r>
                        <a:rPr sz="1350" b="1" i="0">
                          <a:solidFill>
                            <a:srgbClr val="14222E"/>
                          </a:solidFill>
                          <a:latin typeface="Consolas"/>
                        </a:rPr>
                        <a:t>1 000</a:t>
                      </a:r>
                    </a:p>
                  </a:txBody>
                  <a:tcPr marL="109728" marR="109728" anchor="ctr">
                    <a:solidFill>
                      <a:srgbClr val="F2F5F7"/>
                    </a:solidFill>
                  </a:tcPr>
                </a:tc>
                <a:tc>
                  <a:txBody>
                    <a:bodyPr wrap="square"/>
                    <a:lstStyle/>
                    <a:p>
                      <a:pPr algn="r"/>
                      <a:r>
                        <a:rPr sz="1350" b="1" i="0">
                          <a:solidFill>
                            <a:srgbClr val="14222E"/>
                          </a:solidFill>
                          <a:latin typeface="Consolas"/>
                        </a:rPr>
                        <a:t>1 000</a:t>
                      </a:r>
                    </a:p>
                  </a:txBody>
                  <a:tcPr marL="109728" marR="109728" anchor="ctr">
                    <a:solidFill>
                      <a:srgbClr val="F2F5F7"/>
                    </a:solidFill>
                  </a:tcPr>
                </a:tc>
                <a:tc>
                  <a:txBody>
                    <a:bodyPr wrap="square"/>
                    <a:lstStyle/>
                    <a:p>
                      <a:pPr algn="r"/>
                      <a:r>
                        <a:rPr sz="1350" b="1" i="0">
                          <a:solidFill>
                            <a:srgbClr val="14222E"/>
                          </a:solidFill>
                          <a:latin typeface="Consolas"/>
                        </a:rPr>
                        <a:t>816/s</a:t>
                      </a:r>
                    </a:p>
                  </a:txBody>
                  <a:tcPr marL="109728" marR="109728" anchor="ctr">
                    <a:solidFill>
                      <a:srgbClr val="F2F5F7"/>
                    </a:solidFill>
                  </a:tcPr>
                </a:tc>
                <a:tc>
                  <a:txBody>
                    <a:bodyPr wrap="square"/>
                    <a:lstStyle/>
                    <a:p>
                      <a:pPr algn="r"/>
                      <a:r>
                        <a:rPr sz="1350" b="1" i="0">
                          <a:solidFill>
                            <a:srgbClr val="14222E"/>
                          </a:solidFill>
                          <a:latin typeface="Consolas"/>
                        </a:rPr>
                        <a:t>3 269/s</a:t>
                      </a:r>
                    </a:p>
                  </a:txBody>
                  <a:tcPr marL="109728" marR="109728" anchor="ctr">
                    <a:solidFill>
                      <a:srgbClr val="F2F5F7"/>
                    </a:solidFill>
                  </a:tcPr>
                </a:tc>
                <a:tc>
                  <a:txBody>
                    <a:bodyPr wrap="square"/>
                    <a:lstStyle/>
                    <a:p>
                      <a:pPr algn="r"/>
                      <a:r>
                        <a:rPr sz="1350" b="1" i="0">
                          <a:solidFill>
                            <a:srgbClr val="14222E"/>
                          </a:solidFill>
                          <a:latin typeface="Consolas"/>
                        </a:rPr>
                        <a:t>522 ms</a:t>
                      </a:r>
                    </a:p>
                  </a:txBody>
                  <a:tcPr marL="109728" marR="109728" anchor="ctr">
                    <a:solidFill>
                      <a:srgbClr val="F2F5F7"/>
                    </a:solidFill>
                  </a:tcPr>
                </a:tc>
              </a:tr>
              <a:tr h="365760">
                <a:tc>
                  <a:txBody>
                    <a:bodyPr wrap="square"/>
                    <a:lstStyle/>
                    <a:p>
                      <a:pPr algn="l"/>
                      <a:r>
                        <a:rPr sz="1350" b="1" i="0">
                          <a:solidFill>
                            <a:srgbClr val="14222E"/>
                          </a:solidFill>
                          <a:latin typeface="Segoe UI"/>
                        </a:rPr>
                        <a:t>case 2</a:t>
                      </a:r>
                    </a:p>
                  </a:txBody>
                  <a:tcPr marL="109728" marR="109728" anchor="ctr">
                    <a:solidFill>
                      <a:srgbClr val="F2F5F7"/>
                    </a:solidFill>
                  </a:tcPr>
                </a:tc>
                <a:tc>
                  <a:txBody>
                    <a:bodyPr wrap="square"/>
                    <a:lstStyle/>
                    <a:p>
                      <a:pPr algn="r"/>
                      <a:r>
                        <a:rPr sz="1350" b="1" i="0">
                          <a:solidFill>
                            <a:srgbClr val="14222E"/>
                          </a:solidFill>
                          <a:latin typeface="Consolas"/>
                        </a:rPr>
                        <a:t>10</a:t>
                      </a:r>
                    </a:p>
                  </a:txBody>
                  <a:tcPr marL="109728" marR="109728" anchor="ctr">
                    <a:solidFill>
                      <a:srgbClr val="F2F5F7"/>
                    </a:solidFill>
                  </a:tcPr>
                </a:tc>
                <a:tc>
                  <a:txBody>
                    <a:bodyPr wrap="square"/>
                    <a:lstStyle/>
                    <a:p>
                      <a:pPr algn="r"/>
                      <a:r>
                        <a:rPr sz="1350" b="1" i="0">
                          <a:solidFill>
                            <a:srgbClr val="14222E"/>
                          </a:solidFill>
                          <a:latin typeface="Consolas"/>
                        </a:rPr>
                        <a:t>20 000</a:t>
                      </a:r>
                    </a:p>
                  </a:txBody>
                  <a:tcPr marL="109728" marR="109728" anchor="ctr">
                    <a:solidFill>
                      <a:srgbClr val="F2F5F7"/>
                    </a:solidFill>
                  </a:tcPr>
                </a:tc>
                <a:tc>
                  <a:txBody>
                    <a:bodyPr wrap="square"/>
                    <a:lstStyle/>
                    <a:p>
                      <a:pPr algn="r"/>
                      <a:r>
                        <a:rPr sz="1350" b="1" i="0">
                          <a:solidFill>
                            <a:srgbClr val="14222E"/>
                          </a:solidFill>
                          <a:latin typeface="Consolas"/>
                        </a:rPr>
                        <a:t>8/s</a:t>
                      </a:r>
                    </a:p>
                  </a:txBody>
                  <a:tcPr marL="109728" marR="109728" anchor="ctr">
                    <a:solidFill>
                      <a:srgbClr val="F2F5F7"/>
                    </a:solidFill>
                  </a:tcPr>
                </a:tc>
                <a:tc>
                  <a:txBody>
                    <a:bodyPr wrap="square"/>
                    <a:lstStyle/>
                    <a:p>
                      <a:pPr algn="r"/>
                      <a:r>
                        <a:rPr sz="1350" b="1" i="0">
                          <a:solidFill>
                            <a:srgbClr val="14222E"/>
                          </a:solidFill>
                          <a:latin typeface="Consolas"/>
                        </a:rPr>
                        <a:t>33/s</a:t>
                      </a:r>
                    </a:p>
                  </a:txBody>
                  <a:tcPr marL="109728" marR="109728" anchor="ctr">
                    <a:solidFill>
                      <a:srgbClr val="F2F5F7"/>
                    </a:solidFill>
                  </a:tcPr>
                </a:tc>
                <a:tc>
                  <a:txBody>
                    <a:bodyPr wrap="square"/>
                    <a:lstStyle/>
                    <a:p>
                      <a:pPr algn="r"/>
                      <a:r>
                        <a:rPr sz="1350" b="1" i="0">
                          <a:solidFill>
                            <a:srgbClr val="14222E"/>
                          </a:solidFill>
                          <a:latin typeface="Consolas"/>
                        </a:rPr>
                        <a:t>513 ms</a:t>
                      </a:r>
                    </a:p>
                  </a:txBody>
                  <a:tcPr marL="109728" marR="109728" anchor="ctr">
                    <a:solidFill>
                      <a:srgbClr val="F2F5F7"/>
                    </a:solidFill>
                  </a:tcPr>
                </a:tc>
              </a:tr>
            </a:tbl>
          </a:graphicData>
        </a:graphic>
      </p:graphicFrame>
      <p:sp>
        <p:nvSpPr>
          <p:cNvPr id="6" name="TextBox 5"/>
          <p:cNvSpPr txBox="1"/>
          <p:nvPr/>
        </p:nvSpPr>
        <p:spPr>
          <a:xfrm>
            <a:off x="685800" y="3712464"/>
            <a:ext cx="10881360" cy="1463040"/>
          </a:xfrm>
          <a:prstGeom prst="rect">
            <a:avLst/>
          </a:prstGeom>
          <a:noFill/>
        </p:spPr>
        <p:txBody>
          <a:bodyPr wrap="square">
            <a:spAutoFit/>
          </a:bodyPr>
          <a:lstStyle/>
          <a:p>
            <a:pPr algn="l"/>
            <a:r>
              <a:rPr sz="1500" b="0" i="0">
                <a:solidFill>
                  <a:srgbClr val="2E3D4A"/>
                </a:solidFill>
                <a:latin typeface="Segoe UI"/>
              </a:rPr>
              <a:t>Case 1 raised throughput a hundredfold and order latency did not move — the requirement allows latency to rise, and it did not need to. Case 2 raised the price rate twentyfold and latency was again unchanged, which settles the question left open when prices were made a broadcast: the concern was that every price would pass through the threads doing order work, and at twenty times the rate it does not.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