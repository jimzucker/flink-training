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 If anyone reads '1 min' off the diagram, that is the specification -- the demo runs a 10s window.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-- 129,056 against 131,442, which is 98%.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 The diagram states the specified one-minute window; the demo overrides it to ten seconds, and the calculation is identical either way.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(specified: 1 min)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The window is 10 s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10237"/>
            <a:ext cx="2194560" cy="274320"/>
          </a:xfrm>
          <a:prstGeom prst="rect">
            <a:avLst/>
          </a:prstGeom>
          <a:noFill/>
        </p:spPr>
        <p:txBody>
          <a:bodyPr wrap="square">
            <a:spAutoFit/>
          </a:bodyPr>
          <a:lstStyle/>
          <a:p>
            <a:pPr algn="l"/>
            <a:r>
              <a:rPr sz="1150" b="1" i="0">
                <a:solidFill>
                  <a:srgbClr val="A84B2A"/>
                </a:solidFill>
                <a:latin typeface="Segoe UI"/>
              </a:rPr>
              <a:t>perfect 2x  =  131,442</a:t>
            </a:r>
          </a:p>
        </p:txBody>
      </p:sp>
      <p:sp>
        <p:nvSpPr>
          <p:cNvPr id="29" name="Rounded Rectangle 28"/>
          <p:cNvSpPr/>
          <p:nvPr/>
        </p:nvSpPr>
        <p:spPr>
          <a:xfrm>
            <a:off x="1600200" y="3670887"/>
            <a:ext cx="1508760" cy="1468041"/>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50263"/>
            <a:ext cx="2148840" cy="365760"/>
          </a:xfrm>
          <a:prstGeom prst="rect">
            <a:avLst/>
          </a:prstGeom>
          <a:noFill/>
        </p:spPr>
        <p:txBody>
          <a:bodyPr wrap="square">
            <a:spAutoFit/>
          </a:bodyPr>
          <a:lstStyle/>
          <a:p>
            <a:pPr algn="ctr"/>
            <a:r>
              <a:rPr sz="1900" b="1" i="0">
                <a:solidFill>
                  <a:srgbClr val="14222E"/>
                </a:solidFill>
                <a:latin typeface="Segoe UI"/>
              </a:rPr>
              <a:t>65,721</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2.00 of 2 cores used</a:t>
            </a:r>
          </a:p>
        </p:txBody>
      </p:sp>
      <p:sp>
        <p:nvSpPr>
          <p:cNvPr id="32" name="Rounded Rectangle 31"/>
          <p:cNvSpPr/>
          <p:nvPr/>
        </p:nvSpPr>
        <p:spPr>
          <a:xfrm>
            <a:off x="3977639" y="2256142"/>
            <a:ext cx="1508760" cy="2882786"/>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35518"/>
            <a:ext cx="2148840" cy="365760"/>
          </a:xfrm>
          <a:prstGeom prst="rect">
            <a:avLst/>
          </a:prstGeom>
          <a:noFill/>
        </p:spPr>
        <p:txBody>
          <a:bodyPr wrap="square">
            <a:spAutoFit/>
          </a:bodyPr>
          <a:lstStyle/>
          <a:p>
            <a:pPr algn="ctr"/>
            <a:r>
              <a:rPr sz="1900" b="1" i="0">
                <a:solidFill>
                  <a:srgbClr val="14222E"/>
                </a:solidFill>
                <a:latin typeface="Segoe UI"/>
              </a:rPr>
              <a:t>129,056</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3.94 of 4 cores used</a:t>
            </a:r>
          </a:p>
        </p:txBody>
      </p:sp>
      <p:sp>
        <p:nvSpPr>
          <p:cNvPr id="35" name="TextBox 34"/>
          <p:cNvSpPr txBox="1"/>
          <p:nvPr/>
        </p:nvSpPr>
        <p:spPr>
          <a:xfrm>
            <a:off x="2834640" y="3128555"/>
            <a:ext cx="1371600" cy="731520"/>
          </a:xfrm>
          <a:prstGeom prst="rect">
            <a:avLst/>
          </a:prstGeom>
          <a:noFill/>
        </p:spPr>
        <p:txBody>
          <a:bodyPr wrap="square">
            <a:spAutoFit/>
          </a:bodyPr>
          <a:lstStyle/>
          <a:p>
            <a:pPr algn="ctr"/>
            <a:r>
              <a:rPr sz="3000" b="1" i="0">
                <a:solidFill>
                  <a:srgbClr val="1B6B8A"/>
                </a:solidFill>
                <a:latin typeface="Segoe UI"/>
              </a:rPr>
              <a:t>1.96x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2.00 of 2, then 3.94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stayed under half a core. </a:t>
            </a:r>
            <a:r>
              <a:rPr sz="1500" b="0" i="0">
                <a:solidFill>
                  <a:srgbClr val="2E3D4A"/>
                </a:solidFill>
                <a:latin typeface="Segoe UI"/>
              </a:rPr>
              <a:t>Flink was the constrained component, and you can only show that something scales when it is the thing that is constrained.</a:t>
            </a:r>
          </a:p>
        </p:txBody>
      </p:sp>
      <p:sp>
        <p:nvSpPr>
          <p:cNvPr id="37" name="TextBox 36"/>
          <p:cNvSpPr txBox="1"/>
          <p:nvPr/>
        </p:nvSpPr>
        <p:spPr>
          <a:xfrm>
            <a:off x="685800" y="5870448"/>
            <a:ext cx="10881360" cy="822960"/>
          </a:xfrm>
          <a:prstGeom prst="rect">
            <a:avLst/>
          </a:prstGeom>
          <a:noFill/>
        </p:spPr>
        <p:txBody>
          <a:bodyPr wrap="square">
            <a:spAutoFit/>
          </a:bodyPr>
          <a:lstStyle/>
          <a:p>
            <a:pPr algn="l"/>
            <a:r>
              <a:rPr sz="1300" b="0" i="1">
                <a:solidFill>
                  <a:srgbClr val="6B7A87"/>
                </a:solidFill>
                <a:latin typeface="Segoe UI"/>
              </a:rPr>
              <a:t>Eight partitions were held constant across both cases, and the backlog was drained with the producer stopped, so nothing varied but the units. The dashed line is exactly twice the two-unit result; the four-unit bar reaches 98% of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