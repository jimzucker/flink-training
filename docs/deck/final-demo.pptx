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 If anyone reads '1 min' off the diagram, that is the specification -- the demo runs a 10s window.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 If asked why the window is 10s and not a minute: only for the demo, so the sinks say something without a minute of waiting. The job defaults to the specified minute and the verification runs against both.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line is exactly 2x the first bar. The whole claim is whether the second bar reaches it -- 129,056 against 131,442, which is 98%. Step 10 got this wrong by varying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eline.png"/>
          <p:cNvPicPr>
            <a:picLocks noChangeAspect="1"/>
          </p:cNvPicPr>
          <p:nvPr/>
        </p:nvPicPr>
        <p:blipFill>
          <a:blip r:embed="rId2"/>
          <a:stretch>
            <a:fillRect/>
          </a:stretch>
        </p:blipFill>
        <p:spPr>
          <a:xfrm>
            <a:off x="521207" y="2002536"/>
            <a:ext cx="11155680" cy="4172586"/>
          </a:xfrm>
          <a:prstGeom prst="rect">
            <a:avLst/>
          </a:prstGeom>
        </p:spPr>
      </p:pic>
      <p:sp>
        <p:nvSpPr>
          <p:cNvPr id="6" name="TextBox 5"/>
          <p:cNvSpPr txBox="1"/>
          <p:nvPr/>
        </p:nvSpPr>
        <p:spPr>
          <a:xfrm>
            <a:off x="685800" y="6303138"/>
            <a:ext cx="10881360" cy="822960"/>
          </a:xfrm>
          <a:prstGeom prst="rect">
            <a:avLst/>
          </a:prstGeom>
          <a:noFill/>
        </p:spPr>
        <p:txBody>
          <a:bodyPr wrap="square">
            <a:spAutoFit/>
          </a:bodyPr>
          <a:lstStyle/>
          <a:p>
            <a:pPr algn="l"/>
            <a:r>
              <a:rPr sz="1350" b="0" i="1">
                <a:solidFill>
                  <a:srgbClr val="6B7A87"/>
                </a:solidFill>
                <a:latin typeface="Segoe UI"/>
              </a:rPr>
              <a:t>Every edge carries its partition key and value. The diagram states the specified one-minute window; the demo overrides it to ten seconds, and the calculation is identical either way.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23113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a:t>
                      </a:r>
                    </a:p>
                  </a:txBody>
                  <a:tcPr marL="109728" marR="109728" anchor="ctr">
                    <a:solidFill>
                      <a:srgbClr val="14222E"/>
                    </a:solidFill>
                  </a:tcPr>
                </a:tc>
                <a:tc>
                  <a:txBody>
                    <a:bodyPr wrap="square"/>
                    <a:lstStyle/>
                    <a:p>
                      <a:pPr algn="r"/>
                      <a:r>
                        <a:rPr sz="1350" b="1" i="0">
                          <a:solidFill>
                            <a:srgbClr val="FFFFFF"/>
                          </a:solidFill>
                          <a:latin typeface="Segoe UI"/>
                        </a:rPr>
                        <a:t>Rate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Rounded Rectangle 6"/>
          <p:cNvSpPr/>
          <p:nvPr/>
        </p:nvSpPr>
        <p:spPr>
          <a:xfrm>
            <a:off x="685800" y="4233672"/>
            <a:ext cx="10881360" cy="713232"/>
          </a:xfrm>
          <a:prstGeom prst="roundRect">
            <a:avLst/>
          </a:prstGeom>
          <a:solidFill>
            <a:srgbClr val="F2F5F7"/>
          </a:solidFill>
          <a:ln w="12700">
            <a:solidFill>
              <a:srgbClr val="D8DFE4"/>
            </a:solidFill>
          </a:ln>
          <a:effectLst/>
        </p:spPr>
        <p:style>
          <a:lnRef idx="1">
            <a:schemeClr val="accent1"/>
          </a:lnRef>
          <a:fillRef idx="3">
            <a:schemeClr val="accent1"/>
          </a:fillRef>
          <a:effectRef idx="2">
            <a:schemeClr val="accent1"/>
          </a:effectRef>
          <a:fontRef idx="minor">
            <a:schemeClr val="lt1"/>
          </a:fontRef>
        </p:style>
        <p:txBody>
          <a:bodyPr rtlCol="0" anchor="ctr" lIns="256032" wrap="square"/>
          <a:lstStyle/>
          <a:p>
            <a:pPr algn="l"/>
            <a:r>
              <a:rPr sz="1400" b="1" i="0">
                <a:solidFill>
                  <a:srgbClr val="6B7A87"/>
                </a:solidFill>
                <a:latin typeface="Segoe UI"/>
              </a:rPr>
              <a:t>Set for the demo:   </a:t>
            </a:r>
            <a:r>
              <a:rPr sz="1500" b="0" i="0">
                <a:solidFill>
                  <a:srgbClr val="2E3D4A"/>
                </a:solidFill>
                <a:latin typeface="Segoe UI"/>
              </a:rPr>
              <a:t>window </a:t>
            </a:r>
            <a:r>
              <a:rPr sz="1500" b="1" i="0">
                <a:solidFill>
                  <a:srgbClr val="14222E"/>
                </a:solidFill>
                <a:latin typeface="Consolas"/>
              </a:rPr>
              <a:t>10 s</a:t>
            </a:r>
            <a:r>
              <a:rPr sz="1500" b="0" i="0">
                <a:solidFill>
                  <a:srgbClr val="2E3D4A"/>
                </a:solidFill>
                <a:latin typeface="Segoe UI"/>
              </a:rPr>
              <a:t>  (specified: 1 min)     checkpoint interval </a:t>
            </a:r>
            <a:r>
              <a:rPr sz="1500" b="1" i="0">
                <a:solidFill>
                  <a:srgbClr val="14222E"/>
                </a:solidFill>
                <a:latin typeface="Consolas"/>
              </a:rPr>
              <a:t>1 s</a:t>
            </a:r>
            <a:r>
              <a:rPr sz="1500" b="0" i="0">
                <a:solidFill>
                  <a:srgbClr val="2E3D4A"/>
                </a:solidFill>
                <a:latin typeface="Segoe UI"/>
              </a:rPr>
              <a:t>     partitions </a:t>
            </a:r>
            <a:r>
              <a:rPr sz="1500" b="1" i="0">
                <a:solidFill>
                  <a:srgbClr val="14222E"/>
                </a:solidFill>
                <a:latin typeface="Consolas"/>
              </a:rPr>
              <a:t>8</a:t>
            </a:r>
          </a:p>
        </p:txBody>
      </p:sp>
      <p:sp>
        <p:nvSpPr>
          <p:cNvPr id="8" name="TextBox 7"/>
          <p:cNvSpPr txBox="1"/>
          <p:nvPr/>
        </p:nvSpPr>
        <p:spPr>
          <a:xfrm>
            <a:off x="685800" y="5166360"/>
            <a:ext cx="10881360" cy="822960"/>
          </a:xfrm>
          <a:prstGeom prst="rect">
            <a:avLst/>
          </a:prstGeom>
          <a:noFill/>
        </p:spPr>
        <p:txBody>
          <a:bodyPr wrap="square">
            <a:spAutoFit/>
          </a:bodyPr>
          <a:lstStyle/>
          <a:p>
            <a:pPr algn="l"/>
            <a:r>
              <a:rPr sz="1350" b="0" i="0">
                <a:solidFill>
                  <a:srgbClr val="2C6E49"/>
                </a:solidFill>
                <a:latin typeface="Segoe UI"/>
              </a:rPr>
              <a:t>The window is 10 s so the market value sinks say something without a minute of waiting — the job defaults to the specified minute, and the calculation is identical either way. Committing to these numbers before the run is what makes the demo a verification rather than a tour; scripts/verify-topics.sh checks every one of them against the real topics,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129 056</a:t>
                      </a:r>
                    </a:p>
                  </a:txBody>
                  <a:tcPr marL="109728" marR="109728" anchor="ctr">
                    <a:solidFill>
                      <a:srgbClr val="F2F5F7"/>
                    </a:solidFill>
                  </a:tcPr>
                </a:tc>
                <a:tc>
                  <a:txBody>
                    <a:bodyPr wrap="square"/>
                    <a:lstStyle/>
                    <a:p>
                      <a:pPr algn="r"/>
                      <a:r>
                        <a:rPr sz="1400" b="1" i="0">
                          <a:solidFill>
                            <a:srgbClr val="14222E"/>
                          </a:solidFill>
                          <a:latin typeface="Consolas"/>
                        </a:rPr>
                        <a:t>1.96×</a:t>
                      </a:r>
                    </a:p>
                  </a:txBody>
                  <a:tcPr marL="109728" marR="109728" anchor="ctr">
                    <a:solidFill>
                      <a:srgbClr val="F2F5F7"/>
                    </a:solidFill>
                  </a:tcPr>
                </a:tc>
                <a:tc>
                  <a:txBody>
                    <a:bodyPr wrap="square"/>
                    <a:lstStyle/>
                    <a:p>
                      <a:pPr algn="r"/>
                      <a:r>
                        <a:rPr sz="1400" b="1" i="0">
                          <a:solidFill>
                            <a:srgbClr val="14222E"/>
                          </a:solidFill>
                          <a:latin typeface="Consolas"/>
                        </a:rPr>
                        <a:t>3.94 of 4</a:t>
                      </a:r>
                    </a:p>
                  </a:txBody>
                  <a:tcPr marL="109728" marR="109728" anchor="ctr">
                    <a:solidFill>
                      <a:srgbClr val="F2F5F7"/>
                    </a:solidFill>
                  </a:tcPr>
                </a:tc>
                <a:tc>
                  <a:txBody>
                    <a:bodyPr wrap="square"/>
                    <a:lstStyle/>
                    <a:p>
                      <a:pPr algn="r"/>
                      <a:r>
                        <a:rPr sz="1400" b="1" i="0">
                          <a:solidFill>
                            <a:srgbClr val="14222E"/>
                          </a:solidFill>
                          <a:latin typeface="Consolas"/>
                        </a:rPr>
                        <a:t>0.39</a:t>
                      </a:r>
                    </a:p>
                  </a:txBody>
                  <a:tcPr marL="109728" marR="109728" anchor="ctr">
                    <a:solidFill>
                      <a:srgbClr val="F2F5F7"/>
                    </a:solidFill>
                  </a:tcPr>
                </a:tc>
                <a:tc>
                  <a:txBody>
                    <a:bodyPr wrap="square"/>
                    <a:lstStyle/>
                    <a:p>
                      <a:pPr algn="r"/>
                      <a:r>
                        <a:rPr sz="1400" b="1" i="0">
                          <a:solidFill>
                            <a:srgbClr val="14222E"/>
                          </a:solidFill>
                          <a:latin typeface="Consolas"/>
                        </a:rPr>
                        <a:t>51.6%</a:t>
                      </a:r>
                    </a:p>
                  </a:txBody>
                  <a:tcPr marL="109728" marR="109728" anchor="ctr">
                    <a:solidFill>
                      <a:srgbClr val="F2F5F7"/>
                    </a:solidFill>
                  </a:tcPr>
                </a:tc>
              </a:tr>
            </a:tbl>
          </a:graphicData>
        </a:graphic>
      </p:graphicFrame>
      <p:sp>
        <p:nvSpPr>
          <p:cNvPr id="6" name="TextBox 5"/>
          <p:cNvSpPr txBox="1"/>
          <p:nvPr/>
        </p:nvSpPr>
        <p:spPr>
          <a:xfrm>
            <a:off x="685800" y="3438144"/>
            <a:ext cx="10881360" cy="822960"/>
          </a:xfrm>
          <a:prstGeom prst="rect">
            <a:avLst/>
          </a:prstGeom>
          <a:noFill/>
        </p:spPr>
        <p:txBody>
          <a:bodyPr wrap="square">
            <a:spAutoFit/>
          </a:bodyPr>
          <a:lstStyle/>
          <a:p>
            <a:pPr algn="l"/>
            <a:r>
              <a:rPr sz="1600" b="0" i="0">
                <a:solidFill>
                  <a:srgbClr val="14222E"/>
                </a:solidFill>
                <a:latin typeface="Segoe UI"/>
              </a:rPr>
              <a:t>A unit is one core and one degree of parallelism, bought together — a KPU.  Flink used every core it was given; the broker stayed under half a core.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units, then four — against a perfect 2x</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1560" y="5138928"/>
            <a:ext cx="5394960" cy="15875"/>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8872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42646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6420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0195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13969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7744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1518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85292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9067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2841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6616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390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4164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1713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75488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99262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30368"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68112"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705856"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0"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1344" y="2202845"/>
            <a:ext cx="128016" cy="20320"/>
          </a:xfrm>
          <a:prstGeom prst="rect">
            <a:avLst/>
          </a:prstGeom>
          <a:solidFill>
            <a:srgbClr val="A84B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74920" y="1910237"/>
            <a:ext cx="2194560" cy="274320"/>
          </a:xfrm>
          <a:prstGeom prst="rect">
            <a:avLst/>
          </a:prstGeom>
          <a:noFill/>
        </p:spPr>
        <p:txBody>
          <a:bodyPr wrap="square">
            <a:spAutoFit/>
          </a:bodyPr>
          <a:lstStyle/>
          <a:p>
            <a:pPr algn="l"/>
            <a:r>
              <a:rPr sz="1150" b="1" i="0">
                <a:solidFill>
                  <a:srgbClr val="A84B2A"/>
                </a:solidFill>
                <a:latin typeface="Segoe UI"/>
              </a:rPr>
              <a:t>perfect 2x  =  131,442</a:t>
            </a:r>
          </a:p>
        </p:txBody>
      </p:sp>
      <p:sp>
        <p:nvSpPr>
          <p:cNvPr id="29" name="Rounded Rectangle 28"/>
          <p:cNvSpPr/>
          <p:nvPr/>
        </p:nvSpPr>
        <p:spPr>
          <a:xfrm>
            <a:off x="1600200" y="3670887"/>
            <a:ext cx="1508760" cy="1468041"/>
          </a:xfrm>
          <a:prstGeom prst="roundRect">
            <a:avLst/>
          </a:prstGeom>
          <a:solidFill>
            <a:srgbClr val="9FC2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0160" y="3250263"/>
            <a:ext cx="2148840" cy="365760"/>
          </a:xfrm>
          <a:prstGeom prst="rect">
            <a:avLst/>
          </a:prstGeom>
          <a:noFill/>
        </p:spPr>
        <p:txBody>
          <a:bodyPr wrap="square">
            <a:spAutoFit/>
          </a:bodyPr>
          <a:lstStyle/>
          <a:p>
            <a:pPr algn="ctr"/>
            <a:r>
              <a:rPr sz="1900" b="1" i="0">
                <a:solidFill>
                  <a:srgbClr val="14222E"/>
                </a:solidFill>
                <a:latin typeface="Segoe UI"/>
              </a:rPr>
              <a:t>65,721</a:t>
            </a:r>
          </a:p>
        </p:txBody>
      </p:sp>
      <p:sp>
        <p:nvSpPr>
          <p:cNvPr id="31" name="TextBox 30"/>
          <p:cNvSpPr txBox="1"/>
          <p:nvPr/>
        </p:nvSpPr>
        <p:spPr>
          <a:xfrm>
            <a:off x="1280160" y="5230368"/>
            <a:ext cx="2148840" cy="603504"/>
          </a:xfrm>
          <a:prstGeom prst="rect">
            <a:avLst/>
          </a:prstGeom>
          <a:noFill/>
        </p:spPr>
        <p:txBody>
          <a:bodyPr wrap="square">
            <a:spAutoFit/>
          </a:bodyPr>
          <a:lstStyle/>
          <a:p>
            <a:pPr algn="ctr"/>
            <a:r>
              <a:rPr sz="1500" b="1" i="0">
                <a:solidFill>
                  <a:srgbClr val="14222E"/>
                </a:solidFill>
                <a:latin typeface="Segoe UI"/>
              </a:rPr>
              <a:t>2 units</a:t>
            </a:r>
          </a:p>
          <a:p>
            <a:pPr algn="ctr"/>
            <a:r>
              <a:rPr sz="1150" b="0" i="0">
                <a:solidFill>
                  <a:srgbClr val="6B7A87"/>
                </a:solidFill>
                <a:latin typeface="Segoe UI"/>
              </a:rPr>
              <a:t>2.00 of 2 cores used</a:t>
            </a:r>
          </a:p>
        </p:txBody>
      </p:sp>
      <p:sp>
        <p:nvSpPr>
          <p:cNvPr id="32" name="Rounded Rectangle 31"/>
          <p:cNvSpPr/>
          <p:nvPr/>
        </p:nvSpPr>
        <p:spPr>
          <a:xfrm>
            <a:off x="3977639" y="2256142"/>
            <a:ext cx="1508760" cy="2882786"/>
          </a:xfrm>
          <a:prstGeom prst="roundRect">
            <a:avLst/>
          </a:prstGeom>
          <a:solidFill>
            <a:srgbClr val="1B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599" y="1835518"/>
            <a:ext cx="2148840" cy="365760"/>
          </a:xfrm>
          <a:prstGeom prst="rect">
            <a:avLst/>
          </a:prstGeom>
          <a:noFill/>
        </p:spPr>
        <p:txBody>
          <a:bodyPr wrap="square">
            <a:spAutoFit/>
          </a:bodyPr>
          <a:lstStyle/>
          <a:p>
            <a:pPr algn="ctr"/>
            <a:r>
              <a:rPr sz="1900" b="1" i="0">
                <a:solidFill>
                  <a:srgbClr val="14222E"/>
                </a:solidFill>
                <a:latin typeface="Segoe UI"/>
              </a:rPr>
              <a:t>129,056</a:t>
            </a:r>
          </a:p>
        </p:txBody>
      </p:sp>
      <p:sp>
        <p:nvSpPr>
          <p:cNvPr id="34" name="TextBox 33"/>
          <p:cNvSpPr txBox="1"/>
          <p:nvPr/>
        </p:nvSpPr>
        <p:spPr>
          <a:xfrm>
            <a:off x="3657599" y="5230368"/>
            <a:ext cx="2148840" cy="603504"/>
          </a:xfrm>
          <a:prstGeom prst="rect">
            <a:avLst/>
          </a:prstGeom>
          <a:noFill/>
        </p:spPr>
        <p:txBody>
          <a:bodyPr wrap="square">
            <a:spAutoFit/>
          </a:bodyPr>
          <a:lstStyle/>
          <a:p>
            <a:pPr algn="ctr"/>
            <a:r>
              <a:rPr sz="1500" b="1" i="0">
                <a:solidFill>
                  <a:srgbClr val="14222E"/>
                </a:solidFill>
                <a:latin typeface="Segoe UI"/>
              </a:rPr>
              <a:t>4 units</a:t>
            </a:r>
          </a:p>
          <a:p>
            <a:pPr algn="ctr"/>
            <a:r>
              <a:rPr sz="1150" b="0" i="0">
                <a:solidFill>
                  <a:srgbClr val="6B7A87"/>
                </a:solidFill>
                <a:latin typeface="Segoe UI"/>
              </a:rPr>
              <a:t>3.94 of 4 cores used</a:t>
            </a:r>
          </a:p>
        </p:txBody>
      </p:sp>
      <p:sp>
        <p:nvSpPr>
          <p:cNvPr id="35" name="TextBox 34"/>
          <p:cNvSpPr txBox="1"/>
          <p:nvPr/>
        </p:nvSpPr>
        <p:spPr>
          <a:xfrm>
            <a:off x="2834640" y="3128555"/>
            <a:ext cx="1371600" cy="731520"/>
          </a:xfrm>
          <a:prstGeom prst="rect">
            <a:avLst/>
          </a:prstGeom>
          <a:noFill/>
        </p:spPr>
        <p:txBody>
          <a:bodyPr wrap="square">
            <a:spAutoFit/>
          </a:bodyPr>
          <a:lstStyle/>
          <a:p>
            <a:pPr algn="ctr"/>
            <a:r>
              <a:rPr sz="3000" b="1" i="0">
                <a:solidFill>
                  <a:srgbClr val="1B6B8A"/>
                </a:solidFill>
                <a:latin typeface="Segoe UI"/>
              </a:rPr>
              <a:t>1.96x</a:t>
            </a:r>
          </a:p>
          <a:p>
            <a:pPr algn="ctr"/>
            <a:r>
              <a:rPr sz="1100" b="0" i="0">
                <a:solidFill>
                  <a:srgbClr val="6B7A87"/>
                </a:solidFill>
                <a:latin typeface="Segoe UI"/>
              </a:rPr>
              <a:t>orders / sec</a:t>
            </a:r>
          </a:p>
        </p:txBody>
      </p:sp>
      <p:sp>
        <p:nvSpPr>
          <p:cNvPr id="36" name="TextBox 35"/>
          <p:cNvSpPr txBox="1"/>
          <p:nvPr/>
        </p:nvSpPr>
        <p:spPr>
          <a:xfrm>
            <a:off x="7086600" y="2020824"/>
            <a:ext cx="4480560" cy="3657600"/>
          </a:xfrm>
          <a:prstGeom prst="rect">
            <a:avLst/>
          </a:prstGeom>
          <a:noFill/>
        </p:spPr>
        <p:txBody>
          <a:bodyPr wrap="square">
            <a:spAutoFit/>
          </a:bodyPr>
          <a:lstStyle/>
          <a:p>
            <a:pPr algn="l">
              <a:spcAft>
                <a:spcPts val="1500"/>
              </a:spcAft>
            </a:pPr>
            <a:r>
              <a:rPr sz="1500" b="1" i="0">
                <a:solidFill>
                  <a:srgbClr val="1B6B8A"/>
                </a:solidFill>
                <a:latin typeface="Segoe UI"/>
              </a:rPr>
              <a:t>▸   </a:t>
            </a:r>
            <a:r>
              <a:rPr sz="1500" b="1" i="0">
                <a:solidFill>
                  <a:srgbClr val="14222E"/>
                </a:solidFill>
                <a:latin typeface="Segoe UI"/>
              </a:rPr>
              <a:t>A unit is one core and one degree of parallelism, bought together. </a:t>
            </a:r>
            <a:r>
              <a:rPr sz="1500" b="0" i="0">
                <a:solidFill>
                  <a:srgbClr val="2E3D4A"/>
                </a:solidFill>
                <a:latin typeface="Segoe UI"/>
              </a:rPr>
              <a:t>That is what a KPU is in Managed Service for Apache Flink.</a:t>
            </a:r>
          </a:p>
          <a:p>
            <a:pPr>
              <a:spcAft>
                <a:spcPts val="1500"/>
              </a:spcAft>
            </a:pPr>
            <a:r>
              <a:rPr sz="1500" b="1" i="0">
                <a:solidFill>
                  <a:srgbClr val="1B6B8A"/>
                </a:solidFill>
                <a:latin typeface="Segoe UI"/>
              </a:rPr>
              <a:t>▸   </a:t>
            </a:r>
            <a:r>
              <a:rPr sz="1500" b="1" i="0">
                <a:solidFill>
                  <a:srgbClr val="14222E"/>
                </a:solidFill>
                <a:latin typeface="Segoe UI"/>
              </a:rPr>
              <a:t>Flink used every core it was given — </a:t>
            </a:r>
            <a:r>
              <a:rPr sz="1500" b="0" i="0">
                <a:solidFill>
                  <a:srgbClr val="2E3D4A"/>
                </a:solidFill>
                <a:latin typeface="Segoe UI"/>
              </a:rPr>
              <a:t>2.00 of 2, then 3.94 of 4. A unit bought is a unit worked.</a:t>
            </a:r>
          </a:p>
          <a:p>
            <a:pPr>
              <a:spcAft>
                <a:spcPts val="1500"/>
              </a:spcAft>
            </a:pPr>
            <a:r>
              <a:rPr sz="1500" b="1" i="0">
                <a:solidFill>
                  <a:srgbClr val="1B6B8A"/>
                </a:solidFill>
                <a:latin typeface="Segoe UI"/>
              </a:rPr>
              <a:t>▸   </a:t>
            </a:r>
            <a:r>
              <a:rPr sz="1500" b="1" i="0">
                <a:solidFill>
                  <a:srgbClr val="14222E"/>
                </a:solidFill>
                <a:latin typeface="Segoe UI"/>
              </a:rPr>
              <a:t>The broker stayed under half a core. </a:t>
            </a:r>
            <a:r>
              <a:rPr sz="1500" b="0" i="0">
                <a:solidFill>
                  <a:srgbClr val="2E3D4A"/>
                </a:solidFill>
                <a:latin typeface="Segoe UI"/>
              </a:rPr>
              <a:t>Flink was the constrained component, and you can only show that something scales when it is the thing that is constrained.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822960"/>
          </a:xfrm>
          <a:prstGeom prst="rect">
            <a:avLst/>
          </a:prstGeom>
          <a:noFill/>
        </p:spPr>
        <p:txBody>
          <a:bodyPr wrap="square">
            <a:spAutoFit/>
          </a:bodyPr>
          <a:lstStyle/>
          <a:p>
            <a:pPr algn="l"/>
            <a:r>
              <a:rPr sz="1600" b="0" i="0">
                <a:solidFill>
                  <a:srgbClr val="14222E"/>
                </a:solidFill>
                <a:latin typeface="Segoe UI"/>
              </a:rPr>
              <a:t>A hundredfold on orders, twentyfold on prices — order latency unmoved in both.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