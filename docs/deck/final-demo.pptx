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running stack already built but idle. The most persuasive moment is graphs going from flat to flowing while people watch.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Sink 4 updates 4x as often as sink 3. Quantities reconcile — the four accounts sum to the block. The update counts differ by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Numbered left to right, in the order the demo talks through them. Point at 1 and 2 as the inputs, 3-6 as the outputs to verify. If anyone reads '1 min' off the diagram, that is the specification -- the demo runs a 10s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numbers out loud BEFORE starting the generators. Then the dashboard either matches or it does not. If asked why the window is 10s and not a minute: only for the demo, so the sinks say something without a minute of waiting. The job defaults to the specified minute and the verification runs against both.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generators come up idle on purpose, so the dashboard is visibly empty until you start them. A stack that is already busy when it appears gives the moment away.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cannot answer something, say so and take it as an action item to change the logging. That is the instruction in the requirements, and it beats an explanation invented on the spot.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is the one that settles the broadcast-prices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only show that something scales when it is the thing that is constrained. Step 10 got this wrong — it varied parallelism while Flink already had every core it could use, and the answer came back flat.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4884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1280160"/>
          </a:xfrm>
          <a:prstGeom prst="rect">
            <a:avLst/>
          </a:prstGeom>
          <a:noFill/>
        </p:spPr>
        <p:txBody>
          <a:bodyPr wrap="square">
            <a:spAutoFit/>
          </a:bodyPr>
          <a:lstStyle/>
          <a:p>
            <a:pPr algn="l"/>
            <a:r>
              <a:rPr sz="1200" b="1" i="0" spc="160">
                <a:solidFill>
                  <a:srgbClr val="7FB6CB"/>
                </a:solidFill>
                <a:latin typeface="Segoe UI"/>
              </a:rPr>
              <a:t>FINAL PROJECT</a:t>
            </a:r>
          </a:p>
          <a:p>
            <a:r>
              <a:rPr sz="3400" b="1" i="0">
                <a:solidFill>
                  <a:srgbClr val="FFFFFF"/>
                </a:solidFill>
                <a:latin typeface="Segoe UI"/>
              </a:rPr>
              <a:t>Positions and Market Value from Block Trades</a:t>
            </a:r>
          </a:p>
        </p:txBody>
      </p:sp>
      <p:sp>
        <p:nvSpPr>
          <p:cNvPr id="4" name="TextBox 3"/>
          <p:cNvSpPr txBox="1"/>
          <p:nvPr/>
        </p:nvSpPr>
        <p:spPr>
          <a:xfrm>
            <a:off x="822960" y="2514600"/>
            <a:ext cx="10515600" cy="548640"/>
          </a:xfrm>
          <a:prstGeom prst="rect">
            <a:avLst/>
          </a:prstGeom>
          <a:noFill/>
        </p:spPr>
        <p:txBody>
          <a:bodyPr wrap="square">
            <a:spAutoFit/>
          </a:bodyPr>
          <a:lstStyle/>
          <a:p>
            <a:pPr algn="l"/>
            <a:r>
              <a:rPr sz="1650" b="0" i="0">
                <a:solidFill>
                  <a:srgbClr val="2E3D4A"/>
                </a:solidFill>
                <a:latin typeface="Segoe UI"/>
              </a:rPr>
              <a:t>A streaming pipeline that aggregates block trades two ways, joins prices, and publishes market value — with exactly-once delivery.</a:t>
            </a:r>
          </a:p>
        </p:txBody>
      </p:sp>
      <p:graphicFrame>
        <p:nvGraphicFramePr>
          <p:cNvPr id="5" name="Table 4"/>
          <p:cNvGraphicFramePr>
            <a:graphicFrameLocks noGrp="1"/>
          </p:cNvGraphicFramePr>
          <p:nvPr/>
        </p:nvGraphicFramePr>
        <p:xfrm>
          <a:off x="822960" y="3337560"/>
          <a:ext cx="10241280" cy="1847088"/>
        </p:xfrm>
        <a:graphic>
          <a:graphicData uri="http://schemas.openxmlformats.org/drawingml/2006/table">
            <a:tbl>
              <a:tblPr bandRow="1">
                <a:tableStyleId>{5C22544A-7EE6-4342-B048-85BDC9FD1C3A}</a:tableStyleId>
              </a:tblPr>
              <a:tblGrid>
                <a:gridCol w="2011680"/>
                <a:gridCol w="8229600"/>
              </a:tblGrid>
              <a:tr h="384048">
                <a:tc>
                  <a:txBody>
                    <a:bodyPr wrap="square"/>
                    <a:lstStyle/>
                    <a:p>
                      <a:pPr algn="l"/>
                      <a:r>
                        <a:rPr sz="1350" b="1" i="0">
                          <a:solidFill>
                            <a:srgbClr val="FFFFFF"/>
                          </a:solidFill>
                          <a:latin typeface="Segoe UI"/>
                        </a:rPr>
                        <a:t>Runtime</a:t>
                      </a:r>
                    </a:p>
                  </a:txBody>
                  <a:tcPr marL="109728" marR="109728" anchor="ctr">
                    <a:solidFill>
                      <a:srgbClr val="14222E"/>
                    </a:solidFill>
                  </a:tcPr>
                </a:tc>
                <a:tc>
                  <a:txBody>
                    <a:bodyPr wrap="square"/>
                    <a:lstStyle/>
                    <a:p>
                      <a:pPr algn="r"/>
                      <a:r>
                        <a:rPr sz="1350" b="1" i="0">
                          <a:solidFill>
                            <a:srgbClr val="FFFFFF"/>
                          </a:solidFill>
                          <a:latin typeface="Segoe UI"/>
                        </a:rPr>
                        <a:t>Apache Flink 1.20 · Java 17</a:t>
                      </a:r>
                    </a:p>
                  </a:txBody>
                  <a:tcPr marL="109728" marR="109728" anchor="ctr">
                    <a:solidFill>
                      <a:srgbClr val="14222E"/>
                    </a:solidFill>
                  </a:tcPr>
                </a:tc>
              </a:tr>
              <a:tr h="365760">
                <a:tc>
                  <a:txBody>
                    <a:bodyPr wrap="square"/>
                    <a:lstStyle/>
                    <a:p>
                      <a:pPr algn="l"/>
                      <a:r>
                        <a:rPr sz="1350" b="0" i="0">
                          <a:solidFill>
                            <a:srgbClr val="2E3D4A"/>
                          </a:solidFill>
                          <a:latin typeface="Segoe UI"/>
                        </a:rPr>
                        <a:t>Transport</a:t>
                      </a:r>
                    </a:p>
                  </a:txBody>
                  <a:tcPr marL="109728" marR="109728" anchor="ctr">
                    <a:solidFill>
                      <a:srgbClr val="FFFFFF"/>
                    </a:solidFill>
                  </a:tcPr>
                </a:tc>
                <a:tc>
                  <a:txBody>
                    <a:bodyPr wrap="square"/>
                    <a:lstStyle/>
                    <a:p>
                      <a:pPr algn="r"/>
                      <a:r>
                        <a:rPr sz="1350" b="0" i="0">
                          <a:solidFill>
                            <a:srgbClr val="2E3D4A"/>
                          </a:solidFill>
                          <a:latin typeface="Segoe UI"/>
                        </a:rPr>
                        <a:t>Apache Kafka 3.9 (KRaft)</a:t>
                      </a:r>
                    </a:p>
                  </a:txBody>
                  <a:tcPr marL="109728" marR="109728" anchor="ctr">
                    <a:solidFill>
                      <a:srgbClr val="FFFFFF"/>
                    </a:solidFill>
                  </a:tcPr>
                </a:tc>
              </a:tr>
              <a:tr h="365760">
                <a:tc>
                  <a:txBody>
                    <a:bodyPr wrap="square"/>
                    <a:lstStyle/>
                    <a:p>
                      <a:pPr algn="l"/>
                      <a:r>
                        <a:rPr sz="1350" b="0" i="0">
                          <a:solidFill>
                            <a:srgbClr val="2E3D4A"/>
                          </a:solidFill>
                          <a:latin typeface="Segoe UI"/>
                        </a:rPr>
                        <a:t>Delivery</a:t>
                      </a:r>
                    </a:p>
                  </a:txBody>
                  <a:tcPr marL="109728" marR="109728" anchor="ctr">
                    <a:solidFill>
                      <a:srgbClr val="FFFFFF"/>
                    </a:solidFill>
                  </a:tcPr>
                </a:tc>
                <a:tc>
                  <a:txBody>
                    <a:bodyPr wrap="square"/>
                    <a:lstStyle/>
                    <a:p>
                      <a:pPr algn="r"/>
                      <a:r>
                        <a:rPr sz="1350" b="0" i="0">
                          <a:solidFill>
                            <a:srgbClr val="2E3D4A"/>
                          </a:solidFill>
                          <a:latin typeface="Segoe UI"/>
                        </a:rPr>
                        <a:t>exactly-once, verified by killing a task manager</a:t>
                      </a:r>
                    </a:p>
                  </a:txBody>
                  <a:tcPr marL="109728" marR="109728" anchor="ctr">
                    <a:solidFill>
                      <a:srgbClr val="FFFFFF"/>
                    </a:solidFill>
                  </a:tcPr>
                </a:tc>
              </a:tr>
              <a:tr h="365760">
                <a:tc>
                  <a:txBody>
                    <a:bodyPr wrap="square"/>
                    <a:lstStyle/>
                    <a:p>
                      <a:pPr algn="l"/>
                      <a:r>
                        <a:rPr sz="1350" b="0" i="0">
                          <a:solidFill>
                            <a:srgbClr val="2E3D4A"/>
                          </a:solidFill>
                          <a:latin typeface="Segoe UI"/>
                        </a:rPr>
                        <a:t>Observability</a:t>
                      </a:r>
                    </a:p>
                  </a:txBody>
                  <a:tcPr marL="109728" marR="109728" anchor="ctr">
                    <a:solidFill>
                      <a:srgbClr val="FFFFFF"/>
                    </a:solidFill>
                  </a:tcPr>
                </a:tc>
                <a:tc>
                  <a:txBody>
                    <a:bodyPr wrap="square"/>
                    <a:lstStyle/>
                    <a:p>
                      <a:pPr algn="r"/>
                      <a:r>
                        <a:rPr sz="1350" b="0" i="0">
                          <a:solidFill>
                            <a:srgbClr val="2E3D4A"/>
                          </a:solidFill>
                          <a:latin typeface="Segoe UI"/>
                        </a:rPr>
                        <a:t>Prometheus · Grafana</a:t>
                      </a:r>
                    </a:p>
                  </a:txBody>
                  <a:tcPr marL="109728" marR="109728" anchor="ctr">
                    <a:solidFill>
                      <a:srgbClr val="FFFFFF"/>
                    </a:solidFill>
                  </a:tcPr>
                </a:tc>
              </a:tr>
              <a:tr h="365760">
                <a:tc>
                  <a:txBody>
                    <a:bodyPr wrap="square"/>
                    <a:lstStyle/>
                    <a:p>
                      <a:pPr algn="l"/>
                      <a:r>
                        <a:rPr sz="1350" b="0" i="0">
                          <a:solidFill>
                            <a:srgbClr val="2E3D4A"/>
                          </a:solidFill>
                          <a:latin typeface="Segoe UI"/>
                        </a:rPr>
                        <a:t>Runs on</a:t>
                      </a:r>
                    </a:p>
                  </a:txBody>
                  <a:tcPr marL="109728" marR="109728" anchor="ctr">
                    <a:solidFill>
                      <a:srgbClr val="FFFFFF"/>
                    </a:solidFill>
                  </a:tcPr>
                </a:tc>
                <a:tc>
                  <a:txBody>
                    <a:bodyPr wrap="square"/>
                    <a:lstStyle/>
                    <a:p>
                      <a:pPr algn="r"/>
                      <a:r>
                        <a:rPr sz="1350" b="0" i="0">
                          <a:solidFill>
                            <a:srgbClr val="2E3D4A"/>
                          </a:solidFill>
                          <a:latin typeface="Segoe UI"/>
                        </a:rPr>
                        <a:t>one laptop, `docker compose up` — and on AWS unchanged</a:t>
                      </a:r>
                    </a:p>
                  </a:txBody>
                  <a:tcPr marL="109728" marR="109728" anchor="ctr">
                    <a:solidFill>
                      <a:srgbClr val="FFFFFF"/>
                    </a:solidFill>
                  </a:tcPr>
                </a:tc>
              </a:tr>
            </a:tbl>
          </a:graphicData>
        </a:graphic>
      </p:graphicFrame>
      <p:sp>
        <p:nvSpPr>
          <p:cNvPr id="6" name="TextBox 5"/>
          <p:cNvSpPr txBox="1"/>
          <p:nvPr/>
        </p:nvSpPr>
        <p:spPr>
          <a:xfrm>
            <a:off x="822960" y="5989320"/>
            <a:ext cx="10515600" cy="457200"/>
          </a:xfrm>
          <a:prstGeom prst="rect">
            <a:avLst/>
          </a:prstGeom>
          <a:noFill/>
        </p:spPr>
        <p:txBody>
          <a:bodyPr wrap="square">
            <a:spAutoFit/>
          </a:bodyPr>
          <a:lstStyle/>
          <a:p>
            <a:pPr algn="l"/>
            <a:r>
              <a:rPr sz="1300" b="0" i="1">
                <a:solidFill>
                  <a:srgbClr val="6B7A87"/>
                </a:solidFill>
                <a:latin typeface="Segoe UI"/>
              </a:rPr>
              <a:t>The live demo is the deliverable. These slides are the handout and the backup.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PROBLEM</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One order becomes four allocations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A block trade is one order split across several accounts.  </a:t>
            </a:r>
            <a:r>
              <a:rPr sz="1700" b="0" i="0">
                <a:solidFill>
                  <a:srgbClr val="2E3D4A"/>
                </a:solidFill>
                <a:latin typeface="Segoe UI"/>
              </a:rPr>
              <a:t>A trade of 400 shares allocated to 4 accounts becomes 4 allocations of 100.</a:t>
            </a:r>
          </a:p>
          <a:p>
            <a:pPr>
              <a:spcAft>
                <a:spcPts val="1400"/>
              </a:spcAft>
            </a:pPr>
            <a:r>
              <a:rPr sz="1700" b="1" i="0">
                <a:solidFill>
                  <a:srgbClr val="1B6B8A"/>
                </a:solidFill>
                <a:latin typeface="Segoe UI"/>
              </a:rPr>
              <a:t>▸   </a:t>
            </a:r>
            <a:r>
              <a:rPr sz="1700" b="1" i="0">
                <a:solidFill>
                  <a:srgbClr val="14222E"/>
                </a:solidFill>
                <a:latin typeface="Segoe UI"/>
              </a:rPr>
              <a:t>Publish positions two ways, in parallel.  </a:t>
            </a:r>
            <a:r>
              <a:rPr sz="1700" b="0" i="0">
                <a:solidFill>
                  <a:srgbClr val="2E3D4A"/>
                </a:solidFill>
                <a:latin typeface="Segoe UI"/>
              </a:rPr>
              <a:t>By symbol, and by account / sub-account / symbol.</a:t>
            </a:r>
          </a:p>
          <a:p>
            <a:pPr>
              <a:spcAft>
                <a:spcPts val="1400"/>
              </a:spcAft>
            </a:pPr>
            <a:r>
              <a:rPr sz="1700" b="1" i="0">
                <a:solidFill>
                  <a:srgbClr val="1B6B8A"/>
                </a:solidFill>
                <a:latin typeface="Segoe UI"/>
              </a:rPr>
              <a:t>▸   </a:t>
            </a:r>
            <a:r>
              <a:rPr sz="1700" b="1" i="0">
                <a:solidFill>
                  <a:srgbClr val="14222E"/>
                </a:solidFill>
                <a:latin typeface="Segoe UI"/>
              </a:rPr>
              <a:t>Then join prices to those positions  </a:t>
            </a:r>
            <a:r>
              <a:rPr sz="1700" b="0" i="0">
                <a:solidFill>
                  <a:srgbClr val="2E3D4A"/>
                </a:solidFill>
                <a:latin typeface="Segoe UI"/>
              </a:rPr>
              <a:t>and publish market value the same two ways, once per key per window.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DESIGN</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Six numbered elements, end to end</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peline.png"/>
          <p:cNvPicPr>
            <a:picLocks noChangeAspect="1"/>
          </p:cNvPicPr>
          <p:nvPr/>
        </p:nvPicPr>
        <p:blipFill>
          <a:blip r:embed="rId2"/>
          <a:stretch>
            <a:fillRect/>
          </a:stretch>
        </p:blipFill>
        <p:spPr>
          <a:xfrm>
            <a:off x="521207" y="2002536"/>
            <a:ext cx="11155680" cy="4172586"/>
          </a:xfrm>
          <a:prstGeom prst="rect">
            <a:avLst/>
          </a:prstGeom>
        </p:spPr>
      </p:pic>
      <p:sp>
        <p:nvSpPr>
          <p:cNvPr id="6" name="TextBox 5"/>
          <p:cNvSpPr txBox="1"/>
          <p:nvPr/>
        </p:nvSpPr>
        <p:spPr>
          <a:xfrm>
            <a:off x="685800" y="6303138"/>
            <a:ext cx="10881360" cy="822960"/>
          </a:xfrm>
          <a:prstGeom prst="rect">
            <a:avLst/>
          </a:prstGeom>
          <a:noFill/>
        </p:spPr>
        <p:txBody>
          <a:bodyPr wrap="square">
            <a:spAutoFit/>
          </a:bodyPr>
          <a:lstStyle/>
          <a:p>
            <a:pPr algn="l"/>
            <a:r>
              <a:rPr sz="1350" b="0" i="1">
                <a:solidFill>
                  <a:srgbClr val="6B7A87"/>
                </a:solidFill>
                <a:latin typeface="Segoe UI"/>
              </a:rPr>
              <a:t>Every edge carries its partition key and value. The diagram states the specified one-minute window; the demo overrides it to ten seconds, and the calculation is identical either 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EXPECTED OUTPUT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What the numbers should be, before we run anything</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4937760" cy="2231136"/>
        </p:xfrm>
        <a:graphic>
          <a:graphicData uri="http://schemas.openxmlformats.org/drawingml/2006/table">
            <a:tbl>
              <a:tblPr bandRow="1">
                <a:tableStyleId>{5C22544A-7EE6-4342-B048-85BDC9FD1C3A}</a:tableStyleId>
              </a:tblPr>
              <a:tblGrid>
                <a:gridCol w="2834640"/>
                <a:gridCol w="2103120"/>
              </a:tblGrid>
              <a:tr h="402336">
                <a:tc>
                  <a:txBody>
                    <a:bodyPr wrap="square"/>
                    <a:lstStyle/>
                    <a:p>
                      <a:pPr algn="l"/>
                      <a:r>
                        <a:rPr sz="1350" b="1" i="0">
                          <a:solidFill>
                            <a:srgbClr val="FFFFFF"/>
                          </a:solidFill>
                          <a:latin typeface="Segoe UI"/>
                        </a:rPr>
                        <a:t>Input</a:t>
                      </a:r>
                    </a:p>
                  </a:txBody>
                  <a:tcPr marL="109728" marR="109728" anchor="ctr">
                    <a:solidFill>
                      <a:srgbClr val="14222E"/>
                    </a:solidFill>
                  </a:tcPr>
                </a:tc>
                <a:tc>
                  <a:txBody>
                    <a:bodyPr wrap="square"/>
                    <a:lstStyle/>
                    <a:p>
                      <a:pPr algn="r"/>
                      <a:r>
                        <a:rPr sz="1350" b="1" i="0">
                          <a:solidFill>
                            <a:srgbClr val="FFFFFF"/>
                          </a:solidFill>
                          <a:latin typeface="Segoe UI"/>
                        </a:rPr>
                        <a:t>Rate</a:t>
                      </a:r>
                    </a:p>
                  </a:txBody>
                  <a:tcPr marL="109728" marR="109728" anchor="ctr">
                    <a:solidFill>
                      <a:srgbClr val="14222E"/>
                    </a:solidFill>
                  </a:tcPr>
                </a:tc>
              </a:tr>
              <a:tr h="365760">
                <a:tc>
                  <a:txBody>
                    <a:bodyPr wrap="square"/>
                    <a:lstStyle/>
                    <a:p>
                      <a:pPr algn="l"/>
                      <a:r>
                        <a:rPr sz="1350" b="0" i="0">
                          <a:solidFill>
                            <a:srgbClr val="2E3D4A"/>
                          </a:solidFill>
                          <a:latin typeface="Segoe UI"/>
                        </a:rPr>
                        <a:t>Trades</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r>
              <a:tr h="365760">
                <a:tc>
                  <a:txBody>
                    <a:bodyPr wrap="square"/>
                    <a:lstStyle/>
                    <a:p>
                      <a:pPr algn="l"/>
                      <a:r>
                        <a:rPr sz="1350" b="0" i="0">
                          <a:solidFill>
                            <a:srgbClr val="2E3D4A"/>
                          </a:solidFill>
                          <a:latin typeface="Segoe UI"/>
                        </a:rPr>
                        <a:t>Prices</a:t>
                      </a:r>
                    </a:p>
                  </a:txBody>
                  <a:tcPr marL="109728" marR="109728" anchor="ctr">
                    <a:solidFill>
                      <a:srgbClr val="FFFFFF"/>
                    </a:solidFill>
                  </a:tcPr>
                </a:tc>
                <a:tc>
                  <a:txBody>
                    <a:bodyPr wrap="square"/>
                    <a:lstStyle/>
                    <a:p>
                      <a:pPr algn="r"/>
                      <a:r>
                        <a:rPr sz="1350" b="0" i="0">
                          <a:solidFill>
                            <a:srgbClr val="2E3D4A"/>
                          </a:solidFill>
                          <a:latin typeface="Consolas"/>
                        </a:rPr>
                        <a:t>1 000 / sec</a:t>
                      </a:r>
                    </a:p>
                  </a:txBody>
                  <a:tcPr marL="109728" marR="109728" anchor="ctr">
                    <a:solidFill>
                      <a:srgbClr val="FFFFFF"/>
                    </a:solidFill>
                  </a:tcPr>
                </a:tc>
              </a:tr>
              <a:tr h="365760">
                <a:tc>
                  <a:txBody>
                    <a:bodyPr wrap="square"/>
                    <a:lstStyle/>
                    <a:p>
                      <a:pPr algn="l"/>
                      <a:r>
                        <a:rPr sz="1350" b="0" i="0">
                          <a:solidFill>
                            <a:srgbClr val="2E3D4A"/>
                          </a:solidFill>
                          <a:latin typeface="Segoe UI"/>
                        </a:rPr>
                        <a:t>Symbols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Accounts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Allocations per trade</a:t>
                      </a:r>
                    </a:p>
                  </a:txBody>
                  <a:tcPr marL="109728" marR="109728" anchor="ctr">
                    <a:solidFill>
                      <a:srgbClr val="FFFFFF"/>
                    </a:solidFill>
                  </a:tcPr>
                </a:tc>
                <a:tc>
                  <a:txBody>
                    <a:bodyPr wrap="square"/>
                    <a:lstStyle/>
                    <a:p>
                      <a:pPr algn="r"/>
                      <a:r>
                        <a:rPr sz="1350" b="0" i="0">
                          <a:solidFill>
                            <a:srgbClr val="2E3D4A"/>
                          </a:solidFill>
                          <a:latin typeface="Consolas"/>
                        </a:rPr>
                        <a:t>4 (one per account)</a:t>
                      </a:r>
                    </a:p>
                  </a:txBody>
                  <a:tcPr marL="109728" marR="109728" anchor="ctr">
                    <a:solidFill>
                      <a:srgbClr val="FFFFFF"/>
                    </a:solidFill>
                  </a:tcPr>
                </a:tc>
              </a:tr>
            </a:tbl>
          </a:graphicData>
        </a:graphic>
      </p:graphicFrame>
      <p:graphicFrame>
        <p:nvGraphicFramePr>
          <p:cNvPr id="6" name="Table 5"/>
          <p:cNvGraphicFramePr>
            <a:graphicFrameLocks noGrp="1"/>
          </p:cNvGraphicFramePr>
          <p:nvPr/>
        </p:nvGraphicFramePr>
        <p:xfrm>
          <a:off x="5806440" y="1746504"/>
          <a:ext cx="5760720" cy="1865376"/>
        </p:xfrm>
        <a:graphic>
          <a:graphicData uri="http://schemas.openxmlformats.org/drawingml/2006/table">
            <a:tbl>
              <a:tblPr bandRow="1">
                <a:tableStyleId>{5C22544A-7EE6-4342-B048-85BDC9FD1C3A}</a:tableStyleId>
              </a:tblPr>
              <a:tblGrid>
                <a:gridCol w="411480"/>
                <a:gridCol w="2788920"/>
                <a:gridCol w="1737360"/>
                <a:gridCol w="822960"/>
              </a:tblGrid>
              <a:tr h="402336">
                <a:tc>
                  <a:txBody>
                    <a:bodyPr wrap="square"/>
                    <a:lstStyle/>
                    <a:p>
                      <a:pPr algn="l"/>
                      <a:r>
                        <a:rPr sz="1350" b="1" i="0">
                          <a:solidFill>
                            <a:srgbClr val="FFFFFF"/>
                          </a:solidFill>
                          <a:latin typeface="Segoe UI"/>
                        </a:rPr>
                        <a:t>#</a:t>
                      </a:r>
                    </a:p>
                  </a:txBody>
                  <a:tcPr marL="109728" marR="109728" anchor="ctr">
                    <a:solidFill>
                      <a:srgbClr val="14222E"/>
                    </a:solidFill>
                  </a:tcPr>
                </a:tc>
                <a:tc>
                  <a:txBody>
                    <a:bodyPr wrap="square"/>
                    <a:lstStyle/>
                    <a:p>
                      <a:pPr algn="r"/>
                      <a:r>
                        <a:rPr sz="1350" b="1" i="0">
                          <a:solidFill>
                            <a:srgbClr val="FFFFFF"/>
                          </a:solidFill>
                          <a:latin typeface="Segoe UI"/>
                        </a:rPr>
                        <a:t>Sink</a:t>
                      </a:r>
                    </a:p>
                  </a:txBody>
                  <a:tcPr marL="109728" marR="109728" anchor="ctr">
                    <a:solidFill>
                      <a:srgbClr val="14222E"/>
                    </a:solidFill>
                  </a:tcPr>
                </a:tc>
                <a:tc>
                  <a:txBody>
                    <a:bodyPr wrap="square"/>
                    <a:lstStyle/>
                    <a:p>
                      <a:pPr algn="r"/>
                      <a:r>
                        <a:rPr sz="1350" b="1" i="0">
                          <a:solidFill>
                            <a:srgbClr val="FFFFFF"/>
                          </a:solidFill>
                          <a:latin typeface="Segoe UI"/>
                        </a:rPr>
                        <a:t>Rate in the demo</a:t>
                      </a:r>
                    </a:p>
                  </a:txBody>
                  <a:tcPr marL="109728" marR="109728" anchor="ctr">
                    <a:solidFill>
                      <a:srgbClr val="14222E"/>
                    </a:solidFill>
                  </a:tcPr>
                </a:tc>
                <a:tc>
                  <a:txBody>
                    <a:bodyPr wrap="square"/>
                    <a:lstStyle/>
                    <a:p>
                      <a:pPr algn="r"/>
                      <a:r>
                        <a:rPr sz="1350" b="1" i="0">
                          <a:solidFill>
                            <a:srgbClr val="FFFFFF"/>
                          </a:solidFill>
                          <a:latin typeface="Segoe UI"/>
                        </a:rPr>
                        <a:t>Keys</a:t>
                      </a:r>
                    </a:p>
                  </a:txBody>
                  <a:tcPr marL="109728" marR="109728" anchor="ctr">
                    <a:solidFill>
                      <a:srgbClr val="14222E"/>
                    </a:solidFill>
                  </a:tcPr>
                </a:tc>
              </a:tr>
              <a:tr h="365760">
                <a:tc>
                  <a:txBody>
                    <a:bodyPr wrap="square"/>
                    <a:lstStyle/>
                    <a:p>
                      <a:pPr algn="l"/>
                      <a:r>
                        <a:rPr sz="1350" b="0" i="0">
                          <a:solidFill>
                            <a:srgbClr val="2E3D4A"/>
                          </a:solidFill>
                          <a:latin typeface="Segoe UI"/>
                        </a:rPr>
                        <a:t>3</a:t>
                      </a:r>
                    </a:p>
                  </a:txBody>
                  <a:tcPr marL="109728" marR="109728" anchor="ctr">
                    <a:solidFill>
                      <a:srgbClr val="FFFFFF"/>
                    </a:solidFill>
                  </a:tcPr>
                </a:tc>
                <a:tc>
                  <a:txBody>
                    <a:bodyPr wrap="square"/>
                    <a:lstStyle/>
                    <a:p>
                      <a:pPr algn="r"/>
                      <a:r>
                        <a:rPr sz="1350" b="0" i="0">
                          <a:solidFill>
                            <a:srgbClr val="2E3D4A"/>
                          </a:solidFill>
                          <a:latin typeface="Consolas"/>
                        </a:rPr>
                        <a:t>positions-by-symbol</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4</a:t>
                      </a:r>
                    </a:p>
                  </a:txBody>
                  <a:tcPr marL="109728" marR="109728" anchor="ctr">
                    <a:solidFill>
                      <a:srgbClr val="FFFFFF"/>
                    </a:solidFill>
                  </a:tcPr>
                </a:tc>
                <a:tc>
                  <a:txBody>
                    <a:bodyPr wrap="square"/>
                    <a:lstStyle/>
                    <a:p>
                      <a:pPr algn="r"/>
                      <a:r>
                        <a:rPr sz="1350" b="0" i="0">
                          <a:solidFill>
                            <a:srgbClr val="2E3D4A"/>
                          </a:solidFill>
                          <a:latin typeface="Consolas"/>
                        </a:rPr>
                        <a:t>positions-by-account</a:t>
                      </a:r>
                    </a:p>
                  </a:txBody>
                  <a:tcPr marL="109728" marR="109728" anchor="ctr">
                    <a:solidFill>
                      <a:srgbClr val="FFFFFF"/>
                    </a:solidFill>
                  </a:tcPr>
                </a:tc>
                <a:tc>
                  <a:txBody>
                    <a:bodyPr wrap="square"/>
                    <a:lstStyle/>
                    <a:p>
                      <a:pPr algn="r"/>
                      <a:r>
                        <a:rPr sz="1350" b="0" i="0">
                          <a:solidFill>
                            <a:srgbClr val="2E3D4A"/>
                          </a:solidFill>
                          <a:latin typeface="Consolas"/>
                        </a:rPr>
                        <a:t>40 / sec</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r h="365760">
                <a:tc>
                  <a:txBody>
                    <a:bodyPr wrap="square"/>
                    <a:lstStyle/>
                    <a:p>
                      <a:pPr algn="l"/>
                      <a:r>
                        <a:rPr sz="1350" b="0" i="0">
                          <a:solidFill>
                            <a:srgbClr val="2E3D4A"/>
                          </a:solidFill>
                          <a:latin typeface="Segoe UI"/>
                        </a:rPr>
                        <a:t>5</a:t>
                      </a:r>
                    </a:p>
                  </a:txBody>
                  <a:tcPr marL="109728" marR="109728" anchor="ctr">
                    <a:solidFill>
                      <a:srgbClr val="FFFFFF"/>
                    </a:solidFill>
                  </a:tcPr>
                </a:tc>
                <a:tc>
                  <a:txBody>
                    <a:bodyPr wrap="square"/>
                    <a:lstStyle/>
                    <a:p>
                      <a:pPr algn="r"/>
                      <a:r>
                        <a:rPr sz="1350" b="0" i="0">
                          <a:solidFill>
                            <a:srgbClr val="2E3D4A"/>
                          </a:solidFill>
                          <a:latin typeface="Consolas"/>
                        </a:rPr>
                        <a:t>mv-by-symbol</a:t>
                      </a:r>
                    </a:p>
                  </a:txBody>
                  <a:tcPr marL="109728" marR="109728" anchor="ctr">
                    <a:solidFill>
                      <a:srgbClr val="FFFFFF"/>
                    </a:solidFill>
                  </a:tcPr>
                </a:tc>
                <a:tc>
                  <a:txBody>
                    <a:bodyPr wrap="square"/>
                    <a:lstStyle/>
                    <a:p>
                      <a:pPr algn="r"/>
                      <a:r>
                        <a:rPr sz="1350" b="0" i="0">
                          <a:solidFill>
                            <a:srgbClr val="2E3D4A"/>
                          </a:solidFill>
                          <a:latin typeface="Consolas"/>
                        </a:rPr>
                        <a:t>4 per 10 s</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6</a:t>
                      </a:r>
                    </a:p>
                  </a:txBody>
                  <a:tcPr marL="109728" marR="109728" anchor="ctr">
                    <a:solidFill>
                      <a:srgbClr val="FFFFFF"/>
                    </a:solidFill>
                  </a:tcPr>
                </a:tc>
                <a:tc>
                  <a:txBody>
                    <a:bodyPr wrap="square"/>
                    <a:lstStyle/>
                    <a:p>
                      <a:pPr algn="r"/>
                      <a:r>
                        <a:rPr sz="1350" b="0" i="0">
                          <a:solidFill>
                            <a:srgbClr val="2E3D4A"/>
                          </a:solidFill>
                          <a:latin typeface="Consolas"/>
                        </a:rPr>
                        <a:t>mv-by-account</a:t>
                      </a:r>
                    </a:p>
                  </a:txBody>
                  <a:tcPr marL="109728" marR="109728" anchor="ctr">
                    <a:solidFill>
                      <a:srgbClr val="FFFFFF"/>
                    </a:solidFill>
                  </a:tcPr>
                </a:tc>
                <a:tc>
                  <a:txBody>
                    <a:bodyPr wrap="square"/>
                    <a:lstStyle/>
                    <a:p>
                      <a:pPr algn="r"/>
                      <a:r>
                        <a:rPr sz="1350" b="0" i="0">
                          <a:solidFill>
                            <a:srgbClr val="2E3D4A"/>
                          </a:solidFill>
                          <a:latin typeface="Consolas"/>
                        </a:rPr>
                        <a:t>16 per 10 s</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bl>
          </a:graphicData>
        </a:graphic>
      </p:graphicFrame>
      <p:sp>
        <p:nvSpPr>
          <p:cNvPr id="7" name="Rounded Rectangle 6"/>
          <p:cNvSpPr/>
          <p:nvPr/>
        </p:nvSpPr>
        <p:spPr>
          <a:xfrm>
            <a:off x="685800" y="4233672"/>
            <a:ext cx="10881360" cy="713232"/>
          </a:xfrm>
          <a:prstGeom prst="roundRect">
            <a:avLst/>
          </a:prstGeom>
          <a:solidFill>
            <a:srgbClr val="F2F5F7"/>
          </a:solidFill>
          <a:ln w="12700">
            <a:solidFill>
              <a:srgbClr val="D8DFE4"/>
            </a:solidFill>
          </a:ln>
          <a:effectLst/>
        </p:spPr>
        <p:style>
          <a:lnRef idx="1">
            <a:schemeClr val="accent1"/>
          </a:lnRef>
          <a:fillRef idx="3">
            <a:schemeClr val="accent1"/>
          </a:fillRef>
          <a:effectRef idx="2">
            <a:schemeClr val="accent1"/>
          </a:effectRef>
          <a:fontRef idx="minor">
            <a:schemeClr val="lt1"/>
          </a:fontRef>
        </p:style>
        <p:txBody>
          <a:bodyPr rtlCol="0" anchor="ctr" lIns="256032" wrap="square"/>
          <a:lstStyle/>
          <a:p>
            <a:pPr algn="l"/>
            <a:r>
              <a:rPr sz="1400" b="1" i="0">
                <a:solidFill>
                  <a:srgbClr val="6B7A87"/>
                </a:solidFill>
                <a:latin typeface="Segoe UI"/>
              </a:rPr>
              <a:t>Set for the demo:   </a:t>
            </a:r>
            <a:r>
              <a:rPr sz="1500" b="0" i="0">
                <a:solidFill>
                  <a:srgbClr val="2E3D4A"/>
                </a:solidFill>
                <a:latin typeface="Segoe UI"/>
              </a:rPr>
              <a:t>window </a:t>
            </a:r>
            <a:r>
              <a:rPr sz="1500" b="1" i="0">
                <a:solidFill>
                  <a:srgbClr val="14222E"/>
                </a:solidFill>
                <a:latin typeface="Consolas"/>
              </a:rPr>
              <a:t>10 s</a:t>
            </a:r>
            <a:r>
              <a:rPr sz="1500" b="0" i="0">
                <a:solidFill>
                  <a:srgbClr val="2E3D4A"/>
                </a:solidFill>
                <a:latin typeface="Segoe UI"/>
              </a:rPr>
              <a:t>  (specified: 1 min)     checkpoint interval </a:t>
            </a:r>
            <a:r>
              <a:rPr sz="1500" b="1" i="0">
                <a:solidFill>
                  <a:srgbClr val="14222E"/>
                </a:solidFill>
                <a:latin typeface="Consolas"/>
              </a:rPr>
              <a:t>1 s</a:t>
            </a:r>
            <a:r>
              <a:rPr sz="1500" b="0" i="0">
                <a:solidFill>
                  <a:srgbClr val="2E3D4A"/>
                </a:solidFill>
                <a:latin typeface="Segoe UI"/>
              </a:rPr>
              <a:t>     partitions </a:t>
            </a:r>
            <a:r>
              <a:rPr sz="1500" b="1" i="0">
                <a:solidFill>
                  <a:srgbClr val="14222E"/>
                </a:solidFill>
                <a:latin typeface="Consolas"/>
              </a:rPr>
              <a:t>8</a:t>
            </a:r>
          </a:p>
        </p:txBody>
      </p:sp>
      <p:sp>
        <p:nvSpPr>
          <p:cNvPr id="8" name="TextBox 7"/>
          <p:cNvSpPr txBox="1"/>
          <p:nvPr/>
        </p:nvSpPr>
        <p:spPr>
          <a:xfrm>
            <a:off x="685800" y="5166360"/>
            <a:ext cx="10881360" cy="822960"/>
          </a:xfrm>
          <a:prstGeom prst="rect">
            <a:avLst/>
          </a:prstGeom>
          <a:noFill/>
        </p:spPr>
        <p:txBody>
          <a:bodyPr wrap="square">
            <a:spAutoFit/>
          </a:bodyPr>
          <a:lstStyle/>
          <a:p>
            <a:pPr algn="l"/>
            <a:r>
              <a:rPr sz="1350" b="0" i="0">
                <a:solidFill>
                  <a:srgbClr val="2C6E49"/>
                </a:solidFill>
                <a:latin typeface="Segoe UI"/>
              </a:rPr>
              <a:t>The window is 10 s so the market value sinks say something without a minute of waiting — the job defaults to the specified minute, and the calculation is identical either way. Committing to these numbers before the run is what makes the demo a verification rather than a tour; scripts/verify-topics.sh checks every one of them against the real topics, on every push.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241280" cy="1828800"/>
          </a:xfrm>
          <a:prstGeom prst="rect">
            <a:avLst/>
          </a:prstGeom>
          <a:noFill/>
        </p:spPr>
        <p:txBody>
          <a:bodyPr wrap="square">
            <a:spAutoFit/>
          </a:bodyPr>
          <a:lstStyle/>
          <a:p>
            <a:pPr algn="l"/>
            <a:r>
              <a:rPr sz="1300" b="1" i="0" spc="200">
                <a:solidFill>
                  <a:srgbClr val="7FB6CB"/>
                </a:solidFill>
                <a:latin typeface="Segoe UI"/>
              </a:rPr>
              <a:t>LIVE</a:t>
            </a:r>
          </a:p>
          <a:p>
            <a:r>
              <a:rPr sz="3400" b="1" i="0">
                <a:solidFill>
                  <a:srgbClr val="FFFFFF"/>
                </a:solidFill>
                <a:latin typeface="Segoe UI"/>
              </a:rPr>
              <a:t>Start the generators, then switch to Grafana</a:t>
            </a:r>
          </a:p>
          <a:p>
            <a:pPr>
              <a:spcBef>
                <a:spcPts val="1600"/>
              </a:spcBef>
            </a:pPr>
            <a:r>
              <a:rPr sz="1500" b="0" i="0">
                <a:solidFill>
                  <a:srgbClr val="B9C6D0"/>
                </a:solidFill>
                <a:latin typeface="Consolas"/>
              </a:rPr>
              <a:t>docker compose -f docker/compose.yml up -d --build     →     ./scripts/start-generators.sh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EXPLAIN IT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Every number on the screen has an answer</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Why does sink 4 update four times as often as sink 3?  </a:t>
            </a:r>
            <a:r>
              <a:rPr sz="1700" b="0" i="0">
                <a:solidFill>
                  <a:srgbClr val="2E3D4A"/>
                </a:solidFill>
                <a:latin typeface="Segoe UI"/>
              </a:rPr>
              <a:t>Every block trade splits across four accounts. The quantities reconcile; the counts differ by design.</a:t>
            </a:r>
          </a:p>
          <a:p>
            <a:pPr>
              <a:spcAft>
                <a:spcPts val="1400"/>
              </a:spcAft>
            </a:pPr>
            <a:r>
              <a:rPr sz="1700" b="1" i="0">
                <a:solidFill>
                  <a:srgbClr val="1B6B8A"/>
                </a:solidFill>
                <a:latin typeface="Segoe UI"/>
              </a:rPr>
              <a:t>▸   </a:t>
            </a:r>
            <a:r>
              <a:rPr sz="1700" b="1" i="0">
                <a:solidFill>
                  <a:srgbClr val="14222E"/>
                </a:solidFill>
                <a:latin typeface="Segoe UI"/>
              </a:rPr>
              <a:t>Why do the market value sinks look like steps?  </a:t>
            </a:r>
            <a:r>
              <a:rPr sz="1700" b="0" i="0">
                <a:solidFill>
                  <a:srgbClr val="2E3D4A"/>
                </a:solidFill>
                <a:latin typeface="Segoe UI"/>
              </a:rPr>
              <a:t>They emit once per key per window, not continuously.</a:t>
            </a:r>
          </a:p>
          <a:p>
            <a:pPr>
              <a:spcAft>
                <a:spcPts val="1400"/>
              </a:spcAft>
            </a:pPr>
            <a:r>
              <a:rPr sz="1700" b="1" i="0">
                <a:solidFill>
                  <a:srgbClr val="1B6B8A"/>
                </a:solidFill>
                <a:latin typeface="Segoe UI"/>
              </a:rPr>
              <a:t>▸   </a:t>
            </a:r>
            <a:r>
              <a:rPr sz="1700" b="1" i="0">
                <a:solidFill>
                  <a:srgbClr val="14222E"/>
                </a:solidFill>
                <a:latin typeface="Segoe UI"/>
              </a:rPr>
              <a:t>Why is there one aborted checkpoint?  </a:t>
            </a:r>
            <a:r>
              <a:rPr sz="1700" b="0" i="0">
                <a:solidFill>
                  <a:srgbClr val="2E3D4A"/>
                </a:solidFill>
                <a:latin typeface="Segoe UI"/>
              </a:rPr>
              <a:t>At startup the first checkpoint triggers before every task is running. Harmless, and the panel says 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LOAD</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Both required cases pass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9509760" cy="1499616"/>
        </p:xfrm>
        <a:graphic>
          <a:graphicData uri="http://schemas.openxmlformats.org/drawingml/2006/table">
            <a:tbl>
              <a:tblPr bandRow="1">
                <a:tableStyleId>{5C22544A-7EE6-4342-B048-85BDC9FD1C3A}</a:tableStyleId>
              </a:tblPr>
              <a:tblGrid>
                <a:gridCol w="1371600"/>
                <a:gridCol w="2011680"/>
                <a:gridCol w="1371600"/>
                <a:gridCol w="1828800"/>
                <a:gridCol w="1554480"/>
                <a:gridCol w="1371600"/>
              </a:tblGrid>
              <a:tr h="402336">
                <a:tc>
                  <a:txBody>
                    <a:bodyPr wrap="square"/>
                    <a:lstStyle/>
                    <a:p>
                      <a:pPr algn="l"/>
                      <a:r>
                        <a:rPr sz="1350" b="1" i="0">
                          <a:solidFill>
                            <a:srgbClr val="FFFFFF"/>
                          </a:solidFill>
                          <a:latin typeface="Segoe UI"/>
                        </a:rPr>
                        <a:t/>
                      </a:r>
                    </a:p>
                  </a:txBody>
                  <a:tcPr marL="109728" marR="109728" anchor="ctr">
                    <a:solidFill>
                      <a:srgbClr val="14222E"/>
                    </a:solidFill>
                  </a:tcPr>
                </a:tc>
                <a:tc>
                  <a:txBody>
                    <a:bodyPr wrap="square"/>
                    <a:lstStyle/>
                    <a:p>
                      <a:pPr algn="r"/>
                      <a:r>
                        <a:rPr sz="1350" b="1" i="0">
                          <a:solidFill>
                            <a:srgbClr val="FFFFFF"/>
                          </a:solidFill>
                          <a:latin typeface="Segoe UI"/>
                        </a:rPr>
                        <a:t>orders/s asked</a:t>
                      </a:r>
                    </a:p>
                  </a:txBody>
                  <a:tcPr marL="109728" marR="109728" anchor="ctr">
                    <a:solidFill>
                      <a:srgbClr val="14222E"/>
                    </a:solidFill>
                  </a:tcPr>
                </a:tc>
                <a:tc>
                  <a:txBody>
                    <a:bodyPr wrap="square"/>
                    <a:lstStyle/>
                    <a:p>
                      <a:pPr algn="r"/>
                      <a:r>
                        <a:rPr sz="1350" b="1" i="0">
                          <a:solidFill>
                            <a:srgbClr val="FFFFFF"/>
                          </a:solidFill>
                          <a:latin typeface="Segoe UI"/>
                        </a:rPr>
                        <a:t>prices/s</a:t>
                      </a:r>
                    </a:p>
                  </a:txBody>
                  <a:tcPr marL="109728" marR="109728" anchor="ctr">
                    <a:solidFill>
                      <a:srgbClr val="14222E"/>
                    </a:solidFill>
                  </a:tcPr>
                </a:tc>
                <a:tc>
                  <a:txBody>
                    <a:bodyPr wrap="square"/>
                    <a:lstStyle/>
                    <a:p>
                      <a:pPr algn="r"/>
                      <a:r>
                        <a:rPr sz="1350" b="1" i="0">
                          <a:solidFill>
                            <a:srgbClr val="FFFFFF"/>
                          </a:solidFill>
                          <a:latin typeface="Segoe UI"/>
                        </a:rPr>
                        <a:t>orders through</a:t>
                      </a:r>
                    </a:p>
                  </a:txBody>
                  <a:tcPr marL="109728" marR="109728" anchor="ctr">
                    <a:solidFill>
                      <a:srgbClr val="14222E"/>
                    </a:solidFill>
                  </a:tcPr>
                </a:tc>
                <a:tc>
                  <a:txBody>
                    <a:bodyPr wrap="square"/>
                    <a:lstStyle/>
                    <a:p>
                      <a:pPr algn="r"/>
                      <a:r>
                        <a:rPr sz="1350" b="1" i="0">
                          <a:solidFill>
                            <a:srgbClr val="FFFFFF"/>
                          </a:solidFill>
                          <a:latin typeface="Segoe UI"/>
                        </a:rPr>
                        <a:t>allocations</a:t>
                      </a:r>
                    </a:p>
                  </a:txBody>
                  <a:tcPr marL="109728" marR="109728" anchor="ctr">
                    <a:solidFill>
                      <a:srgbClr val="14222E"/>
                    </a:solidFill>
                  </a:tcPr>
                </a:tc>
                <a:tc>
                  <a:txBody>
                    <a:bodyPr wrap="square"/>
                    <a:lstStyle/>
                    <a:p>
                      <a:pPr algn="r"/>
                      <a:r>
                        <a:rPr sz="1350" b="1" i="0">
                          <a:solidFill>
                            <a:srgbClr val="FFFFFF"/>
                          </a:solidFill>
                          <a:latin typeface="Segoe UI"/>
                        </a:rPr>
                        <a:t>order p50</a:t>
                      </a:r>
                    </a:p>
                  </a:txBody>
                  <a:tcPr marL="109728" marR="109728" anchor="ctr">
                    <a:solidFill>
                      <a:srgbClr val="14222E"/>
                    </a:solidFill>
                  </a:tcPr>
                </a:tc>
              </a:tr>
              <a:tr h="365760">
                <a:tc>
                  <a:txBody>
                    <a:bodyPr wrap="square"/>
                    <a:lstStyle/>
                    <a:p>
                      <a:pPr algn="l"/>
                      <a:r>
                        <a:rPr sz="1350" b="0" i="0">
                          <a:solidFill>
                            <a:srgbClr val="2E3D4A"/>
                          </a:solidFill>
                          <a:latin typeface="Segoe UI"/>
                        </a:rPr>
                        <a:t>baseline</a:t>
                      </a:r>
                    </a:p>
                  </a:txBody>
                  <a:tcPr marL="109728" marR="109728" anchor="ctr">
                    <a:solidFill>
                      <a:srgbClr val="FFFFFF"/>
                    </a:solidFill>
                  </a:tcPr>
                </a:tc>
                <a:tc>
                  <a:txBody>
                    <a:bodyPr wrap="square"/>
                    <a:lstStyle/>
                    <a:p>
                      <a:pPr algn="r"/>
                      <a:r>
                        <a:rPr sz="1350" b="0" i="0">
                          <a:solidFill>
                            <a:srgbClr val="2E3D4A"/>
                          </a:solidFill>
                          <a:latin typeface="Consolas"/>
                        </a:rPr>
                        <a:t>10</a:t>
                      </a:r>
                    </a:p>
                  </a:txBody>
                  <a:tcPr marL="109728" marR="109728" anchor="ctr">
                    <a:solidFill>
                      <a:srgbClr val="FFFFFF"/>
                    </a:solidFill>
                  </a:tcPr>
                </a:tc>
                <a:tc>
                  <a:txBody>
                    <a:bodyPr wrap="square"/>
                    <a:lstStyle/>
                    <a:p>
                      <a:pPr algn="r"/>
                      <a:r>
                        <a:rPr sz="1350" b="0" i="0">
                          <a:solidFill>
                            <a:srgbClr val="2E3D4A"/>
                          </a:solidFill>
                          <a:latin typeface="Consolas"/>
                        </a:rPr>
                        <a:t>1 000</a:t>
                      </a:r>
                    </a:p>
                  </a:txBody>
                  <a:tcPr marL="109728" marR="109728" anchor="ctr">
                    <a:solidFill>
                      <a:srgbClr val="FFFFFF"/>
                    </a:solidFill>
                  </a:tcPr>
                </a:tc>
                <a:tc>
                  <a:txBody>
                    <a:bodyPr wrap="square"/>
                    <a:lstStyle/>
                    <a:p>
                      <a:pPr algn="r"/>
                      <a:r>
                        <a:rPr sz="1350" b="0" i="0">
                          <a:solidFill>
                            <a:srgbClr val="2E3D4A"/>
                          </a:solidFill>
                          <a:latin typeface="Consolas"/>
                        </a:rPr>
                        <a:t>8/s</a:t>
                      </a:r>
                    </a:p>
                  </a:txBody>
                  <a:tcPr marL="109728" marR="109728" anchor="ctr">
                    <a:solidFill>
                      <a:srgbClr val="FFFFFF"/>
                    </a:solidFill>
                  </a:tcPr>
                </a:tc>
                <a:tc>
                  <a:txBody>
                    <a:bodyPr wrap="square"/>
                    <a:lstStyle/>
                    <a:p>
                      <a:pPr algn="r"/>
                      <a:r>
                        <a:rPr sz="1350" b="0" i="0">
                          <a:solidFill>
                            <a:srgbClr val="2E3D4A"/>
                          </a:solidFill>
                          <a:latin typeface="Consolas"/>
                        </a:rPr>
                        <a:t>33/s</a:t>
                      </a:r>
                    </a:p>
                  </a:txBody>
                  <a:tcPr marL="109728" marR="109728" anchor="ctr">
                    <a:solidFill>
                      <a:srgbClr val="FFFFFF"/>
                    </a:solidFill>
                  </a:tcPr>
                </a:tc>
                <a:tc>
                  <a:txBody>
                    <a:bodyPr wrap="square"/>
                    <a:lstStyle/>
                    <a:p>
                      <a:pPr algn="r"/>
                      <a:r>
                        <a:rPr sz="1350" b="0" i="0">
                          <a:solidFill>
                            <a:srgbClr val="2E3D4A"/>
                          </a:solidFill>
                          <a:latin typeface="Consolas"/>
                        </a:rPr>
                        <a:t>519 ms</a:t>
                      </a:r>
                    </a:p>
                  </a:txBody>
                  <a:tcPr marL="109728" marR="109728" anchor="ctr">
                    <a:solidFill>
                      <a:srgbClr val="FFFFFF"/>
                    </a:solidFill>
                  </a:tcPr>
                </a:tc>
              </a:tr>
              <a:tr h="365760">
                <a:tc>
                  <a:txBody>
                    <a:bodyPr wrap="square"/>
                    <a:lstStyle/>
                    <a:p>
                      <a:pPr algn="l"/>
                      <a:r>
                        <a:rPr sz="1350" b="1" i="0">
                          <a:solidFill>
                            <a:srgbClr val="14222E"/>
                          </a:solidFill>
                          <a:latin typeface="Segoe UI"/>
                        </a:rPr>
                        <a:t>case 1</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816/s</a:t>
                      </a:r>
                    </a:p>
                  </a:txBody>
                  <a:tcPr marL="109728" marR="109728" anchor="ctr">
                    <a:solidFill>
                      <a:srgbClr val="F2F5F7"/>
                    </a:solidFill>
                  </a:tcPr>
                </a:tc>
                <a:tc>
                  <a:txBody>
                    <a:bodyPr wrap="square"/>
                    <a:lstStyle/>
                    <a:p>
                      <a:pPr algn="r"/>
                      <a:r>
                        <a:rPr sz="1350" b="1" i="0">
                          <a:solidFill>
                            <a:srgbClr val="14222E"/>
                          </a:solidFill>
                          <a:latin typeface="Consolas"/>
                        </a:rPr>
                        <a:t>3 269/s</a:t>
                      </a:r>
                    </a:p>
                  </a:txBody>
                  <a:tcPr marL="109728" marR="109728" anchor="ctr">
                    <a:solidFill>
                      <a:srgbClr val="F2F5F7"/>
                    </a:solidFill>
                  </a:tcPr>
                </a:tc>
                <a:tc>
                  <a:txBody>
                    <a:bodyPr wrap="square"/>
                    <a:lstStyle/>
                    <a:p>
                      <a:pPr algn="r"/>
                      <a:r>
                        <a:rPr sz="1350" b="1" i="0">
                          <a:solidFill>
                            <a:srgbClr val="14222E"/>
                          </a:solidFill>
                          <a:latin typeface="Consolas"/>
                        </a:rPr>
                        <a:t>522 ms</a:t>
                      </a:r>
                    </a:p>
                  </a:txBody>
                  <a:tcPr marL="109728" marR="109728" anchor="ctr">
                    <a:solidFill>
                      <a:srgbClr val="F2F5F7"/>
                    </a:solidFill>
                  </a:tcPr>
                </a:tc>
              </a:tr>
              <a:tr h="365760">
                <a:tc>
                  <a:txBody>
                    <a:bodyPr wrap="square"/>
                    <a:lstStyle/>
                    <a:p>
                      <a:pPr algn="l"/>
                      <a:r>
                        <a:rPr sz="1350" b="1" i="0">
                          <a:solidFill>
                            <a:srgbClr val="14222E"/>
                          </a:solidFill>
                          <a:latin typeface="Segoe UI"/>
                        </a:rPr>
                        <a:t>case 2</a:t>
                      </a:r>
                    </a:p>
                  </a:txBody>
                  <a:tcPr marL="109728" marR="109728" anchor="ctr">
                    <a:solidFill>
                      <a:srgbClr val="F2F5F7"/>
                    </a:solidFill>
                  </a:tcPr>
                </a:tc>
                <a:tc>
                  <a:txBody>
                    <a:bodyPr wrap="square"/>
                    <a:lstStyle/>
                    <a:p>
                      <a:pPr algn="r"/>
                      <a:r>
                        <a:rPr sz="1350" b="1" i="0">
                          <a:solidFill>
                            <a:srgbClr val="14222E"/>
                          </a:solidFill>
                          <a:latin typeface="Consolas"/>
                        </a:rPr>
                        <a:t>10</a:t>
                      </a:r>
                    </a:p>
                  </a:txBody>
                  <a:tcPr marL="109728" marR="109728" anchor="ctr">
                    <a:solidFill>
                      <a:srgbClr val="F2F5F7"/>
                    </a:solidFill>
                  </a:tcPr>
                </a:tc>
                <a:tc>
                  <a:txBody>
                    <a:bodyPr wrap="square"/>
                    <a:lstStyle/>
                    <a:p>
                      <a:pPr algn="r"/>
                      <a:r>
                        <a:rPr sz="1350" b="1" i="0">
                          <a:solidFill>
                            <a:srgbClr val="14222E"/>
                          </a:solidFill>
                          <a:latin typeface="Consolas"/>
                        </a:rPr>
                        <a:t>20 000</a:t>
                      </a:r>
                    </a:p>
                  </a:txBody>
                  <a:tcPr marL="109728" marR="109728" anchor="ctr">
                    <a:solidFill>
                      <a:srgbClr val="F2F5F7"/>
                    </a:solidFill>
                  </a:tcPr>
                </a:tc>
                <a:tc>
                  <a:txBody>
                    <a:bodyPr wrap="square"/>
                    <a:lstStyle/>
                    <a:p>
                      <a:pPr algn="r"/>
                      <a:r>
                        <a:rPr sz="1350" b="1" i="0">
                          <a:solidFill>
                            <a:srgbClr val="14222E"/>
                          </a:solidFill>
                          <a:latin typeface="Consolas"/>
                        </a:rPr>
                        <a:t>8/s</a:t>
                      </a:r>
                    </a:p>
                  </a:txBody>
                  <a:tcPr marL="109728" marR="109728" anchor="ctr">
                    <a:solidFill>
                      <a:srgbClr val="F2F5F7"/>
                    </a:solidFill>
                  </a:tcPr>
                </a:tc>
                <a:tc>
                  <a:txBody>
                    <a:bodyPr wrap="square"/>
                    <a:lstStyle/>
                    <a:p>
                      <a:pPr algn="r"/>
                      <a:r>
                        <a:rPr sz="1350" b="1" i="0">
                          <a:solidFill>
                            <a:srgbClr val="14222E"/>
                          </a:solidFill>
                          <a:latin typeface="Consolas"/>
                        </a:rPr>
                        <a:t>33/s</a:t>
                      </a:r>
                    </a:p>
                  </a:txBody>
                  <a:tcPr marL="109728" marR="109728" anchor="ctr">
                    <a:solidFill>
                      <a:srgbClr val="F2F5F7"/>
                    </a:solidFill>
                  </a:tcPr>
                </a:tc>
                <a:tc>
                  <a:txBody>
                    <a:bodyPr wrap="square"/>
                    <a:lstStyle/>
                    <a:p>
                      <a:pPr algn="r"/>
                      <a:r>
                        <a:rPr sz="1350" b="1" i="0">
                          <a:solidFill>
                            <a:srgbClr val="14222E"/>
                          </a:solidFill>
                          <a:latin typeface="Consolas"/>
                        </a:rPr>
                        <a:t>513 ms</a:t>
                      </a:r>
                    </a:p>
                  </a:txBody>
                  <a:tcPr marL="109728" marR="109728" anchor="ctr">
                    <a:solidFill>
                      <a:srgbClr val="F2F5F7"/>
                    </a:solidFill>
                  </a:tcPr>
                </a:tc>
              </a:tr>
            </a:tbl>
          </a:graphicData>
        </a:graphic>
      </p:graphicFrame>
      <p:sp>
        <p:nvSpPr>
          <p:cNvPr id="6" name="TextBox 5"/>
          <p:cNvSpPr txBox="1"/>
          <p:nvPr/>
        </p:nvSpPr>
        <p:spPr>
          <a:xfrm>
            <a:off x="685800" y="3712464"/>
            <a:ext cx="10881360" cy="822960"/>
          </a:xfrm>
          <a:prstGeom prst="rect">
            <a:avLst/>
          </a:prstGeom>
          <a:noFill/>
        </p:spPr>
        <p:txBody>
          <a:bodyPr wrap="square">
            <a:spAutoFit/>
          </a:bodyPr>
          <a:lstStyle/>
          <a:p>
            <a:pPr algn="l"/>
            <a:r>
              <a:rPr sz="1600" b="0" i="0">
                <a:solidFill>
                  <a:srgbClr val="14222E"/>
                </a:solidFill>
                <a:latin typeface="Segoe UI"/>
              </a:rPr>
              <a:t>A hundredfold on orders, twentyfold on prices — order latency unmoved in both.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SCALING</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Double the units, double the throughput</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10607040" cy="1133856"/>
        </p:xfrm>
        <a:graphic>
          <a:graphicData uri="http://schemas.openxmlformats.org/drawingml/2006/table">
            <a:tbl>
              <a:tblPr bandRow="1">
                <a:tableStyleId>{5C22544A-7EE6-4342-B048-85BDC9FD1C3A}</a:tableStyleId>
              </a:tblPr>
              <a:tblGrid>
                <a:gridCol w="1188720"/>
                <a:gridCol w="1828800"/>
                <a:gridCol w="1828800"/>
                <a:gridCol w="1920240"/>
                <a:gridCol w="1828800"/>
                <a:gridCol w="2011680"/>
              </a:tblGrid>
              <a:tr h="402336">
                <a:tc>
                  <a:txBody>
                    <a:bodyPr wrap="square"/>
                    <a:lstStyle/>
                    <a:p>
                      <a:pPr algn="l"/>
                      <a:r>
                        <a:rPr sz="1400" b="1" i="0">
                          <a:solidFill>
                            <a:srgbClr val="FFFFFF"/>
                          </a:solidFill>
                          <a:latin typeface="Segoe UI"/>
                        </a:rPr>
                        <a:t>units</a:t>
                      </a:r>
                    </a:p>
                  </a:txBody>
                  <a:tcPr marL="109728" marR="109728" anchor="ctr">
                    <a:solidFill>
                      <a:srgbClr val="14222E"/>
                    </a:solidFill>
                  </a:tcPr>
                </a:tc>
                <a:tc>
                  <a:txBody>
                    <a:bodyPr wrap="square"/>
                    <a:lstStyle/>
                    <a:p>
                      <a:pPr algn="r"/>
                      <a:r>
                        <a:rPr sz="1400" b="1" i="0">
                          <a:solidFill>
                            <a:srgbClr val="FFFFFF"/>
                          </a:solidFill>
                          <a:latin typeface="Segoe UI"/>
                        </a:rPr>
                        <a:t>orders/sec</a:t>
                      </a:r>
                    </a:p>
                  </a:txBody>
                  <a:tcPr marL="109728" marR="109728" anchor="ctr">
                    <a:solidFill>
                      <a:srgbClr val="14222E"/>
                    </a:solidFill>
                  </a:tcPr>
                </a:tc>
                <a:tc>
                  <a:txBody>
                    <a:bodyPr wrap="square"/>
                    <a:lstStyle/>
                    <a:p>
                      <a:pPr algn="r"/>
                      <a:r>
                        <a:rPr sz="1400" b="1" i="0">
                          <a:solidFill>
                            <a:srgbClr val="FFFFFF"/>
                          </a:solidFill>
                          <a:latin typeface="Segoe UI"/>
                        </a:rPr>
                        <a:t>vs previous</a:t>
                      </a:r>
                    </a:p>
                  </a:txBody>
                  <a:tcPr marL="109728" marR="109728" anchor="ctr">
                    <a:solidFill>
                      <a:srgbClr val="14222E"/>
                    </a:solidFill>
                  </a:tcPr>
                </a:tc>
                <a:tc>
                  <a:txBody>
                    <a:bodyPr wrap="square"/>
                    <a:lstStyle/>
                    <a:p>
                      <a:pPr algn="r"/>
                      <a:r>
                        <a:rPr sz="1400" b="1" i="0">
                          <a:solidFill>
                            <a:srgbClr val="FFFFFF"/>
                          </a:solidFill>
                          <a:latin typeface="Segoe UI"/>
                        </a:rPr>
                        <a:t>Flink cores</a:t>
                      </a:r>
                    </a:p>
                  </a:txBody>
                  <a:tcPr marL="109728" marR="109728" anchor="ctr">
                    <a:solidFill>
                      <a:srgbClr val="14222E"/>
                    </a:solidFill>
                  </a:tcPr>
                </a:tc>
                <a:tc>
                  <a:txBody>
                    <a:bodyPr wrap="square"/>
                    <a:lstStyle/>
                    <a:p>
                      <a:pPr algn="r"/>
                      <a:r>
                        <a:rPr sz="1400" b="1" i="0">
                          <a:solidFill>
                            <a:srgbClr val="FFFFFF"/>
                          </a:solidFill>
                          <a:latin typeface="Segoe UI"/>
                        </a:rPr>
                        <a:t>broker cores</a:t>
                      </a:r>
                    </a:p>
                  </a:txBody>
                  <a:tcPr marL="109728" marR="109728" anchor="ctr">
                    <a:solidFill>
                      <a:srgbClr val="14222E"/>
                    </a:solidFill>
                  </a:tcPr>
                </a:tc>
                <a:tc>
                  <a:txBody>
                    <a:bodyPr wrap="square"/>
                    <a:lstStyle/>
                    <a:p>
                      <a:pPr algn="r"/>
                      <a:r>
                        <a:rPr sz="1400" b="1" i="0">
                          <a:solidFill>
                            <a:srgbClr val="FFFFFF"/>
                          </a:solidFill>
                          <a:latin typeface="Segoe UI"/>
                        </a:rPr>
                        <a:t>back-pressure</a:t>
                      </a:r>
                    </a:p>
                  </a:txBody>
                  <a:tcPr marL="109728" marR="109728" anchor="ctr">
                    <a:solidFill>
                      <a:srgbClr val="14222E"/>
                    </a:solidFill>
                  </a:tcPr>
                </a:tc>
              </a:tr>
              <a:tr h="365760">
                <a:tc>
                  <a:txBody>
                    <a:bodyPr wrap="square"/>
                    <a:lstStyle/>
                    <a:p>
                      <a:pPr algn="l"/>
                      <a:r>
                        <a:rPr sz="1400" b="0" i="0">
                          <a:solidFill>
                            <a:srgbClr val="2E3D4A"/>
                          </a:solidFill>
                          <a:latin typeface="Segoe UI"/>
                        </a:rPr>
                        <a:t>2</a:t>
                      </a:r>
                    </a:p>
                  </a:txBody>
                  <a:tcPr marL="109728" marR="109728" anchor="ctr">
                    <a:solidFill>
                      <a:srgbClr val="FFFFFF"/>
                    </a:solidFill>
                  </a:tcPr>
                </a:tc>
                <a:tc>
                  <a:txBody>
                    <a:bodyPr wrap="square"/>
                    <a:lstStyle/>
                    <a:p>
                      <a:pPr algn="r"/>
                      <a:r>
                        <a:rPr sz="1400" b="0" i="0">
                          <a:solidFill>
                            <a:srgbClr val="2E3D4A"/>
                          </a:solidFill>
                          <a:latin typeface="Consolas"/>
                        </a:rPr>
                        <a:t>65 721</a:t>
                      </a:r>
                    </a:p>
                  </a:txBody>
                  <a:tcPr marL="109728" marR="109728" anchor="ctr">
                    <a:solidFill>
                      <a:srgbClr val="FFFFFF"/>
                    </a:solidFill>
                  </a:tcPr>
                </a:tc>
                <a:tc>
                  <a:txBody>
                    <a:bodyPr wrap="square"/>
                    <a:lstStyle/>
                    <a:p>
                      <a:pPr algn="r"/>
                      <a:r>
                        <a:rPr sz="1400" b="0" i="0">
                          <a:solidFill>
                            <a:srgbClr val="2E3D4A"/>
                          </a:solidFill>
                          <a:latin typeface="Consolas"/>
                        </a:rPr>
                        <a:t>—</a:t>
                      </a:r>
                    </a:p>
                  </a:txBody>
                  <a:tcPr marL="109728" marR="109728" anchor="ctr">
                    <a:solidFill>
                      <a:srgbClr val="FFFFFF"/>
                    </a:solidFill>
                  </a:tcPr>
                </a:tc>
                <a:tc>
                  <a:txBody>
                    <a:bodyPr wrap="square"/>
                    <a:lstStyle/>
                    <a:p>
                      <a:pPr algn="r"/>
                      <a:r>
                        <a:rPr sz="1400" b="0" i="0">
                          <a:solidFill>
                            <a:srgbClr val="2E3D4A"/>
                          </a:solidFill>
                          <a:latin typeface="Consolas"/>
                        </a:rPr>
                        <a:t>2.00 of 2</a:t>
                      </a:r>
                    </a:p>
                  </a:txBody>
                  <a:tcPr marL="109728" marR="109728" anchor="ctr">
                    <a:solidFill>
                      <a:srgbClr val="FFFFFF"/>
                    </a:solidFill>
                  </a:tcPr>
                </a:tc>
                <a:tc>
                  <a:txBody>
                    <a:bodyPr wrap="square"/>
                    <a:lstStyle/>
                    <a:p>
                      <a:pPr algn="r"/>
                      <a:r>
                        <a:rPr sz="1400" b="0" i="0">
                          <a:solidFill>
                            <a:srgbClr val="2E3D4A"/>
                          </a:solidFill>
                          <a:latin typeface="Consolas"/>
                        </a:rPr>
                        <a:t>0.25</a:t>
                      </a:r>
                    </a:p>
                  </a:txBody>
                  <a:tcPr marL="109728" marR="109728" anchor="ctr">
                    <a:solidFill>
                      <a:srgbClr val="FFFFFF"/>
                    </a:solidFill>
                  </a:tcPr>
                </a:tc>
                <a:tc>
                  <a:txBody>
                    <a:bodyPr wrap="square"/>
                    <a:lstStyle/>
                    <a:p>
                      <a:pPr algn="r"/>
                      <a:r>
                        <a:rPr sz="1400" b="0" i="0">
                          <a:solidFill>
                            <a:srgbClr val="2E3D4A"/>
                          </a:solidFill>
                          <a:latin typeface="Consolas"/>
                        </a:rPr>
                        <a:t>28.5%</a:t>
                      </a:r>
                    </a:p>
                  </a:txBody>
                  <a:tcPr marL="109728" marR="109728" anchor="ctr">
                    <a:solidFill>
                      <a:srgbClr val="FFFFFF"/>
                    </a:solidFill>
                  </a:tcPr>
                </a:tc>
              </a:tr>
              <a:tr h="365760">
                <a:tc>
                  <a:txBody>
                    <a:bodyPr wrap="square"/>
                    <a:lstStyle/>
                    <a:p>
                      <a:pPr algn="l"/>
                      <a:r>
                        <a:rPr sz="1400" b="1" i="0">
                          <a:solidFill>
                            <a:srgbClr val="14222E"/>
                          </a:solidFill>
                          <a:latin typeface="Segoe UI"/>
                        </a:rPr>
                        <a:t>4</a:t>
                      </a:r>
                    </a:p>
                  </a:txBody>
                  <a:tcPr marL="109728" marR="109728" anchor="ctr">
                    <a:solidFill>
                      <a:srgbClr val="F2F5F7"/>
                    </a:solidFill>
                  </a:tcPr>
                </a:tc>
                <a:tc>
                  <a:txBody>
                    <a:bodyPr wrap="square"/>
                    <a:lstStyle/>
                    <a:p>
                      <a:pPr algn="r"/>
                      <a:r>
                        <a:rPr sz="1400" b="1" i="0">
                          <a:solidFill>
                            <a:srgbClr val="14222E"/>
                          </a:solidFill>
                          <a:latin typeface="Consolas"/>
                        </a:rPr>
                        <a:t>129 056</a:t>
                      </a:r>
                    </a:p>
                  </a:txBody>
                  <a:tcPr marL="109728" marR="109728" anchor="ctr">
                    <a:solidFill>
                      <a:srgbClr val="F2F5F7"/>
                    </a:solidFill>
                  </a:tcPr>
                </a:tc>
                <a:tc>
                  <a:txBody>
                    <a:bodyPr wrap="square"/>
                    <a:lstStyle/>
                    <a:p>
                      <a:pPr algn="r"/>
                      <a:r>
                        <a:rPr sz="1400" b="1" i="0">
                          <a:solidFill>
                            <a:srgbClr val="14222E"/>
                          </a:solidFill>
                          <a:latin typeface="Consolas"/>
                        </a:rPr>
                        <a:t>1.96×</a:t>
                      </a:r>
                    </a:p>
                  </a:txBody>
                  <a:tcPr marL="109728" marR="109728" anchor="ctr">
                    <a:solidFill>
                      <a:srgbClr val="F2F5F7"/>
                    </a:solidFill>
                  </a:tcPr>
                </a:tc>
                <a:tc>
                  <a:txBody>
                    <a:bodyPr wrap="square"/>
                    <a:lstStyle/>
                    <a:p>
                      <a:pPr algn="r"/>
                      <a:r>
                        <a:rPr sz="1400" b="1" i="0">
                          <a:solidFill>
                            <a:srgbClr val="14222E"/>
                          </a:solidFill>
                          <a:latin typeface="Consolas"/>
                        </a:rPr>
                        <a:t>3.94 of 4</a:t>
                      </a:r>
                    </a:p>
                  </a:txBody>
                  <a:tcPr marL="109728" marR="109728" anchor="ctr">
                    <a:solidFill>
                      <a:srgbClr val="F2F5F7"/>
                    </a:solidFill>
                  </a:tcPr>
                </a:tc>
                <a:tc>
                  <a:txBody>
                    <a:bodyPr wrap="square"/>
                    <a:lstStyle/>
                    <a:p>
                      <a:pPr algn="r"/>
                      <a:r>
                        <a:rPr sz="1400" b="1" i="0">
                          <a:solidFill>
                            <a:srgbClr val="14222E"/>
                          </a:solidFill>
                          <a:latin typeface="Consolas"/>
                        </a:rPr>
                        <a:t>0.39</a:t>
                      </a:r>
                    </a:p>
                  </a:txBody>
                  <a:tcPr marL="109728" marR="109728" anchor="ctr">
                    <a:solidFill>
                      <a:srgbClr val="F2F5F7"/>
                    </a:solidFill>
                  </a:tcPr>
                </a:tc>
                <a:tc>
                  <a:txBody>
                    <a:bodyPr wrap="square"/>
                    <a:lstStyle/>
                    <a:p>
                      <a:pPr algn="r"/>
                      <a:r>
                        <a:rPr sz="1400" b="1" i="0">
                          <a:solidFill>
                            <a:srgbClr val="14222E"/>
                          </a:solidFill>
                          <a:latin typeface="Consolas"/>
                        </a:rPr>
                        <a:t>51.6%</a:t>
                      </a:r>
                    </a:p>
                  </a:txBody>
                  <a:tcPr marL="109728" marR="109728" anchor="ctr">
                    <a:solidFill>
                      <a:srgbClr val="F2F5F7"/>
                    </a:solidFill>
                  </a:tcPr>
                </a:tc>
              </a:tr>
            </a:tbl>
          </a:graphicData>
        </a:graphic>
      </p:graphicFrame>
      <p:sp>
        <p:nvSpPr>
          <p:cNvPr id="6" name="TextBox 5"/>
          <p:cNvSpPr txBox="1"/>
          <p:nvPr/>
        </p:nvSpPr>
        <p:spPr>
          <a:xfrm>
            <a:off x="685800" y="3438144"/>
            <a:ext cx="10881360" cy="822960"/>
          </a:xfrm>
          <a:prstGeom prst="rect">
            <a:avLst/>
          </a:prstGeom>
          <a:noFill/>
        </p:spPr>
        <p:txBody>
          <a:bodyPr wrap="square">
            <a:spAutoFit/>
          </a:bodyPr>
          <a:lstStyle/>
          <a:p>
            <a:pPr algn="l"/>
            <a:r>
              <a:rPr sz="1600" b="0" i="0">
                <a:solidFill>
                  <a:srgbClr val="14222E"/>
                </a:solidFill>
                <a:latin typeface="Segoe UI"/>
              </a:rPr>
              <a:t>A unit is one core and one degree of parallelism, bought together — a KPU.  Flink used every core it was given; the broker stayed under half a core.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