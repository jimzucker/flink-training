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running stack already built but idle. The most persuasive moment is graphs going from flat to flowing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left to right, in the order the demo talks through them. Point at 1 and 2 as the inputs, 3-6 as the outputs to verify.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Sink 4 updates 4x as often as sink 3. Quantities reconcile — the four accounts sum to the block. The update counts differ by design.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numbers out loud BEFORE starting the generators. Then the dashboard either matches or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generators come up idle on purpose, so the dashboard is visibly empty until you start them. A stack that is already busy when it appears gives the moment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jobs because Part 2 consumes the published position topics rather than an in-process stream. Either part can be restarted or rescaled without the other, and Part 2 validates the topics that are themselves deliverables. Use this slide if the Flink UI is not reachable.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rendered from the real measurement windows. If the live demo will not start, this slide and the Flink graph slide are the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only show that something scales when it is the thing that is constrained. Step 10 got this wrong — it varied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dashed line is exactly 2x the first bar. The whole claim is whether the second bar reaches it -- 146,063 against 146,794, which is 99.5%. Step 10 got this wrong by varying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cannot answer something, say so and take it as an action item to change the logging. That is the instruction in the requirements, and it beats an explanation invented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2 is the one that settles the broadcast-prices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14884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280160"/>
          </a:xfrm>
          <a:prstGeom prst="rect">
            <a:avLst/>
          </a:prstGeom>
          <a:noFill/>
        </p:spPr>
        <p:txBody>
          <a:bodyPr wrap="square">
            <a:spAutoFit/>
          </a:bodyPr>
          <a:lstStyle/>
          <a:p>
            <a:pPr algn="l"/>
            <a:r>
              <a:rPr sz="1200" b="1" i="0" spc="160">
                <a:solidFill>
                  <a:srgbClr val="7FB6CB"/>
                </a:solidFill>
                <a:latin typeface="Segoe UI"/>
              </a:rPr>
              <a:t>FINAL PROJECT</a:t>
            </a:r>
          </a:p>
          <a:p>
            <a:r>
              <a:rPr sz="3400" b="1" i="0">
                <a:solidFill>
                  <a:srgbClr val="FFFFFF"/>
                </a:solidFill>
                <a:latin typeface="Segoe UI"/>
              </a:rPr>
              <a:t>Positions and Market Value from Block Trades</a:t>
            </a:r>
          </a:p>
        </p:txBody>
      </p:sp>
      <p:sp>
        <p:nvSpPr>
          <p:cNvPr id="4" name="TextBox 3"/>
          <p:cNvSpPr txBox="1"/>
          <p:nvPr/>
        </p:nvSpPr>
        <p:spPr>
          <a:xfrm>
            <a:off x="822960" y="2514600"/>
            <a:ext cx="10515600" cy="548640"/>
          </a:xfrm>
          <a:prstGeom prst="rect">
            <a:avLst/>
          </a:prstGeom>
          <a:noFill/>
        </p:spPr>
        <p:txBody>
          <a:bodyPr wrap="square">
            <a:spAutoFit/>
          </a:bodyPr>
          <a:lstStyle/>
          <a:p>
            <a:pPr algn="l"/>
            <a:r>
              <a:rPr sz="1650" b="0" i="0">
                <a:solidFill>
                  <a:srgbClr val="2E3D4A"/>
                </a:solidFill>
                <a:latin typeface="Segoe UI"/>
              </a:rPr>
              <a:t>A streaming pipeline that aggregates block trades two ways, joins prices, and publishes market value — with exactly-once delivery.</a:t>
            </a:r>
          </a:p>
        </p:txBody>
      </p:sp>
      <p:graphicFrame>
        <p:nvGraphicFramePr>
          <p:cNvPr id="5" name="Table 4"/>
          <p:cNvGraphicFramePr>
            <a:graphicFrameLocks noGrp="1"/>
          </p:cNvGraphicFramePr>
          <p:nvPr/>
        </p:nvGraphicFramePr>
        <p:xfrm>
          <a:off x="822960" y="3337560"/>
          <a:ext cx="10241280" cy="1847088"/>
        </p:xfrm>
        <a:graphic>
          <a:graphicData uri="http://schemas.openxmlformats.org/drawingml/2006/table">
            <a:tbl>
              <a:tblPr bandRow="1">
                <a:tableStyleId>{5C22544A-7EE6-4342-B048-85BDC9FD1C3A}</a:tableStyleId>
              </a:tblPr>
              <a:tblGrid>
                <a:gridCol w="2011680"/>
                <a:gridCol w="8229600"/>
              </a:tblGrid>
              <a:tr h="384048">
                <a:tc>
                  <a:txBody>
                    <a:bodyPr wrap="square"/>
                    <a:lstStyle/>
                    <a:p>
                      <a:pPr algn="l"/>
                      <a:r>
                        <a:rPr sz="1350" b="1" i="0">
                          <a:solidFill>
                            <a:srgbClr val="FFFFFF"/>
                          </a:solidFill>
                          <a:latin typeface="Segoe UI"/>
                        </a:rPr>
                        <a:t>Runtime</a:t>
                      </a:r>
                    </a:p>
                  </a:txBody>
                  <a:tcPr marL="109728" marR="109728" anchor="ctr">
                    <a:solidFill>
                      <a:srgbClr val="14222E"/>
                    </a:solidFill>
                  </a:tcPr>
                </a:tc>
                <a:tc>
                  <a:txBody>
                    <a:bodyPr wrap="square"/>
                    <a:lstStyle/>
                    <a:p>
                      <a:pPr algn="r"/>
                      <a:r>
                        <a:rPr sz="1350" b="1" i="0">
                          <a:solidFill>
                            <a:srgbClr val="FFFFFF"/>
                          </a:solidFill>
                          <a:latin typeface="Segoe UI"/>
                        </a:rPr>
                        <a:t>Apache Flink 1.20 · Java 17</a:t>
                      </a:r>
                    </a:p>
                  </a:txBody>
                  <a:tcPr marL="109728" marR="109728" anchor="ctr">
                    <a:solidFill>
                      <a:srgbClr val="14222E"/>
                    </a:solidFill>
                  </a:tcPr>
                </a:tc>
              </a:tr>
              <a:tr h="365760">
                <a:tc>
                  <a:txBody>
                    <a:bodyPr wrap="square"/>
                    <a:lstStyle/>
                    <a:p>
                      <a:pPr algn="l"/>
                      <a:r>
                        <a:rPr sz="1350" b="0" i="0">
                          <a:solidFill>
                            <a:srgbClr val="2E3D4A"/>
                          </a:solidFill>
                          <a:latin typeface="Segoe UI"/>
                        </a:rPr>
                        <a:t>Transport</a:t>
                      </a:r>
                    </a:p>
                  </a:txBody>
                  <a:tcPr marL="109728" marR="109728" anchor="ctr">
                    <a:solidFill>
                      <a:srgbClr val="FFFFFF"/>
                    </a:solidFill>
                  </a:tcPr>
                </a:tc>
                <a:tc>
                  <a:txBody>
                    <a:bodyPr wrap="square"/>
                    <a:lstStyle/>
                    <a:p>
                      <a:pPr algn="r"/>
                      <a:r>
                        <a:rPr sz="1350" b="0" i="0">
                          <a:solidFill>
                            <a:srgbClr val="2E3D4A"/>
                          </a:solidFill>
                          <a:latin typeface="Segoe UI"/>
                        </a:rPr>
                        <a:t>Apache Kafka 3.9 (KRaft)</a:t>
                      </a:r>
                    </a:p>
                  </a:txBody>
                  <a:tcPr marL="109728" marR="109728" anchor="ctr">
                    <a:solidFill>
                      <a:srgbClr val="FFFFFF"/>
                    </a:solidFill>
                  </a:tcPr>
                </a:tc>
              </a:tr>
              <a:tr h="365760">
                <a:tc>
                  <a:txBody>
                    <a:bodyPr wrap="square"/>
                    <a:lstStyle/>
                    <a:p>
                      <a:pPr algn="l"/>
                      <a:r>
                        <a:rPr sz="1350" b="0" i="0">
                          <a:solidFill>
                            <a:srgbClr val="2E3D4A"/>
                          </a:solidFill>
                          <a:latin typeface="Segoe UI"/>
                        </a:rPr>
                        <a:t>Delivery</a:t>
                      </a:r>
                    </a:p>
                  </a:txBody>
                  <a:tcPr marL="109728" marR="109728" anchor="ctr">
                    <a:solidFill>
                      <a:srgbClr val="FFFFFF"/>
                    </a:solidFill>
                  </a:tcPr>
                </a:tc>
                <a:tc>
                  <a:txBody>
                    <a:bodyPr wrap="square"/>
                    <a:lstStyle/>
                    <a:p>
                      <a:pPr algn="r"/>
                      <a:r>
                        <a:rPr sz="1350" b="0" i="0">
                          <a:solidFill>
                            <a:srgbClr val="2E3D4A"/>
                          </a:solidFill>
                          <a:latin typeface="Segoe UI"/>
                        </a:rPr>
                        <a:t>exactly-once, verified by killing a task manager</a:t>
                      </a:r>
                    </a:p>
                  </a:txBody>
                  <a:tcPr marL="109728" marR="109728" anchor="ctr">
                    <a:solidFill>
                      <a:srgbClr val="FFFFFF"/>
                    </a:solidFill>
                  </a:tcPr>
                </a:tc>
              </a:tr>
              <a:tr h="365760">
                <a:tc>
                  <a:txBody>
                    <a:bodyPr wrap="square"/>
                    <a:lstStyle/>
                    <a:p>
                      <a:pPr algn="l"/>
                      <a:r>
                        <a:rPr sz="1350" b="0" i="0">
                          <a:solidFill>
                            <a:srgbClr val="2E3D4A"/>
                          </a:solidFill>
                          <a:latin typeface="Segoe UI"/>
                        </a:rPr>
                        <a:t>Observability</a:t>
                      </a:r>
                    </a:p>
                  </a:txBody>
                  <a:tcPr marL="109728" marR="109728" anchor="ctr">
                    <a:solidFill>
                      <a:srgbClr val="FFFFFF"/>
                    </a:solidFill>
                  </a:tcPr>
                </a:tc>
                <a:tc>
                  <a:txBody>
                    <a:bodyPr wrap="square"/>
                    <a:lstStyle/>
                    <a:p>
                      <a:pPr algn="r"/>
                      <a:r>
                        <a:rPr sz="1350" b="0" i="0">
                          <a:solidFill>
                            <a:srgbClr val="2E3D4A"/>
                          </a:solidFill>
                          <a:latin typeface="Segoe UI"/>
                        </a:rPr>
                        <a:t>Prometheus · Grafana</a:t>
                      </a:r>
                    </a:p>
                  </a:txBody>
                  <a:tcPr marL="109728" marR="109728" anchor="ctr">
                    <a:solidFill>
                      <a:srgbClr val="FFFFFF"/>
                    </a:solidFill>
                  </a:tcPr>
                </a:tc>
              </a:tr>
              <a:tr h="365760">
                <a:tc>
                  <a:txBody>
                    <a:bodyPr wrap="square"/>
                    <a:lstStyle/>
                    <a:p>
                      <a:pPr algn="l"/>
                      <a:r>
                        <a:rPr sz="1350" b="0" i="0">
                          <a:solidFill>
                            <a:srgbClr val="2E3D4A"/>
                          </a:solidFill>
                          <a:latin typeface="Segoe UI"/>
                        </a:rPr>
                        <a:t>Runs on</a:t>
                      </a:r>
                    </a:p>
                  </a:txBody>
                  <a:tcPr marL="109728" marR="109728" anchor="ctr">
                    <a:solidFill>
                      <a:srgbClr val="FFFFFF"/>
                    </a:solidFill>
                  </a:tcPr>
                </a:tc>
                <a:tc>
                  <a:txBody>
                    <a:bodyPr wrap="square"/>
                    <a:lstStyle/>
                    <a:p>
                      <a:pPr algn="r"/>
                      <a:r>
                        <a:rPr sz="1350" b="0" i="0">
                          <a:solidFill>
                            <a:srgbClr val="2E3D4A"/>
                          </a:solidFill>
                          <a:latin typeface="Segoe UI"/>
                        </a:rPr>
                        <a:t>one laptop, `docker compose up` — and on AWS unchanged</a:t>
                      </a:r>
                    </a:p>
                  </a:txBody>
                  <a:tcPr marL="109728" marR="109728" anchor="ctr">
                    <a:solidFill>
                      <a:srgbClr val="FFFFFF"/>
                    </a:solidFill>
                  </a:tcPr>
                </a:tc>
              </a:tr>
            </a:tbl>
          </a:graphicData>
        </a:graphic>
      </p:graphicFrame>
      <p:sp>
        <p:nvSpPr>
          <p:cNvPr id="6" name="TextBox 5"/>
          <p:cNvSpPr txBox="1"/>
          <p:nvPr/>
        </p:nvSpPr>
        <p:spPr>
          <a:xfrm>
            <a:off x="822960" y="5989320"/>
            <a:ext cx="10515600" cy="457200"/>
          </a:xfrm>
          <a:prstGeom prst="rect">
            <a:avLst/>
          </a:prstGeom>
          <a:noFill/>
        </p:spPr>
        <p:txBody>
          <a:bodyPr wrap="square">
            <a:spAutoFit/>
          </a:bodyPr>
          <a:lstStyle/>
          <a:p>
            <a:pPr algn="l"/>
            <a:r>
              <a:rPr sz="1300" b="0" i="1">
                <a:solidFill>
                  <a:srgbClr val="6B7A87"/>
                </a:solidFill>
                <a:latin typeface="Segoe UI"/>
              </a:rPr>
              <a:t>The live demo is the deliverable. These slides are the handout and the backup.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DESIGN</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Six numbered elements, end to end</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ipeline.png"/>
          <p:cNvPicPr>
            <a:picLocks noChangeAspect="1"/>
          </p:cNvPicPr>
          <p:nvPr/>
        </p:nvPicPr>
        <p:blipFill>
          <a:blip r:embed="rId2"/>
          <a:stretch>
            <a:fillRect/>
          </a:stretch>
        </p:blipFill>
        <p:spPr>
          <a:xfrm>
            <a:off x="841248" y="1965960"/>
            <a:ext cx="10515600" cy="3933175"/>
          </a:xfrm>
          <a:prstGeom prst="rect">
            <a:avLst/>
          </a:prstGeom>
        </p:spPr>
      </p:pic>
      <p:sp>
        <p:nvSpPr>
          <p:cNvPr id="6" name="TextBox 5"/>
          <p:cNvSpPr txBox="1"/>
          <p:nvPr/>
        </p:nvSpPr>
        <p:spPr>
          <a:xfrm>
            <a:off x="841248" y="6008863"/>
            <a:ext cx="10515600" cy="365760"/>
          </a:xfrm>
          <a:prstGeom prst="rect">
            <a:avLst/>
          </a:prstGeom>
          <a:noFill/>
        </p:spPr>
        <p:txBody>
          <a:bodyPr wrap="square">
            <a:spAutoFit/>
          </a:bodyPr>
          <a:lstStyle/>
          <a:p>
            <a:pPr algn="l"/>
            <a:r>
              <a:rPr sz="1350" b="0" i="1">
                <a:solidFill>
                  <a:srgbClr val="6B7A87"/>
                </a:solidFill>
                <a:latin typeface="Segoe UI"/>
              </a:rPr>
              <a:t>Every edge carries its partition key and value.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PROBLEM</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One order becomes four allocations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block trade is one order split across several accounts.  </a:t>
            </a:r>
            <a:r>
              <a:rPr sz="1700" b="0" i="0">
                <a:solidFill>
                  <a:srgbClr val="2E3D4A"/>
                </a:solidFill>
                <a:latin typeface="Segoe UI"/>
              </a:rPr>
              <a:t>A trade of 400 shares allocated to 4 accounts becomes 4 allocations of 100.</a:t>
            </a:r>
          </a:p>
          <a:p>
            <a:pPr>
              <a:spcAft>
                <a:spcPts val="1400"/>
              </a:spcAft>
            </a:pPr>
            <a:r>
              <a:rPr sz="1700" b="1" i="0">
                <a:solidFill>
                  <a:srgbClr val="1B6B8A"/>
                </a:solidFill>
                <a:latin typeface="Segoe UI"/>
              </a:rPr>
              <a:t>▸   </a:t>
            </a:r>
            <a:r>
              <a:rPr sz="1700" b="1" i="0">
                <a:solidFill>
                  <a:srgbClr val="14222E"/>
                </a:solidFill>
                <a:latin typeface="Segoe UI"/>
              </a:rPr>
              <a:t>Publish positions two ways, in parallel.  </a:t>
            </a:r>
            <a:r>
              <a:rPr sz="1700" b="0" i="0">
                <a:solidFill>
                  <a:srgbClr val="2E3D4A"/>
                </a:solidFill>
                <a:latin typeface="Segoe UI"/>
              </a:rPr>
              <a:t>By symbol, and by account / sub-account / symbol.</a:t>
            </a:r>
          </a:p>
          <a:p>
            <a:pPr>
              <a:spcAft>
                <a:spcPts val="1400"/>
              </a:spcAft>
            </a:pPr>
            <a:r>
              <a:rPr sz="1700" b="1" i="0">
                <a:solidFill>
                  <a:srgbClr val="1B6B8A"/>
                </a:solidFill>
                <a:latin typeface="Segoe UI"/>
              </a:rPr>
              <a:t>▸   </a:t>
            </a:r>
            <a:r>
              <a:rPr sz="1700" b="1" i="0">
                <a:solidFill>
                  <a:srgbClr val="14222E"/>
                </a:solidFill>
                <a:latin typeface="Segoe UI"/>
              </a:rPr>
              <a:t>Then join prices to those positions  </a:t>
            </a:r>
            <a:r>
              <a:rPr sz="1700" b="0" i="0">
                <a:solidFill>
                  <a:srgbClr val="2E3D4A"/>
                </a:solidFill>
                <a:latin typeface="Segoe UI"/>
              </a:rPr>
              <a:t>and publish market value the same two ways, once per key per window.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EXPECTED OUTPUT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the numbers should be, before we run anything</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4937760" cy="2231136"/>
        </p:xfrm>
        <a:graphic>
          <a:graphicData uri="http://schemas.openxmlformats.org/drawingml/2006/table">
            <a:tbl>
              <a:tblPr bandRow="1">
                <a:tableStyleId>{5C22544A-7EE6-4342-B048-85BDC9FD1C3A}</a:tableStyleId>
              </a:tblPr>
              <a:tblGrid>
                <a:gridCol w="2834640"/>
                <a:gridCol w="2103120"/>
              </a:tblGrid>
              <a:tr h="402336">
                <a:tc>
                  <a:txBody>
                    <a:bodyPr wrap="square"/>
                    <a:lstStyle/>
                    <a:p>
                      <a:pPr algn="l"/>
                      <a:r>
                        <a:rPr sz="1350" b="1" i="0">
                          <a:solidFill>
                            <a:srgbClr val="FFFFFF"/>
                          </a:solidFill>
                          <a:latin typeface="Segoe UI"/>
                        </a:rPr>
                        <a:t>Input</a:t>
                      </a:r>
                    </a:p>
                  </a:txBody>
                  <a:tcPr marL="109728" marR="109728" anchor="ctr">
                    <a:solidFill>
                      <a:srgbClr val="14222E"/>
                    </a:solidFill>
                  </a:tcPr>
                </a:tc>
                <a:tc>
                  <a:txBody>
                    <a:bodyPr wrap="square"/>
                    <a:lstStyle/>
                    <a:p>
                      <a:pPr algn="r"/>
                      <a:r>
                        <a:rPr sz="1350" b="1" i="0">
                          <a:solidFill>
                            <a:srgbClr val="FFFFFF"/>
                          </a:solidFill>
                          <a:latin typeface="Segoe UI"/>
                        </a:rPr>
                        <a:t>Rate</a:t>
                      </a:r>
                    </a:p>
                  </a:txBody>
                  <a:tcPr marL="109728" marR="109728" anchor="ctr">
                    <a:solidFill>
                      <a:srgbClr val="14222E"/>
                    </a:solidFill>
                  </a:tcPr>
                </a:tc>
              </a:tr>
              <a:tr h="365760">
                <a:tc>
                  <a:txBody>
                    <a:bodyPr wrap="square"/>
                    <a:lstStyle/>
                    <a:p>
                      <a:pPr algn="l"/>
                      <a:r>
                        <a:rPr sz="1350" b="0" i="0">
                          <a:solidFill>
                            <a:srgbClr val="2E3D4A"/>
                          </a:solidFill>
                          <a:latin typeface="Segoe UI"/>
                        </a:rPr>
                        <a:t>Trades</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r>
              <a:tr h="365760">
                <a:tc>
                  <a:txBody>
                    <a:bodyPr wrap="square"/>
                    <a:lstStyle/>
                    <a:p>
                      <a:pPr algn="l"/>
                      <a:r>
                        <a:rPr sz="1350" b="0" i="0">
                          <a:solidFill>
                            <a:srgbClr val="2E3D4A"/>
                          </a:solidFill>
                          <a:latin typeface="Segoe UI"/>
                        </a:rPr>
                        <a:t>Prices</a:t>
                      </a:r>
                    </a:p>
                  </a:txBody>
                  <a:tcPr marL="109728" marR="109728" anchor="ctr">
                    <a:solidFill>
                      <a:srgbClr val="FFFFFF"/>
                    </a:solidFill>
                  </a:tcPr>
                </a:tc>
                <a:tc>
                  <a:txBody>
                    <a:bodyPr wrap="square"/>
                    <a:lstStyle/>
                    <a:p>
                      <a:pPr algn="r"/>
                      <a:r>
                        <a:rPr sz="1350" b="0" i="0">
                          <a:solidFill>
                            <a:srgbClr val="2E3D4A"/>
                          </a:solidFill>
                          <a:latin typeface="Consolas"/>
                        </a:rPr>
                        <a:t>1 000 / sec</a:t>
                      </a:r>
                    </a:p>
                  </a:txBody>
                  <a:tcPr marL="109728" marR="109728" anchor="ctr">
                    <a:solidFill>
                      <a:srgbClr val="FFFFFF"/>
                    </a:solidFill>
                  </a:tcPr>
                </a:tc>
              </a:tr>
              <a:tr h="365760">
                <a:tc>
                  <a:txBody>
                    <a:bodyPr wrap="square"/>
                    <a:lstStyle/>
                    <a:p>
                      <a:pPr algn="l"/>
                      <a:r>
                        <a:rPr sz="1350" b="0" i="0">
                          <a:solidFill>
                            <a:srgbClr val="2E3D4A"/>
                          </a:solidFill>
                          <a:latin typeface="Segoe UI"/>
                        </a:rPr>
                        <a:t>Symbols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Accounts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Allocations per trade</a:t>
                      </a:r>
                    </a:p>
                  </a:txBody>
                  <a:tcPr marL="109728" marR="109728" anchor="ctr">
                    <a:solidFill>
                      <a:srgbClr val="FFFFFF"/>
                    </a:solidFill>
                  </a:tcPr>
                </a:tc>
                <a:tc>
                  <a:txBody>
                    <a:bodyPr wrap="square"/>
                    <a:lstStyle/>
                    <a:p>
                      <a:pPr algn="r"/>
                      <a:r>
                        <a:rPr sz="1350" b="0" i="0">
                          <a:solidFill>
                            <a:srgbClr val="2E3D4A"/>
                          </a:solidFill>
                          <a:latin typeface="Consolas"/>
                        </a:rPr>
                        <a:t>4 (one per account)</a:t>
                      </a:r>
                    </a:p>
                  </a:txBody>
                  <a:tcPr marL="109728" marR="109728" anchor="ctr">
                    <a:solidFill>
                      <a:srgbClr val="FFFFFF"/>
                    </a:solidFill>
                  </a:tcPr>
                </a:tc>
              </a:tr>
            </a:tbl>
          </a:graphicData>
        </a:graphic>
      </p:graphicFrame>
      <p:graphicFrame>
        <p:nvGraphicFramePr>
          <p:cNvPr id="6" name="Table 5"/>
          <p:cNvGraphicFramePr>
            <a:graphicFrameLocks noGrp="1"/>
          </p:cNvGraphicFramePr>
          <p:nvPr/>
        </p:nvGraphicFramePr>
        <p:xfrm>
          <a:off x="5806440" y="1746504"/>
          <a:ext cx="5760720" cy="1865376"/>
        </p:xfrm>
        <a:graphic>
          <a:graphicData uri="http://schemas.openxmlformats.org/drawingml/2006/table">
            <a:tbl>
              <a:tblPr bandRow="1">
                <a:tableStyleId>{5C22544A-7EE6-4342-B048-85BDC9FD1C3A}</a:tableStyleId>
              </a:tblPr>
              <a:tblGrid>
                <a:gridCol w="411480"/>
                <a:gridCol w="2788920"/>
                <a:gridCol w="1737360"/>
                <a:gridCol w="822960"/>
              </a:tblGrid>
              <a:tr h="402336">
                <a:tc>
                  <a:txBody>
                    <a:bodyPr wrap="square"/>
                    <a:lstStyle/>
                    <a:p>
                      <a:pPr algn="l"/>
                      <a:r>
                        <a:rPr sz="1350" b="1" i="0">
                          <a:solidFill>
                            <a:srgbClr val="FFFFFF"/>
                          </a:solidFill>
                          <a:latin typeface="Segoe UI"/>
                        </a:rPr>
                        <a:t>#</a:t>
                      </a:r>
                    </a:p>
                  </a:txBody>
                  <a:tcPr marL="109728" marR="109728" anchor="ctr">
                    <a:solidFill>
                      <a:srgbClr val="14222E"/>
                    </a:solidFill>
                  </a:tcPr>
                </a:tc>
                <a:tc>
                  <a:txBody>
                    <a:bodyPr wrap="square"/>
                    <a:lstStyle/>
                    <a:p>
                      <a:pPr algn="r"/>
                      <a:r>
                        <a:rPr sz="1350" b="1" i="0">
                          <a:solidFill>
                            <a:srgbClr val="FFFFFF"/>
                          </a:solidFill>
                          <a:latin typeface="Segoe UI"/>
                        </a:rPr>
                        <a:t>Sink</a:t>
                      </a:r>
                    </a:p>
                  </a:txBody>
                  <a:tcPr marL="109728" marR="109728" anchor="ctr">
                    <a:solidFill>
                      <a:srgbClr val="14222E"/>
                    </a:solidFill>
                  </a:tcPr>
                </a:tc>
                <a:tc>
                  <a:txBody>
                    <a:bodyPr wrap="square"/>
                    <a:lstStyle/>
                    <a:p>
                      <a:pPr algn="r"/>
                      <a:r>
                        <a:rPr sz="1350" b="1" i="0">
                          <a:solidFill>
                            <a:srgbClr val="FFFFFF"/>
                          </a:solidFill>
                          <a:latin typeface="Segoe UI"/>
                        </a:rPr>
                        <a:t>Rate in the demo</a:t>
                      </a:r>
                    </a:p>
                  </a:txBody>
                  <a:tcPr marL="109728" marR="109728" anchor="ctr">
                    <a:solidFill>
                      <a:srgbClr val="14222E"/>
                    </a:solidFill>
                  </a:tcPr>
                </a:tc>
                <a:tc>
                  <a:txBody>
                    <a:bodyPr wrap="square"/>
                    <a:lstStyle/>
                    <a:p>
                      <a:pPr algn="r"/>
                      <a:r>
                        <a:rPr sz="1350" b="1" i="0">
                          <a:solidFill>
                            <a:srgbClr val="FFFFFF"/>
                          </a:solidFill>
                          <a:latin typeface="Segoe UI"/>
                        </a:rPr>
                        <a:t>Keys</a:t>
                      </a:r>
                    </a:p>
                  </a:txBody>
                  <a:tcPr marL="109728" marR="109728" anchor="ctr">
                    <a:solidFill>
                      <a:srgbClr val="14222E"/>
                    </a:solidFill>
                  </a:tcPr>
                </a:tc>
              </a:tr>
              <a:tr h="365760">
                <a:tc>
                  <a:txBody>
                    <a:bodyPr wrap="square"/>
                    <a:lstStyle/>
                    <a:p>
                      <a:pPr algn="l"/>
                      <a:r>
                        <a:rPr sz="1350" b="0" i="0">
                          <a:solidFill>
                            <a:srgbClr val="2E3D4A"/>
                          </a:solidFill>
                          <a:latin typeface="Segoe UI"/>
                        </a:rPr>
                        <a:t>3</a:t>
                      </a:r>
                    </a:p>
                  </a:txBody>
                  <a:tcPr marL="109728" marR="109728" anchor="ctr">
                    <a:solidFill>
                      <a:srgbClr val="FFFFFF"/>
                    </a:solidFill>
                  </a:tcPr>
                </a:tc>
                <a:tc>
                  <a:txBody>
                    <a:bodyPr wrap="square"/>
                    <a:lstStyle/>
                    <a:p>
                      <a:pPr algn="r"/>
                      <a:r>
                        <a:rPr sz="1350" b="0" i="0">
                          <a:solidFill>
                            <a:srgbClr val="2E3D4A"/>
                          </a:solidFill>
                          <a:latin typeface="Consolas"/>
                        </a:rPr>
                        <a:t>positions-by-symbol</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4</a:t>
                      </a:r>
                    </a:p>
                  </a:txBody>
                  <a:tcPr marL="109728" marR="109728" anchor="ctr">
                    <a:solidFill>
                      <a:srgbClr val="FFFFFF"/>
                    </a:solidFill>
                  </a:tcPr>
                </a:tc>
                <a:tc>
                  <a:txBody>
                    <a:bodyPr wrap="square"/>
                    <a:lstStyle/>
                    <a:p>
                      <a:pPr algn="r"/>
                      <a:r>
                        <a:rPr sz="1350" b="0" i="0">
                          <a:solidFill>
                            <a:srgbClr val="2E3D4A"/>
                          </a:solidFill>
                          <a:latin typeface="Consolas"/>
                        </a:rPr>
                        <a:t>positions-by-account</a:t>
                      </a:r>
                    </a:p>
                  </a:txBody>
                  <a:tcPr marL="109728" marR="109728" anchor="ctr">
                    <a:solidFill>
                      <a:srgbClr val="FFFFFF"/>
                    </a:solidFill>
                  </a:tcPr>
                </a:tc>
                <a:tc>
                  <a:txBody>
                    <a:bodyPr wrap="square"/>
                    <a:lstStyle/>
                    <a:p>
                      <a:pPr algn="r"/>
                      <a:r>
                        <a:rPr sz="1350" b="0" i="0">
                          <a:solidFill>
                            <a:srgbClr val="2E3D4A"/>
                          </a:solidFill>
                          <a:latin typeface="Consolas"/>
                        </a:rPr>
                        <a:t>40 / sec</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r h="365760">
                <a:tc>
                  <a:txBody>
                    <a:bodyPr wrap="square"/>
                    <a:lstStyle/>
                    <a:p>
                      <a:pPr algn="l"/>
                      <a:r>
                        <a:rPr sz="1350" b="0" i="0">
                          <a:solidFill>
                            <a:srgbClr val="2E3D4A"/>
                          </a:solidFill>
                          <a:latin typeface="Segoe UI"/>
                        </a:rPr>
                        <a:t>5</a:t>
                      </a:r>
                    </a:p>
                  </a:txBody>
                  <a:tcPr marL="109728" marR="109728" anchor="ctr">
                    <a:solidFill>
                      <a:srgbClr val="FFFFFF"/>
                    </a:solidFill>
                  </a:tcPr>
                </a:tc>
                <a:tc>
                  <a:txBody>
                    <a:bodyPr wrap="square"/>
                    <a:lstStyle/>
                    <a:p>
                      <a:pPr algn="r"/>
                      <a:r>
                        <a:rPr sz="1350" b="0" i="0">
                          <a:solidFill>
                            <a:srgbClr val="2E3D4A"/>
                          </a:solidFill>
                          <a:latin typeface="Consolas"/>
                        </a:rPr>
                        <a:t>mv-by-symbol</a:t>
                      </a:r>
                    </a:p>
                  </a:txBody>
                  <a:tcPr marL="109728" marR="109728" anchor="ctr">
                    <a:solidFill>
                      <a:srgbClr val="FFFFFF"/>
                    </a:solidFill>
                  </a:tcPr>
                </a:tc>
                <a:tc>
                  <a:txBody>
                    <a:bodyPr wrap="square"/>
                    <a:lstStyle/>
                    <a:p>
                      <a:pPr algn="r"/>
                      <a:r>
                        <a:rPr sz="1350" b="0" i="0">
                          <a:solidFill>
                            <a:srgbClr val="2E3D4A"/>
                          </a:solidFill>
                          <a:latin typeface="Consolas"/>
                        </a:rPr>
                        <a:t>4 per 10 s</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6</a:t>
                      </a:r>
                    </a:p>
                  </a:txBody>
                  <a:tcPr marL="109728" marR="109728" anchor="ctr">
                    <a:solidFill>
                      <a:srgbClr val="FFFFFF"/>
                    </a:solidFill>
                  </a:tcPr>
                </a:tc>
                <a:tc>
                  <a:txBody>
                    <a:bodyPr wrap="square"/>
                    <a:lstStyle/>
                    <a:p>
                      <a:pPr algn="r"/>
                      <a:r>
                        <a:rPr sz="1350" b="0" i="0">
                          <a:solidFill>
                            <a:srgbClr val="2E3D4A"/>
                          </a:solidFill>
                          <a:latin typeface="Consolas"/>
                        </a:rPr>
                        <a:t>mv-by-account</a:t>
                      </a:r>
                    </a:p>
                  </a:txBody>
                  <a:tcPr marL="109728" marR="109728" anchor="ctr">
                    <a:solidFill>
                      <a:srgbClr val="FFFFFF"/>
                    </a:solidFill>
                  </a:tcPr>
                </a:tc>
                <a:tc>
                  <a:txBody>
                    <a:bodyPr wrap="square"/>
                    <a:lstStyle/>
                    <a:p>
                      <a:pPr algn="r"/>
                      <a:r>
                        <a:rPr sz="1350" b="0" i="0">
                          <a:solidFill>
                            <a:srgbClr val="2E3D4A"/>
                          </a:solidFill>
                          <a:latin typeface="Consolas"/>
                        </a:rPr>
                        <a:t>16 per 10 s</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bl>
          </a:graphicData>
        </a:graphic>
      </p:graphicFrame>
      <p:sp>
        <p:nvSpPr>
          <p:cNvPr id="7" name="Rounded Rectangle 6"/>
          <p:cNvSpPr/>
          <p:nvPr/>
        </p:nvSpPr>
        <p:spPr>
          <a:xfrm>
            <a:off x="685800" y="4233672"/>
            <a:ext cx="10881360" cy="713232"/>
          </a:xfrm>
          <a:prstGeom prst="roundRect">
            <a:avLst/>
          </a:prstGeom>
          <a:solidFill>
            <a:srgbClr val="F2F5F7"/>
          </a:solid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lIns="256032" wrap="square"/>
          <a:lstStyle/>
          <a:p>
            <a:pPr algn="l"/>
            <a:r>
              <a:rPr sz="1400" b="1" i="0">
                <a:solidFill>
                  <a:srgbClr val="6B7A87"/>
                </a:solidFill>
                <a:latin typeface="Segoe UI"/>
              </a:rPr>
              <a:t>Set for the demo:   </a:t>
            </a:r>
            <a:r>
              <a:rPr sz="1500" b="0" i="0">
                <a:solidFill>
                  <a:srgbClr val="2E3D4A"/>
                </a:solidFill>
                <a:latin typeface="Segoe UI"/>
              </a:rPr>
              <a:t>window </a:t>
            </a:r>
            <a:r>
              <a:rPr sz="1500" b="1" i="0">
                <a:solidFill>
                  <a:srgbClr val="14222E"/>
                </a:solidFill>
                <a:latin typeface="Consolas"/>
              </a:rPr>
              <a:t>10 s</a:t>
            </a:r>
            <a:r>
              <a:rPr sz="1500" b="0" i="0">
                <a:solidFill>
                  <a:srgbClr val="2E3D4A"/>
                </a:solidFill>
                <a:latin typeface="Segoe UI"/>
              </a:rPr>
              <a:t>     checkpoint interval </a:t>
            </a:r>
            <a:r>
              <a:rPr sz="1500" b="1" i="0">
                <a:solidFill>
                  <a:srgbClr val="14222E"/>
                </a:solidFill>
                <a:latin typeface="Consolas"/>
              </a:rPr>
              <a:t>1 s</a:t>
            </a:r>
            <a:r>
              <a:rPr sz="1500" b="0" i="0">
                <a:solidFill>
                  <a:srgbClr val="2E3D4A"/>
                </a:solidFill>
                <a:latin typeface="Segoe UI"/>
              </a:rPr>
              <a:t>     partitions </a:t>
            </a:r>
            <a:r>
              <a:rPr sz="1500" b="1" i="0">
                <a:solidFill>
                  <a:srgbClr val="14222E"/>
                </a:solidFill>
                <a:latin typeface="Consolas"/>
              </a:rPr>
              <a:t>8</a:t>
            </a:r>
          </a:p>
        </p:txBody>
      </p:sp>
      <p:sp>
        <p:nvSpPr>
          <p:cNvPr id="8" name="TextBox 7"/>
          <p:cNvSpPr txBox="1"/>
          <p:nvPr/>
        </p:nvSpPr>
        <p:spPr>
          <a:xfrm>
            <a:off x="685800" y="5166360"/>
            <a:ext cx="10881360" cy="822960"/>
          </a:xfrm>
          <a:prstGeom prst="rect">
            <a:avLst/>
          </a:prstGeom>
          <a:noFill/>
        </p:spPr>
        <p:txBody>
          <a:bodyPr wrap="square">
            <a:spAutoFit/>
          </a:bodyPr>
          <a:lstStyle/>
          <a:p>
            <a:pPr algn="l"/>
            <a:r>
              <a:rPr sz="1350" b="0" i="0">
                <a:solidFill>
                  <a:srgbClr val="2C6E49"/>
                </a:solidFill>
                <a:latin typeface="Segoe UI"/>
              </a:rPr>
              <a:t>Committing to these numbers before the run is what makes the demo a verification rather than a tour. scripts/verify-topics.sh checks every one of them against the real topics, at these settings, on every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241280" cy="1828800"/>
          </a:xfrm>
          <a:prstGeom prst="rect">
            <a:avLst/>
          </a:prstGeom>
          <a:noFill/>
        </p:spPr>
        <p:txBody>
          <a:bodyPr wrap="square">
            <a:spAutoFit/>
          </a:bodyPr>
          <a:lstStyle/>
          <a:p>
            <a:pPr algn="l"/>
            <a:r>
              <a:rPr sz="1300" b="1" i="0" spc="200">
                <a:solidFill>
                  <a:srgbClr val="7FB6CB"/>
                </a:solidFill>
                <a:latin typeface="Segoe UI"/>
              </a:rPr>
              <a:t>LIVE</a:t>
            </a:r>
          </a:p>
          <a:p>
            <a:r>
              <a:rPr sz="3400" b="1" i="0">
                <a:solidFill>
                  <a:srgbClr val="FFFFFF"/>
                </a:solidFill>
                <a:latin typeface="Segoe UI"/>
              </a:rPr>
              <a:t>Start the generators, then switch to Grafana</a:t>
            </a:r>
          </a:p>
          <a:p>
            <a:pPr>
              <a:spcBef>
                <a:spcPts val="1600"/>
              </a:spcBef>
            </a:pPr>
            <a:r>
              <a:rPr sz="1500" b="0" i="0">
                <a:solidFill>
                  <a:srgbClr val="B9C6D0"/>
                </a:solidFill>
                <a:latin typeface="Consolas"/>
              </a:rPr>
              <a:t>docker compose -f docker/compose.yml up -d --build     →     ./scripts/start-generators.sh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RUNNING PIPELINE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Flink shows: two jobs, six operators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801368"/>
            <a:ext cx="5266944" cy="310896"/>
          </a:xfrm>
          <a:prstGeom prst="rect">
            <a:avLst/>
          </a:prstGeom>
          <a:noFill/>
        </p:spPr>
        <p:txBody>
          <a:bodyPr wrap="square">
            <a:spAutoFit/>
          </a:bodyPr>
          <a:lstStyle/>
          <a:p>
            <a:pPr algn="l"/>
            <a:r>
              <a:rPr sz="1500" b="1" i="0">
                <a:solidFill>
                  <a:srgbClr val="14222E"/>
                </a:solidFill>
                <a:latin typeface="Segoe UI"/>
              </a:rPr>
              <a:t>Part 1 — positions</a:t>
            </a:r>
          </a:p>
        </p:txBody>
      </p:sp>
      <p:pic>
        <p:nvPicPr>
          <p:cNvPr id="6" name="Picture 5" descr="flink-part1.png"/>
          <p:cNvPicPr>
            <a:picLocks noChangeAspect="1"/>
          </p:cNvPicPr>
          <p:nvPr/>
        </p:nvPicPr>
        <p:blipFill>
          <a:blip r:embed="rId2"/>
          <a:stretch>
            <a:fillRect/>
          </a:stretch>
        </p:blipFill>
        <p:spPr>
          <a:xfrm>
            <a:off x="566928" y="2167128"/>
            <a:ext cx="5266944" cy="3924389"/>
          </a:xfrm>
          <a:prstGeom prst="rect">
            <a:avLst/>
          </a:prstGeom>
        </p:spPr>
      </p:pic>
      <p:sp>
        <p:nvSpPr>
          <p:cNvPr id="7" name="Rectangle 6"/>
          <p:cNvSpPr/>
          <p:nvPr/>
        </p:nvSpPr>
        <p:spPr>
          <a:xfrm>
            <a:off x="566928" y="2167128"/>
            <a:ext cx="5266944" cy="3924389"/>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6182957"/>
            <a:ext cx="5266944" cy="548640"/>
          </a:xfrm>
          <a:prstGeom prst="rect">
            <a:avLst/>
          </a:prstGeom>
          <a:noFill/>
        </p:spPr>
        <p:txBody>
          <a:bodyPr wrap="square">
            <a:spAutoFit/>
          </a:bodyPr>
          <a:lstStyle/>
          <a:p>
            <a:pPr algn="l"/>
            <a:r>
              <a:rPr sz="1200" b="0" i="0">
                <a:solidFill>
                  <a:srgbClr val="6B7A87"/>
                </a:solidFill>
                <a:latin typeface="Segoe UI"/>
              </a:rPr>
              <a:t>orders  →  split by allocation  →  two keyed aggregates, each with its own sink</a:t>
            </a:r>
          </a:p>
        </p:txBody>
      </p:sp>
      <p:sp>
        <p:nvSpPr>
          <p:cNvPr id="9" name="TextBox 8"/>
          <p:cNvSpPr txBox="1"/>
          <p:nvPr/>
        </p:nvSpPr>
        <p:spPr>
          <a:xfrm>
            <a:off x="6355080" y="1801368"/>
            <a:ext cx="5266944" cy="310896"/>
          </a:xfrm>
          <a:prstGeom prst="rect">
            <a:avLst/>
          </a:prstGeom>
          <a:noFill/>
        </p:spPr>
        <p:txBody>
          <a:bodyPr wrap="square">
            <a:spAutoFit/>
          </a:bodyPr>
          <a:lstStyle/>
          <a:p>
            <a:pPr algn="l"/>
            <a:r>
              <a:rPr sz="1500" b="1" i="0">
                <a:solidFill>
                  <a:srgbClr val="14222E"/>
                </a:solidFill>
                <a:latin typeface="Segoe UI"/>
              </a:rPr>
              <a:t>Part 2 — market value</a:t>
            </a:r>
          </a:p>
        </p:txBody>
      </p:sp>
      <p:pic>
        <p:nvPicPr>
          <p:cNvPr id="10" name="Picture 9" descr="flink-part2.png"/>
          <p:cNvPicPr>
            <a:picLocks noChangeAspect="1"/>
          </p:cNvPicPr>
          <p:nvPr/>
        </p:nvPicPr>
        <p:blipFill>
          <a:blip r:embed="rId3"/>
          <a:stretch>
            <a:fillRect/>
          </a:stretch>
        </p:blipFill>
        <p:spPr>
          <a:xfrm>
            <a:off x="6355080" y="2167128"/>
            <a:ext cx="5266944" cy="3604619"/>
          </a:xfrm>
          <a:prstGeom prst="rect">
            <a:avLst/>
          </a:prstGeom>
        </p:spPr>
      </p:pic>
      <p:sp>
        <p:nvSpPr>
          <p:cNvPr id="11" name="Rectangle 10"/>
          <p:cNvSpPr/>
          <p:nvPr/>
        </p:nvSpPr>
        <p:spPr>
          <a:xfrm>
            <a:off x="6355080" y="2167128"/>
            <a:ext cx="5266944" cy="3604619"/>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5863187"/>
            <a:ext cx="5266944" cy="548640"/>
          </a:xfrm>
          <a:prstGeom prst="rect">
            <a:avLst/>
          </a:prstGeom>
          <a:noFill/>
        </p:spPr>
        <p:txBody>
          <a:bodyPr wrap="square">
            <a:spAutoFit/>
          </a:bodyPr>
          <a:lstStyle/>
          <a:p>
            <a:pPr algn="l"/>
            <a:r>
              <a:rPr sz="1200" b="0" i="0">
                <a:solidFill>
                  <a:srgbClr val="6B7A87"/>
                </a:solidFill>
                <a:latin typeface="Segoe UI"/>
              </a:rPr>
              <a:t>prices broadcast to both joins; positions read back from topics 3 and 4</a:t>
            </a:r>
          </a:p>
        </p:txBody>
      </p:sp>
      <p:sp>
        <p:nvSpPr>
          <p:cNvPr id="13" name="TextBox 12"/>
          <p:cNvSpPr txBox="1"/>
          <p:nvPr/>
        </p:nvSpPr>
        <p:spPr>
          <a:xfrm>
            <a:off x="685800" y="5577840"/>
            <a:ext cx="10881360" cy="822960"/>
          </a:xfrm>
          <a:prstGeom prst="rect">
            <a:avLst/>
          </a:prstGeom>
          <a:noFill/>
        </p:spPr>
        <p:txBody>
          <a:bodyPr wrap="square">
            <a:spAutoFit/>
          </a:bodyPr>
          <a:lstStyle/>
          <a:p>
            <a:pPr algn="l"/>
            <a:r>
              <a:rPr sz="1350" b="0" i="1">
                <a:solidFill>
                  <a:srgbClr val="6B7A87"/>
                </a:solidFill>
                <a:latin typeface="Segoe UI"/>
              </a:rPr>
              <a:t>Part 2 reads sinks 3 and 4 back out of Kafka rather than taking the streams in-process, so it consumes exactly what any other consumer would — which is why Flink draws two graphs and not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WHAT IT LOOKED LIKE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The same pipeline at two units, then four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801368"/>
            <a:ext cx="5266944" cy="310896"/>
          </a:xfrm>
          <a:prstGeom prst="rect">
            <a:avLst/>
          </a:prstGeom>
          <a:noFill/>
        </p:spPr>
        <p:txBody>
          <a:bodyPr wrap="square">
            <a:spAutoFit/>
          </a:bodyPr>
          <a:lstStyle/>
          <a:p>
            <a:pPr algn="l"/>
            <a:r>
              <a:rPr sz="1500" b="1" i="0">
                <a:solidFill>
                  <a:srgbClr val="14222E"/>
                </a:solidFill>
                <a:latin typeface="Segoe UI"/>
              </a:rPr>
              <a:t>2 units   </a:t>
            </a:r>
            <a:r>
              <a:rPr sz="1500" b="1" i="0">
                <a:solidFill>
                  <a:srgbClr val="1B6B8A"/>
                </a:solidFill>
                <a:latin typeface="Segoe UI"/>
              </a:rPr>
              <a:t>73,397 orders/sec</a:t>
            </a:r>
          </a:p>
        </p:txBody>
      </p:sp>
      <p:pic>
        <p:nvPicPr>
          <p:cNvPr id="6" name="Picture 5" descr="grafana-2units.png"/>
          <p:cNvPicPr>
            <a:picLocks noChangeAspect="1"/>
          </p:cNvPicPr>
          <p:nvPr/>
        </p:nvPicPr>
        <p:blipFill>
          <a:blip r:embed="rId2"/>
          <a:stretch>
            <a:fillRect/>
          </a:stretch>
        </p:blipFill>
        <p:spPr>
          <a:xfrm>
            <a:off x="566928" y="2167128"/>
            <a:ext cx="5266944" cy="2062886"/>
          </a:xfrm>
          <a:prstGeom prst="rect">
            <a:avLst/>
          </a:prstGeom>
        </p:spPr>
      </p:pic>
      <p:sp>
        <p:nvSpPr>
          <p:cNvPr id="7" name="Rectangle 6"/>
          <p:cNvSpPr/>
          <p:nvPr/>
        </p:nvSpPr>
        <p:spPr>
          <a:xfrm>
            <a:off x="566928" y="2167128"/>
            <a:ext cx="5266944" cy="2062886"/>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801368"/>
            <a:ext cx="5266944" cy="310896"/>
          </a:xfrm>
          <a:prstGeom prst="rect">
            <a:avLst/>
          </a:prstGeom>
          <a:noFill/>
        </p:spPr>
        <p:txBody>
          <a:bodyPr wrap="square">
            <a:spAutoFit/>
          </a:bodyPr>
          <a:lstStyle/>
          <a:p>
            <a:pPr algn="l"/>
            <a:r>
              <a:rPr sz="1500" b="1" i="0">
                <a:solidFill>
                  <a:srgbClr val="14222E"/>
                </a:solidFill>
                <a:latin typeface="Segoe UI"/>
              </a:rPr>
              <a:t>4 units   </a:t>
            </a:r>
            <a:r>
              <a:rPr sz="1500" b="1" i="0">
                <a:solidFill>
                  <a:srgbClr val="1B6B8A"/>
                </a:solidFill>
                <a:latin typeface="Segoe UI"/>
              </a:rPr>
              <a:t>146,063 orders/sec</a:t>
            </a:r>
          </a:p>
        </p:txBody>
      </p:sp>
      <p:pic>
        <p:nvPicPr>
          <p:cNvPr id="9" name="Picture 8" descr="grafana-4units.png"/>
          <p:cNvPicPr>
            <a:picLocks noChangeAspect="1"/>
          </p:cNvPicPr>
          <p:nvPr/>
        </p:nvPicPr>
        <p:blipFill>
          <a:blip r:embed="rId3"/>
          <a:stretch>
            <a:fillRect/>
          </a:stretch>
        </p:blipFill>
        <p:spPr>
          <a:xfrm>
            <a:off x="6355080" y="2167128"/>
            <a:ext cx="5266944" cy="2062886"/>
          </a:xfrm>
          <a:prstGeom prst="rect">
            <a:avLst/>
          </a:prstGeom>
        </p:spPr>
      </p:pic>
      <p:sp>
        <p:nvSpPr>
          <p:cNvPr id="10" name="Rectangle 9"/>
          <p:cNvSpPr/>
          <p:nvPr/>
        </p:nvSpPr>
        <p:spPr>
          <a:xfrm>
            <a:off x="6355080" y="2167128"/>
            <a:ext cx="5266944" cy="2062886"/>
          </a:xfrm>
          <a:prstGeom prst="rect">
            <a:avLst/>
          </a:prstGeom>
          <a:no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4433764"/>
            <a:ext cx="11064240" cy="1280160"/>
          </a:xfrm>
          <a:prstGeom prst="rect">
            <a:avLst/>
          </a:prstGeom>
          <a:noFill/>
        </p:spPr>
        <p:txBody>
          <a:bodyPr wrap="square">
            <a:spAutoFit/>
          </a:bodyPr>
          <a:lstStyle/>
          <a:p>
            <a:pPr algn="l"/>
            <a:r>
              <a:rPr sz="1600" b="1" i="0">
                <a:solidFill>
                  <a:srgbClr val="14222E"/>
                </a:solidFill>
                <a:latin typeface="Segoe UI"/>
              </a:rPr>
              <a:t>Same panels, same axes, twice the units.  </a:t>
            </a:r>
            <a:r>
              <a:rPr sz="1600" b="0" i="0">
                <a:solidFill>
                  <a:srgbClr val="2E3D4A"/>
                </a:solidFill>
                <a:latin typeface="Segoe UI"/>
              </a:rPr>
              <a:t>Orders in and positions-by-account both roughly double; the account side runs at four times the order rate throughout, because every trade splits across four accounts.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Double the units, double the throughput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13385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73 397</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1.99 of 2</a:t>
                      </a:r>
                    </a:p>
                  </a:txBody>
                  <a:tcPr marL="109728" marR="109728" anchor="ctr">
                    <a:solidFill>
                      <a:srgbClr val="FFFFFF"/>
                    </a:solidFill>
                  </a:tcPr>
                </a:tc>
                <a:tc>
                  <a:txBody>
                    <a:bodyPr wrap="square"/>
                    <a:lstStyle/>
                    <a:p>
                      <a:pPr algn="r"/>
                      <a:r>
                        <a:rPr sz="1400" b="0" i="0">
                          <a:solidFill>
                            <a:srgbClr val="2E3D4A"/>
                          </a:solidFill>
                          <a:latin typeface="Consolas"/>
                        </a:rPr>
                        <a:t>0.39</a:t>
                      </a:r>
                    </a:p>
                  </a:txBody>
                  <a:tcPr marL="109728" marR="109728" anchor="ctr">
                    <a:solidFill>
                      <a:srgbClr val="FFFFFF"/>
                    </a:solidFill>
                  </a:tcPr>
                </a:tc>
                <a:tc>
                  <a:txBody>
                    <a:bodyPr wrap="square"/>
                    <a:lstStyle/>
                    <a:p>
                      <a:pPr algn="r"/>
                      <a:r>
                        <a:rPr sz="1400" b="0" i="0">
                          <a:solidFill>
                            <a:srgbClr val="2E3D4A"/>
                          </a:solidFill>
                          <a:latin typeface="Consolas"/>
                        </a:rPr>
                        <a:t>26.5%</a:t>
                      </a:r>
                    </a:p>
                  </a:txBody>
                  <a:tcPr marL="109728" marR="109728" anchor="ctr">
                    <a:solidFill>
                      <a:srgbClr val="FFFFFF"/>
                    </a:solidFill>
                  </a:tcPr>
                </a:tc>
              </a:tr>
              <a:tr h="365760">
                <a:tc>
                  <a:txBody>
                    <a:bodyPr wrap="square"/>
                    <a:lstStyle/>
                    <a:p>
                      <a:pPr algn="l"/>
                      <a:r>
                        <a:rPr sz="1400" b="1" i="0">
                          <a:solidFill>
                            <a:srgbClr val="14222E"/>
                          </a:solidFill>
                          <a:latin typeface="Segoe UI"/>
                        </a:rPr>
                        <a:t>4</a:t>
                      </a:r>
                    </a:p>
                  </a:txBody>
                  <a:tcPr marL="109728" marR="109728" anchor="ctr">
                    <a:solidFill>
                      <a:srgbClr val="F2F5F7"/>
                    </a:solidFill>
                  </a:tcPr>
                </a:tc>
                <a:tc>
                  <a:txBody>
                    <a:bodyPr wrap="square"/>
                    <a:lstStyle/>
                    <a:p>
                      <a:pPr algn="r"/>
                      <a:r>
                        <a:rPr sz="1400" b="1" i="0">
                          <a:solidFill>
                            <a:srgbClr val="14222E"/>
                          </a:solidFill>
                          <a:latin typeface="Consolas"/>
                        </a:rPr>
                        <a:t>146 063</a:t>
                      </a:r>
                    </a:p>
                  </a:txBody>
                  <a:tcPr marL="109728" marR="109728" anchor="ctr">
                    <a:solidFill>
                      <a:srgbClr val="F2F5F7"/>
                    </a:solidFill>
                  </a:tcPr>
                </a:tc>
                <a:tc>
                  <a:txBody>
                    <a:bodyPr wrap="square"/>
                    <a:lstStyle/>
                    <a:p>
                      <a:pPr algn="r"/>
                      <a:r>
                        <a:rPr sz="1400" b="1" i="0">
                          <a:solidFill>
                            <a:srgbClr val="14222E"/>
                          </a:solidFill>
                          <a:latin typeface="Consolas"/>
                        </a:rPr>
                        <a:t>1.99×</a:t>
                      </a:r>
                    </a:p>
                  </a:txBody>
                  <a:tcPr marL="109728" marR="109728" anchor="ctr">
                    <a:solidFill>
                      <a:srgbClr val="F2F5F7"/>
                    </a:solidFill>
                  </a:tcPr>
                </a:tc>
                <a:tc>
                  <a:txBody>
                    <a:bodyPr wrap="square"/>
                    <a:lstStyle/>
                    <a:p>
                      <a:pPr algn="r"/>
                      <a:r>
                        <a:rPr sz="1400" b="1" i="0">
                          <a:solidFill>
                            <a:srgbClr val="14222E"/>
                          </a:solidFill>
                          <a:latin typeface="Consolas"/>
                        </a:rPr>
                        <a:t>3.89 of 4</a:t>
                      </a:r>
                    </a:p>
                  </a:txBody>
                  <a:tcPr marL="109728" marR="109728" anchor="ctr">
                    <a:solidFill>
                      <a:srgbClr val="F2F5F7"/>
                    </a:solidFill>
                  </a:tcPr>
                </a:tc>
                <a:tc>
                  <a:txBody>
                    <a:bodyPr wrap="square"/>
                    <a:lstStyle/>
                    <a:p>
                      <a:pPr algn="r"/>
                      <a:r>
                        <a:rPr sz="1400" b="1" i="0">
                          <a:solidFill>
                            <a:srgbClr val="14222E"/>
                          </a:solidFill>
                          <a:latin typeface="Consolas"/>
                        </a:rPr>
                        <a:t>0.78</a:t>
                      </a:r>
                    </a:p>
                  </a:txBody>
                  <a:tcPr marL="109728" marR="109728" anchor="ctr">
                    <a:solidFill>
                      <a:srgbClr val="F2F5F7"/>
                    </a:solidFill>
                  </a:tcPr>
                </a:tc>
                <a:tc>
                  <a:txBody>
                    <a:bodyPr wrap="square"/>
                    <a:lstStyle/>
                    <a:p>
                      <a:pPr algn="r"/>
                      <a:r>
                        <a:rPr sz="1400" b="1" i="0">
                          <a:solidFill>
                            <a:srgbClr val="14222E"/>
                          </a:solidFill>
                          <a:latin typeface="Consolas"/>
                        </a:rPr>
                        <a:t>47.3%</a:t>
                      </a:r>
                    </a:p>
                  </a:txBody>
                  <a:tcPr marL="109728" marR="109728" anchor="ctr">
                    <a:solidFill>
                      <a:srgbClr val="F2F5F7"/>
                    </a:solidFill>
                  </a:tcPr>
                </a:tc>
              </a:tr>
            </a:tbl>
          </a:graphicData>
        </a:graphic>
      </p:graphicFrame>
      <p:sp>
        <p:nvSpPr>
          <p:cNvPr id="6" name="TextBox 5"/>
          <p:cNvSpPr txBox="1"/>
          <p:nvPr/>
        </p:nvSpPr>
        <p:spPr>
          <a:xfrm>
            <a:off x="685800" y="3438144"/>
            <a:ext cx="10881360" cy="822960"/>
          </a:xfrm>
          <a:prstGeom prst="rect">
            <a:avLst/>
          </a:prstGeom>
          <a:noFill/>
        </p:spPr>
        <p:txBody>
          <a:bodyPr wrap="square">
            <a:spAutoFit/>
          </a:bodyPr>
          <a:lstStyle/>
          <a:p>
            <a:pPr algn="l"/>
            <a:r>
              <a:rPr sz="1600" b="0" i="0">
                <a:solidFill>
                  <a:srgbClr val="14222E"/>
                </a:solidFill>
                <a:latin typeface="Segoe UI"/>
              </a:rPr>
              <a:t>A unit is one core and one degree of parallelism, bought together — a KPU.  Flink used every core it was given; the broker stayed under half a core.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Two units, then four — against a perfect 2x</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1560" y="5138928"/>
            <a:ext cx="5394960" cy="15875"/>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8872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42646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6420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0195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3969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37744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1518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5292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9067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2841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6616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390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4164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1713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5488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9262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30368"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68112"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705856"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3600"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1344" y="2233478"/>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74920" y="1940870"/>
            <a:ext cx="2194560" cy="274320"/>
          </a:xfrm>
          <a:prstGeom prst="rect">
            <a:avLst/>
          </a:prstGeom>
          <a:noFill/>
        </p:spPr>
        <p:txBody>
          <a:bodyPr wrap="square">
            <a:spAutoFit/>
          </a:bodyPr>
          <a:lstStyle/>
          <a:p>
            <a:pPr algn="l"/>
            <a:r>
              <a:rPr sz="1150" b="1" i="0">
                <a:solidFill>
                  <a:srgbClr val="A84B2A"/>
                </a:solidFill>
                <a:latin typeface="Segoe UI"/>
              </a:rPr>
              <a:t>perfect 2x  =  146,794</a:t>
            </a:r>
          </a:p>
        </p:txBody>
      </p:sp>
      <p:sp>
        <p:nvSpPr>
          <p:cNvPr id="29" name="Rounded Rectangle 28"/>
          <p:cNvSpPr/>
          <p:nvPr/>
        </p:nvSpPr>
        <p:spPr>
          <a:xfrm>
            <a:off x="1600200" y="3686203"/>
            <a:ext cx="1508760" cy="1452725"/>
          </a:xfrm>
          <a:prstGeom prst="roundRect">
            <a:avLst/>
          </a:prstGeom>
          <a:solidFill>
            <a:srgbClr val="9FC2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80160" y="3265579"/>
            <a:ext cx="2148840" cy="365760"/>
          </a:xfrm>
          <a:prstGeom prst="rect">
            <a:avLst/>
          </a:prstGeom>
          <a:noFill/>
        </p:spPr>
        <p:txBody>
          <a:bodyPr wrap="square">
            <a:spAutoFit/>
          </a:bodyPr>
          <a:lstStyle/>
          <a:p>
            <a:pPr algn="ctr"/>
            <a:r>
              <a:rPr sz="1900" b="1" i="0">
                <a:solidFill>
                  <a:srgbClr val="14222E"/>
                </a:solidFill>
                <a:latin typeface="Segoe UI"/>
              </a:rPr>
              <a:t>73,397</a:t>
            </a:r>
          </a:p>
        </p:txBody>
      </p:sp>
      <p:sp>
        <p:nvSpPr>
          <p:cNvPr id="31" name="TextBox 30"/>
          <p:cNvSpPr txBox="1"/>
          <p:nvPr/>
        </p:nvSpPr>
        <p:spPr>
          <a:xfrm>
            <a:off x="1280160" y="5230368"/>
            <a:ext cx="2148840" cy="603504"/>
          </a:xfrm>
          <a:prstGeom prst="rect">
            <a:avLst/>
          </a:prstGeom>
          <a:noFill/>
        </p:spPr>
        <p:txBody>
          <a:bodyPr wrap="square">
            <a:spAutoFit/>
          </a:bodyPr>
          <a:lstStyle/>
          <a:p>
            <a:pPr algn="ctr"/>
            <a:r>
              <a:rPr sz="1500" b="1" i="0">
                <a:solidFill>
                  <a:srgbClr val="14222E"/>
                </a:solidFill>
                <a:latin typeface="Segoe UI"/>
              </a:rPr>
              <a:t>2 units</a:t>
            </a:r>
          </a:p>
          <a:p>
            <a:pPr algn="ctr"/>
            <a:r>
              <a:rPr sz="1150" b="0" i="0">
                <a:solidFill>
                  <a:srgbClr val="6B7A87"/>
                </a:solidFill>
                <a:latin typeface="Segoe UI"/>
              </a:rPr>
              <a:t>1.99 of 2 cores used</a:t>
            </a:r>
          </a:p>
        </p:txBody>
      </p:sp>
      <p:sp>
        <p:nvSpPr>
          <p:cNvPr id="32" name="Rounded Rectangle 31"/>
          <p:cNvSpPr/>
          <p:nvPr/>
        </p:nvSpPr>
        <p:spPr>
          <a:xfrm>
            <a:off x="3977639" y="2247946"/>
            <a:ext cx="1508760" cy="2890982"/>
          </a:xfrm>
          <a:prstGeom prst="roundRect">
            <a:avLst/>
          </a:prstGeom>
          <a:solidFill>
            <a:srgbClr val="1B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599" y="1827322"/>
            <a:ext cx="2148840" cy="365760"/>
          </a:xfrm>
          <a:prstGeom prst="rect">
            <a:avLst/>
          </a:prstGeom>
          <a:noFill/>
        </p:spPr>
        <p:txBody>
          <a:bodyPr wrap="square">
            <a:spAutoFit/>
          </a:bodyPr>
          <a:lstStyle/>
          <a:p>
            <a:pPr algn="ctr"/>
            <a:r>
              <a:rPr sz="1900" b="1" i="0">
                <a:solidFill>
                  <a:srgbClr val="14222E"/>
                </a:solidFill>
                <a:latin typeface="Segoe UI"/>
              </a:rPr>
              <a:t>146,063</a:t>
            </a:r>
          </a:p>
        </p:txBody>
      </p:sp>
      <p:sp>
        <p:nvSpPr>
          <p:cNvPr id="34" name="TextBox 33"/>
          <p:cNvSpPr txBox="1"/>
          <p:nvPr/>
        </p:nvSpPr>
        <p:spPr>
          <a:xfrm>
            <a:off x="3657599" y="5230368"/>
            <a:ext cx="2148840" cy="603504"/>
          </a:xfrm>
          <a:prstGeom prst="rect">
            <a:avLst/>
          </a:prstGeom>
          <a:noFill/>
        </p:spPr>
        <p:txBody>
          <a:bodyPr wrap="square">
            <a:spAutoFit/>
          </a:bodyPr>
          <a:lstStyle/>
          <a:p>
            <a:pPr algn="ctr"/>
            <a:r>
              <a:rPr sz="1500" b="1" i="0">
                <a:solidFill>
                  <a:srgbClr val="14222E"/>
                </a:solidFill>
                <a:latin typeface="Segoe UI"/>
              </a:rPr>
              <a:t>4 units</a:t>
            </a:r>
          </a:p>
          <a:p>
            <a:pPr algn="ctr"/>
            <a:r>
              <a:rPr sz="1150" b="0" i="0">
                <a:solidFill>
                  <a:srgbClr val="6B7A87"/>
                </a:solidFill>
                <a:latin typeface="Segoe UI"/>
              </a:rPr>
              <a:t>3.89 of 4 cores used</a:t>
            </a:r>
          </a:p>
        </p:txBody>
      </p:sp>
      <p:sp>
        <p:nvSpPr>
          <p:cNvPr id="35" name="TextBox 34"/>
          <p:cNvSpPr txBox="1"/>
          <p:nvPr/>
        </p:nvSpPr>
        <p:spPr>
          <a:xfrm>
            <a:off x="2834640" y="3357585"/>
            <a:ext cx="1371600" cy="731520"/>
          </a:xfrm>
          <a:prstGeom prst="rect">
            <a:avLst/>
          </a:prstGeom>
          <a:noFill/>
        </p:spPr>
        <p:txBody>
          <a:bodyPr wrap="square">
            <a:spAutoFit/>
          </a:bodyPr>
          <a:lstStyle/>
          <a:p>
            <a:pPr algn="ctr"/>
            <a:r>
              <a:rPr sz="3000" b="1" i="0">
                <a:solidFill>
                  <a:srgbClr val="1B6B8A"/>
                </a:solidFill>
                <a:latin typeface="Segoe UI"/>
              </a:rPr>
              <a:t>1.99x</a:t>
            </a:r>
          </a:p>
          <a:p>
            <a:pPr algn="ctr"/>
            <a:r>
              <a:rPr sz="1100" b="0" i="0">
                <a:solidFill>
                  <a:srgbClr val="6B7A87"/>
                </a:solidFill>
                <a:latin typeface="Segoe UI"/>
              </a:rPr>
              <a:t>orders / sec</a:t>
            </a:r>
          </a:p>
        </p:txBody>
      </p:sp>
      <p:sp>
        <p:nvSpPr>
          <p:cNvPr id="36" name="TextBox 35"/>
          <p:cNvSpPr txBox="1"/>
          <p:nvPr/>
        </p:nvSpPr>
        <p:spPr>
          <a:xfrm>
            <a:off x="7086600" y="2020824"/>
            <a:ext cx="4480560" cy="3657600"/>
          </a:xfrm>
          <a:prstGeom prst="rect">
            <a:avLst/>
          </a:prstGeom>
          <a:noFill/>
        </p:spPr>
        <p:txBody>
          <a:bodyPr wrap="square">
            <a:spAutoFit/>
          </a:bodyPr>
          <a:lstStyle/>
          <a:p>
            <a:pPr algn="l">
              <a:spcAft>
                <a:spcPts val="1500"/>
              </a:spcAft>
            </a:pPr>
            <a:r>
              <a:rPr sz="1500" b="1" i="0">
                <a:solidFill>
                  <a:srgbClr val="1B6B8A"/>
                </a:solidFill>
                <a:latin typeface="Segoe UI"/>
              </a:rPr>
              <a:t>▸   </a:t>
            </a:r>
            <a:r>
              <a:rPr sz="1500" b="1" i="0">
                <a:solidFill>
                  <a:srgbClr val="14222E"/>
                </a:solidFill>
                <a:latin typeface="Segoe UI"/>
              </a:rPr>
              <a:t>A unit is one core and one degree of parallelism, bought together. </a:t>
            </a:r>
            <a:r>
              <a:rPr sz="1500" b="0" i="0">
                <a:solidFill>
                  <a:srgbClr val="2E3D4A"/>
                </a:solidFill>
                <a:latin typeface="Segoe UI"/>
              </a:rPr>
              <a:t>That is what a KPU is in Managed Service for Apache Flink.</a:t>
            </a:r>
          </a:p>
          <a:p>
            <a:pPr>
              <a:spcAft>
                <a:spcPts val="1500"/>
              </a:spcAft>
            </a:pPr>
            <a:r>
              <a:rPr sz="1500" b="1" i="0">
                <a:solidFill>
                  <a:srgbClr val="1B6B8A"/>
                </a:solidFill>
                <a:latin typeface="Segoe UI"/>
              </a:rPr>
              <a:t>▸   </a:t>
            </a:r>
            <a:r>
              <a:rPr sz="1500" b="1" i="0">
                <a:solidFill>
                  <a:srgbClr val="14222E"/>
                </a:solidFill>
                <a:latin typeface="Segoe UI"/>
              </a:rPr>
              <a:t>Flink used every core it was given — </a:t>
            </a:r>
            <a:r>
              <a:rPr sz="1500" b="0" i="0">
                <a:solidFill>
                  <a:srgbClr val="2E3D4A"/>
                </a:solidFill>
                <a:latin typeface="Segoe UI"/>
              </a:rPr>
              <a:t>1.99 of 2, then 3.89 of 4. A unit bought is a unit worked.</a:t>
            </a:r>
          </a:p>
          <a:p>
            <a:pPr>
              <a:spcAft>
                <a:spcPts val="1500"/>
              </a:spcAft>
            </a:pPr>
            <a:r>
              <a:rPr sz="1500" b="1" i="0">
                <a:solidFill>
                  <a:srgbClr val="1B6B8A"/>
                </a:solidFill>
                <a:latin typeface="Segoe UI"/>
              </a:rPr>
              <a:t>▸   </a:t>
            </a:r>
            <a:r>
              <a:rPr sz="1500" b="1" i="0">
                <a:solidFill>
                  <a:srgbClr val="14222E"/>
                </a:solidFill>
                <a:latin typeface="Segoe UI"/>
              </a:rPr>
              <a:t>The broker stayed under half a core. </a:t>
            </a:r>
            <a:r>
              <a:rPr sz="1500" b="0" i="0">
                <a:solidFill>
                  <a:srgbClr val="2E3D4A"/>
                </a:solidFill>
                <a:latin typeface="Segoe UI"/>
              </a:rPr>
              <a:t>Flink was the constrained component, and you can only show that something scales when it is the thing that is constrained.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EXPLAIN IT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Every number on the screen has an answer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Why does sink 4 update four times as often as sink 3?  </a:t>
            </a:r>
            <a:r>
              <a:rPr sz="1700" b="0" i="0">
                <a:solidFill>
                  <a:srgbClr val="2E3D4A"/>
                </a:solidFill>
                <a:latin typeface="Segoe UI"/>
              </a:rPr>
              <a:t>Every block trade splits across four accounts. The quantities reconcile; the counts differ by design.</a:t>
            </a:r>
          </a:p>
          <a:p>
            <a:pPr>
              <a:spcAft>
                <a:spcPts val="1400"/>
              </a:spcAft>
            </a:pPr>
            <a:r>
              <a:rPr sz="1700" b="1" i="0">
                <a:solidFill>
                  <a:srgbClr val="1B6B8A"/>
                </a:solidFill>
                <a:latin typeface="Segoe UI"/>
              </a:rPr>
              <a:t>▸   </a:t>
            </a:r>
            <a:r>
              <a:rPr sz="1700" b="1" i="0">
                <a:solidFill>
                  <a:srgbClr val="14222E"/>
                </a:solidFill>
                <a:latin typeface="Segoe UI"/>
              </a:rPr>
              <a:t>Why do the market value sinks look like steps?  </a:t>
            </a:r>
            <a:r>
              <a:rPr sz="1700" b="0" i="0">
                <a:solidFill>
                  <a:srgbClr val="2E3D4A"/>
                </a:solidFill>
                <a:latin typeface="Segoe UI"/>
              </a:rPr>
              <a:t>They emit once per key per window, not continuously.</a:t>
            </a:r>
          </a:p>
          <a:p>
            <a:pPr>
              <a:spcAft>
                <a:spcPts val="1400"/>
              </a:spcAft>
            </a:pPr>
            <a:r>
              <a:rPr sz="1700" b="1" i="0">
                <a:solidFill>
                  <a:srgbClr val="1B6B8A"/>
                </a:solidFill>
                <a:latin typeface="Segoe UI"/>
              </a:rPr>
              <a:t>▸   </a:t>
            </a:r>
            <a:r>
              <a:rPr sz="1700" b="1" i="0">
                <a:solidFill>
                  <a:srgbClr val="14222E"/>
                </a:solidFill>
                <a:latin typeface="Segoe UI"/>
              </a:rPr>
              <a:t>Why is there one aborted checkpoint?  </a:t>
            </a:r>
            <a:r>
              <a:rPr sz="1700" b="0" i="0">
                <a:solidFill>
                  <a:srgbClr val="2E3D4A"/>
                </a:solidFill>
                <a:latin typeface="Segoe UI"/>
              </a:rPr>
              <a:t>At startup the first checkpoint triggers before every task is running. Harmless, and the panel says so.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LOAD</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Both required cases pass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9509760" cy="1499616"/>
        </p:xfrm>
        <a:graphic>
          <a:graphicData uri="http://schemas.openxmlformats.org/drawingml/2006/table">
            <a:tbl>
              <a:tblPr bandRow="1">
                <a:tableStyleId>{5C22544A-7EE6-4342-B048-85BDC9FD1C3A}</a:tableStyleId>
              </a:tblPr>
              <a:tblGrid>
                <a:gridCol w="1371600"/>
                <a:gridCol w="2011680"/>
                <a:gridCol w="1371600"/>
                <a:gridCol w="1828800"/>
                <a:gridCol w="1554480"/>
                <a:gridCol w="1371600"/>
              </a:tblGrid>
              <a:tr h="402336">
                <a:tc>
                  <a:txBody>
                    <a:bodyPr wrap="square"/>
                    <a:lstStyle/>
                    <a:p>
                      <a:pPr algn="l"/>
                      <a:r>
                        <a:rPr sz="1350" b="1" i="0">
                          <a:solidFill>
                            <a:srgbClr val="FFFFFF"/>
                          </a:solidFill>
                          <a:latin typeface="Segoe UI"/>
                        </a:rPr>
                        <a:t/>
                      </a:r>
                    </a:p>
                  </a:txBody>
                  <a:tcPr marL="109728" marR="109728" anchor="ctr">
                    <a:solidFill>
                      <a:srgbClr val="14222E"/>
                    </a:solidFill>
                  </a:tcPr>
                </a:tc>
                <a:tc>
                  <a:txBody>
                    <a:bodyPr wrap="square"/>
                    <a:lstStyle/>
                    <a:p>
                      <a:pPr algn="r"/>
                      <a:r>
                        <a:rPr sz="1350" b="1" i="0">
                          <a:solidFill>
                            <a:srgbClr val="FFFFFF"/>
                          </a:solidFill>
                          <a:latin typeface="Segoe UI"/>
                        </a:rPr>
                        <a:t>orders/s asked</a:t>
                      </a:r>
                    </a:p>
                  </a:txBody>
                  <a:tcPr marL="109728" marR="109728" anchor="ctr">
                    <a:solidFill>
                      <a:srgbClr val="14222E"/>
                    </a:solidFill>
                  </a:tcPr>
                </a:tc>
                <a:tc>
                  <a:txBody>
                    <a:bodyPr wrap="square"/>
                    <a:lstStyle/>
                    <a:p>
                      <a:pPr algn="r"/>
                      <a:r>
                        <a:rPr sz="1350" b="1" i="0">
                          <a:solidFill>
                            <a:srgbClr val="FFFFFF"/>
                          </a:solidFill>
                          <a:latin typeface="Segoe UI"/>
                        </a:rPr>
                        <a:t>prices/s</a:t>
                      </a:r>
                    </a:p>
                  </a:txBody>
                  <a:tcPr marL="109728" marR="109728" anchor="ctr">
                    <a:solidFill>
                      <a:srgbClr val="14222E"/>
                    </a:solidFill>
                  </a:tcPr>
                </a:tc>
                <a:tc>
                  <a:txBody>
                    <a:bodyPr wrap="square"/>
                    <a:lstStyle/>
                    <a:p>
                      <a:pPr algn="r"/>
                      <a:r>
                        <a:rPr sz="1350" b="1" i="0">
                          <a:solidFill>
                            <a:srgbClr val="FFFFFF"/>
                          </a:solidFill>
                          <a:latin typeface="Segoe UI"/>
                        </a:rPr>
                        <a:t>orders through</a:t>
                      </a:r>
                    </a:p>
                  </a:txBody>
                  <a:tcPr marL="109728" marR="109728" anchor="ctr">
                    <a:solidFill>
                      <a:srgbClr val="14222E"/>
                    </a:solidFill>
                  </a:tcPr>
                </a:tc>
                <a:tc>
                  <a:txBody>
                    <a:bodyPr wrap="square"/>
                    <a:lstStyle/>
                    <a:p>
                      <a:pPr algn="r"/>
                      <a:r>
                        <a:rPr sz="1350" b="1" i="0">
                          <a:solidFill>
                            <a:srgbClr val="FFFFFF"/>
                          </a:solidFill>
                          <a:latin typeface="Segoe UI"/>
                        </a:rPr>
                        <a:t>allocations</a:t>
                      </a:r>
                    </a:p>
                  </a:txBody>
                  <a:tcPr marL="109728" marR="109728" anchor="ctr">
                    <a:solidFill>
                      <a:srgbClr val="14222E"/>
                    </a:solidFill>
                  </a:tcPr>
                </a:tc>
                <a:tc>
                  <a:txBody>
                    <a:bodyPr wrap="square"/>
                    <a:lstStyle/>
                    <a:p>
                      <a:pPr algn="r"/>
                      <a:r>
                        <a:rPr sz="1350" b="1" i="0">
                          <a:solidFill>
                            <a:srgbClr val="FFFFFF"/>
                          </a:solidFill>
                          <a:latin typeface="Segoe UI"/>
                        </a:rPr>
                        <a:t>order p50</a:t>
                      </a:r>
                    </a:p>
                  </a:txBody>
                  <a:tcPr marL="109728" marR="109728" anchor="ctr">
                    <a:solidFill>
                      <a:srgbClr val="14222E"/>
                    </a:solidFill>
                  </a:tcPr>
                </a:tc>
              </a:tr>
              <a:tr h="365760">
                <a:tc>
                  <a:txBody>
                    <a:bodyPr wrap="square"/>
                    <a:lstStyle/>
                    <a:p>
                      <a:pPr algn="l"/>
                      <a:r>
                        <a:rPr sz="1350" b="0" i="0">
                          <a:solidFill>
                            <a:srgbClr val="2E3D4A"/>
                          </a:solidFill>
                          <a:latin typeface="Segoe UI"/>
                        </a:rPr>
                        <a:t>baseline</a:t>
                      </a:r>
                    </a:p>
                  </a:txBody>
                  <a:tcPr marL="109728" marR="109728" anchor="ctr">
                    <a:solidFill>
                      <a:srgbClr val="FFFFFF"/>
                    </a:solidFill>
                  </a:tcPr>
                </a:tc>
                <a:tc>
                  <a:txBody>
                    <a:bodyPr wrap="square"/>
                    <a:lstStyle/>
                    <a:p>
                      <a:pPr algn="r"/>
                      <a:r>
                        <a:rPr sz="1350" b="0" i="0">
                          <a:solidFill>
                            <a:srgbClr val="2E3D4A"/>
                          </a:solidFill>
                          <a:latin typeface="Consolas"/>
                        </a:rPr>
                        <a:t>10</a:t>
                      </a:r>
                    </a:p>
                  </a:txBody>
                  <a:tcPr marL="109728" marR="109728" anchor="ctr">
                    <a:solidFill>
                      <a:srgbClr val="FFFFFF"/>
                    </a:solidFill>
                  </a:tcPr>
                </a:tc>
                <a:tc>
                  <a:txBody>
                    <a:bodyPr wrap="square"/>
                    <a:lstStyle/>
                    <a:p>
                      <a:pPr algn="r"/>
                      <a:r>
                        <a:rPr sz="1350" b="0" i="0">
                          <a:solidFill>
                            <a:srgbClr val="2E3D4A"/>
                          </a:solidFill>
                          <a:latin typeface="Consolas"/>
                        </a:rPr>
                        <a:t>1 000</a:t>
                      </a:r>
                    </a:p>
                  </a:txBody>
                  <a:tcPr marL="109728" marR="109728" anchor="ctr">
                    <a:solidFill>
                      <a:srgbClr val="FFFFFF"/>
                    </a:solidFill>
                  </a:tcPr>
                </a:tc>
                <a:tc>
                  <a:txBody>
                    <a:bodyPr wrap="square"/>
                    <a:lstStyle/>
                    <a:p>
                      <a:pPr algn="r"/>
                      <a:r>
                        <a:rPr sz="1350" b="0" i="0">
                          <a:solidFill>
                            <a:srgbClr val="2E3D4A"/>
                          </a:solidFill>
                          <a:latin typeface="Consolas"/>
                        </a:rPr>
                        <a:t>8/s</a:t>
                      </a:r>
                    </a:p>
                  </a:txBody>
                  <a:tcPr marL="109728" marR="109728" anchor="ctr">
                    <a:solidFill>
                      <a:srgbClr val="FFFFFF"/>
                    </a:solidFill>
                  </a:tcPr>
                </a:tc>
                <a:tc>
                  <a:txBody>
                    <a:bodyPr wrap="square"/>
                    <a:lstStyle/>
                    <a:p>
                      <a:pPr algn="r"/>
                      <a:r>
                        <a:rPr sz="1350" b="0" i="0">
                          <a:solidFill>
                            <a:srgbClr val="2E3D4A"/>
                          </a:solidFill>
                          <a:latin typeface="Consolas"/>
                        </a:rPr>
                        <a:t>33/s</a:t>
                      </a:r>
                    </a:p>
                  </a:txBody>
                  <a:tcPr marL="109728" marR="109728" anchor="ctr">
                    <a:solidFill>
                      <a:srgbClr val="FFFFFF"/>
                    </a:solidFill>
                  </a:tcPr>
                </a:tc>
                <a:tc>
                  <a:txBody>
                    <a:bodyPr wrap="square"/>
                    <a:lstStyle/>
                    <a:p>
                      <a:pPr algn="r"/>
                      <a:r>
                        <a:rPr sz="1350" b="0" i="0">
                          <a:solidFill>
                            <a:srgbClr val="2E3D4A"/>
                          </a:solidFill>
                          <a:latin typeface="Consolas"/>
                        </a:rPr>
                        <a:t>519 ms</a:t>
                      </a:r>
                    </a:p>
                  </a:txBody>
                  <a:tcPr marL="109728" marR="109728" anchor="ctr">
                    <a:solidFill>
                      <a:srgbClr val="FFFFFF"/>
                    </a:solidFill>
                  </a:tcPr>
                </a:tc>
              </a:tr>
              <a:tr h="365760">
                <a:tc>
                  <a:txBody>
                    <a:bodyPr wrap="square"/>
                    <a:lstStyle/>
                    <a:p>
                      <a:pPr algn="l"/>
                      <a:r>
                        <a:rPr sz="1350" b="1" i="0">
                          <a:solidFill>
                            <a:srgbClr val="14222E"/>
                          </a:solidFill>
                          <a:latin typeface="Segoe UI"/>
                        </a:rPr>
                        <a:t>case 1</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816/s</a:t>
                      </a:r>
                    </a:p>
                  </a:txBody>
                  <a:tcPr marL="109728" marR="109728" anchor="ctr">
                    <a:solidFill>
                      <a:srgbClr val="F2F5F7"/>
                    </a:solidFill>
                  </a:tcPr>
                </a:tc>
                <a:tc>
                  <a:txBody>
                    <a:bodyPr wrap="square"/>
                    <a:lstStyle/>
                    <a:p>
                      <a:pPr algn="r"/>
                      <a:r>
                        <a:rPr sz="1350" b="1" i="0">
                          <a:solidFill>
                            <a:srgbClr val="14222E"/>
                          </a:solidFill>
                          <a:latin typeface="Consolas"/>
                        </a:rPr>
                        <a:t>3 269/s</a:t>
                      </a:r>
                    </a:p>
                  </a:txBody>
                  <a:tcPr marL="109728" marR="109728" anchor="ctr">
                    <a:solidFill>
                      <a:srgbClr val="F2F5F7"/>
                    </a:solidFill>
                  </a:tcPr>
                </a:tc>
                <a:tc>
                  <a:txBody>
                    <a:bodyPr wrap="square"/>
                    <a:lstStyle/>
                    <a:p>
                      <a:pPr algn="r"/>
                      <a:r>
                        <a:rPr sz="1350" b="1" i="0">
                          <a:solidFill>
                            <a:srgbClr val="14222E"/>
                          </a:solidFill>
                          <a:latin typeface="Consolas"/>
                        </a:rPr>
                        <a:t>522 ms</a:t>
                      </a:r>
                    </a:p>
                  </a:txBody>
                  <a:tcPr marL="109728" marR="109728" anchor="ctr">
                    <a:solidFill>
                      <a:srgbClr val="F2F5F7"/>
                    </a:solidFill>
                  </a:tcPr>
                </a:tc>
              </a:tr>
              <a:tr h="365760">
                <a:tc>
                  <a:txBody>
                    <a:bodyPr wrap="square"/>
                    <a:lstStyle/>
                    <a:p>
                      <a:pPr algn="l"/>
                      <a:r>
                        <a:rPr sz="1350" b="1" i="0">
                          <a:solidFill>
                            <a:srgbClr val="14222E"/>
                          </a:solidFill>
                          <a:latin typeface="Segoe UI"/>
                        </a:rPr>
                        <a:t>case 2</a:t>
                      </a:r>
                    </a:p>
                  </a:txBody>
                  <a:tcPr marL="109728" marR="109728" anchor="ctr">
                    <a:solidFill>
                      <a:srgbClr val="F2F5F7"/>
                    </a:solidFill>
                  </a:tcPr>
                </a:tc>
                <a:tc>
                  <a:txBody>
                    <a:bodyPr wrap="square"/>
                    <a:lstStyle/>
                    <a:p>
                      <a:pPr algn="r"/>
                      <a:r>
                        <a:rPr sz="1350" b="1" i="0">
                          <a:solidFill>
                            <a:srgbClr val="14222E"/>
                          </a:solidFill>
                          <a:latin typeface="Consolas"/>
                        </a:rPr>
                        <a:t>10</a:t>
                      </a:r>
                    </a:p>
                  </a:txBody>
                  <a:tcPr marL="109728" marR="109728" anchor="ctr">
                    <a:solidFill>
                      <a:srgbClr val="F2F5F7"/>
                    </a:solidFill>
                  </a:tcPr>
                </a:tc>
                <a:tc>
                  <a:txBody>
                    <a:bodyPr wrap="square"/>
                    <a:lstStyle/>
                    <a:p>
                      <a:pPr algn="r"/>
                      <a:r>
                        <a:rPr sz="1350" b="1" i="0">
                          <a:solidFill>
                            <a:srgbClr val="14222E"/>
                          </a:solidFill>
                          <a:latin typeface="Consolas"/>
                        </a:rPr>
                        <a:t>20 000</a:t>
                      </a:r>
                    </a:p>
                  </a:txBody>
                  <a:tcPr marL="109728" marR="109728" anchor="ctr">
                    <a:solidFill>
                      <a:srgbClr val="F2F5F7"/>
                    </a:solidFill>
                  </a:tcPr>
                </a:tc>
                <a:tc>
                  <a:txBody>
                    <a:bodyPr wrap="square"/>
                    <a:lstStyle/>
                    <a:p>
                      <a:pPr algn="r"/>
                      <a:r>
                        <a:rPr sz="1350" b="1" i="0">
                          <a:solidFill>
                            <a:srgbClr val="14222E"/>
                          </a:solidFill>
                          <a:latin typeface="Consolas"/>
                        </a:rPr>
                        <a:t>8/s</a:t>
                      </a:r>
                    </a:p>
                  </a:txBody>
                  <a:tcPr marL="109728" marR="109728" anchor="ctr">
                    <a:solidFill>
                      <a:srgbClr val="F2F5F7"/>
                    </a:solidFill>
                  </a:tcPr>
                </a:tc>
                <a:tc>
                  <a:txBody>
                    <a:bodyPr wrap="square"/>
                    <a:lstStyle/>
                    <a:p>
                      <a:pPr algn="r"/>
                      <a:r>
                        <a:rPr sz="1350" b="1" i="0">
                          <a:solidFill>
                            <a:srgbClr val="14222E"/>
                          </a:solidFill>
                          <a:latin typeface="Consolas"/>
                        </a:rPr>
                        <a:t>33/s</a:t>
                      </a:r>
                    </a:p>
                  </a:txBody>
                  <a:tcPr marL="109728" marR="109728" anchor="ctr">
                    <a:solidFill>
                      <a:srgbClr val="F2F5F7"/>
                    </a:solidFill>
                  </a:tcPr>
                </a:tc>
                <a:tc>
                  <a:txBody>
                    <a:bodyPr wrap="square"/>
                    <a:lstStyle/>
                    <a:p>
                      <a:pPr algn="r"/>
                      <a:r>
                        <a:rPr sz="1350" b="1" i="0">
                          <a:solidFill>
                            <a:srgbClr val="14222E"/>
                          </a:solidFill>
                          <a:latin typeface="Consolas"/>
                        </a:rPr>
                        <a:t>513 ms</a:t>
                      </a:r>
                    </a:p>
                  </a:txBody>
                  <a:tcPr marL="109728" marR="109728" anchor="ctr">
                    <a:solidFill>
                      <a:srgbClr val="F2F5F7"/>
                    </a:solidFill>
                  </a:tcPr>
                </a:tc>
              </a:tr>
            </a:tbl>
          </a:graphicData>
        </a:graphic>
      </p:graphicFrame>
      <p:sp>
        <p:nvSpPr>
          <p:cNvPr id="6" name="TextBox 5"/>
          <p:cNvSpPr txBox="1"/>
          <p:nvPr/>
        </p:nvSpPr>
        <p:spPr>
          <a:xfrm>
            <a:off x="685800" y="3712464"/>
            <a:ext cx="10881360" cy="822960"/>
          </a:xfrm>
          <a:prstGeom prst="rect">
            <a:avLst/>
          </a:prstGeom>
          <a:noFill/>
        </p:spPr>
        <p:txBody>
          <a:bodyPr wrap="square">
            <a:spAutoFit/>
          </a:bodyPr>
          <a:lstStyle/>
          <a:p>
            <a:pPr algn="l"/>
            <a:r>
              <a:rPr sz="1600" b="0" i="0">
                <a:solidFill>
                  <a:srgbClr val="14222E"/>
                </a:solidFill>
                <a:latin typeface="Segoe UI"/>
              </a:rPr>
              <a:t>A hundredfold on orders, twentyfold on prices — order latency unmoved in both.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