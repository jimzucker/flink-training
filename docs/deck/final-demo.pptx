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jobs because Part 2 consumes the published position topics rather than an in-process stream. Either part can be restarted or rescaled without the other, and Part 2 validates the topics that are themselves deliverables. Use this slide if the Flink UI is not reachable.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Rendered from the real measurement windows of the same run the next two slides quote -- 8 partitions, 5s checkpoint, 50M queued orders. If the live demo will not start, this slide and the Flink graph slide are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-- 146,063 against 146,794, which is 99.5%.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841248" y="1965960"/>
            <a:ext cx="10515600" cy="3933175"/>
          </a:xfrm>
          <a:prstGeom prst="rect">
            <a:avLst/>
          </a:prstGeom>
        </p:spPr>
      </p:pic>
      <p:sp>
        <p:nvSpPr>
          <p:cNvPr id="6" name="TextBox 5"/>
          <p:cNvSpPr txBox="1"/>
          <p:nvPr/>
        </p:nvSpPr>
        <p:spPr>
          <a:xfrm>
            <a:off x="841248" y="6008863"/>
            <a:ext cx="10515600" cy="3657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4</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RUNNING PIPELINE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Flink shows: two jobs, six operators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Part 1 — positions</a:t>
            </a:r>
          </a:p>
        </p:txBody>
      </p:sp>
      <p:pic>
        <p:nvPicPr>
          <p:cNvPr id="6" name="Picture 5" descr="flink-part1.png"/>
          <p:cNvPicPr>
            <a:picLocks noChangeAspect="1"/>
          </p:cNvPicPr>
          <p:nvPr/>
        </p:nvPicPr>
        <p:blipFill>
          <a:blip r:embed="rId2"/>
          <a:stretch>
            <a:fillRect/>
          </a:stretch>
        </p:blipFill>
        <p:spPr>
          <a:xfrm>
            <a:off x="566928" y="2167128"/>
            <a:ext cx="5266944" cy="3924389"/>
          </a:xfrm>
          <a:prstGeom prst="rect">
            <a:avLst/>
          </a:prstGeom>
        </p:spPr>
      </p:pic>
      <p:sp>
        <p:nvSpPr>
          <p:cNvPr id="7" name="Rectangle 6"/>
          <p:cNvSpPr/>
          <p:nvPr/>
        </p:nvSpPr>
        <p:spPr>
          <a:xfrm>
            <a:off x="566928" y="2167128"/>
            <a:ext cx="5266944" cy="3924389"/>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82957"/>
            <a:ext cx="5266944" cy="548640"/>
          </a:xfrm>
          <a:prstGeom prst="rect">
            <a:avLst/>
          </a:prstGeom>
          <a:noFill/>
        </p:spPr>
        <p:txBody>
          <a:bodyPr wrap="square">
            <a:spAutoFit/>
          </a:bodyPr>
          <a:lstStyle/>
          <a:p>
            <a:pPr algn="l"/>
            <a:r>
              <a:rPr sz="1200" b="0" i="0">
                <a:solidFill>
                  <a:srgbClr val="6B7A87"/>
                </a:solidFill>
                <a:latin typeface="Segoe UI"/>
              </a:rPr>
              <a:t>orders  →  split by allocation  →  two keyed aggregates, each with its own sink</a:t>
            </a:r>
          </a:p>
        </p:txBody>
      </p:sp>
      <p:sp>
        <p:nvSpPr>
          <p:cNvPr id="9" name="TextBox 8"/>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Part 2 — market value</a:t>
            </a:r>
          </a:p>
        </p:txBody>
      </p:sp>
      <p:pic>
        <p:nvPicPr>
          <p:cNvPr id="10" name="Picture 9" descr="flink-part2.png"/>
          <p:cNvPicPr>
            <a:picLocks noChangeAspect="1"/>
          </p:cNvPicPr>
          <p:nvPr/>
        </p:nvPicPr>
        <p:blipFill>
          <a:blip r:embed="rId3"/>
          <a:stretch>
            <a:fillRect/>
          </a:stretch>
        </p:blipFill>
        <p:spPr>
          <a:xfrm>
            <a:off x="6355080" y="2167128"/>
            <a:ext cx="5266944" cy="3604619"/>
          </a:xfrm>
          <a:prstGeom prst="rect">
            <a:avLst/>
          </a:prstGeom>
        </p:spPr>
      </p:pic>
      <p:sp>
        <p:nvSpPr>
          <p:cNvPr id="11" name="Rectangle 10"/>
          <p:cNvSpPr/>
          <p:nvPr/>
        </p:nvSpPr>
        <p:spPr>
          <a:xfrm>
            <a:off x="6355080" y="2167128"/>
            <a:ext cx="5266944" cy="3604619"/>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5863187"/>
            <a:ext cx="5266944" cy="548640"/>
          </a:xfrm>
          <a:prstGeom prst="rect">
            <a:avLst/>
          </a:prstGeom>
          <a:noFill/>
        </p:spPr>
        <p:txBody>
          <a:bodyPr wrap="square">
            <a:spAutoFit/>
          </a:bodyPr>
          <a:lstStyle/>
          <a:p>
            <a:pPr algn="l"/>
            <a:r>
              <a:rPr sz="1200" b="0" i="0">
                <a:solidFill>
                  <a:srgbClr val="6B7A87"/>
                </a:solidFill>
                <a:latin typeface="Segoe UI"/>
              </a:rPr>
              <a:t>prices broadcast to both joins; positions read back from topics 3 and 4</a:t>
            </a:r>
          </a:p>
        </p:txBody>
      </p:sp>
      <p:sp>
        <p:nvSpPr>
          <p:cNvPr id="13" name="TextBox 12"/>
          <p:cNvSpPr txBox="1"/>
          <p:nvPr/>
        </p:nvSpPr>
        <p:spPr>
          <a:xfrm>
            <a:off x="685800" y="5577840"/>
            <a:ext cx="10881360" cy="822960"/>
          </a:xfrm>
          <a:prstGeom prst="rect">
            <a:avLst/>
          </a:prstGeom>
          <a:noFill/>
        </p:spPr>
        <p:txBody>
          <a:bodyPr wrap="square">
            <a:spAutoFit/>
          </a:bodyPr>
          <a:lstStyle/>
          <a:p>
            <a:pPr algn="l"/>
            <a:r>
              <a:rPr sz="1350" b="0" i="1">
                <a:solidFill>
                  <a:srgbClr val="6B7A87"/>
                </a:solidFill>
                <a:latin typeface="Segoe UI"/>
              </a:rPr>
              <a:t>Part 2 reads sinks 3 and 4 back out of Kafka rather than taking the streams in-process, so it consumes exactly what any other consumer would — which is why Flink draws two graphs and not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WHAT IT LOOKED LIKE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The same pipeline at two units, then four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2 units   </a:t>
            </a:r>
            <a:r>
              <a:rPr sz="1500" b="1" i="0">
                <a:solidFill>
                  <a:srgbClr val="1B6B8A"/>
                </a:solidFill>
                <a:latin typeface="Segoe UI"/>
              </a:rPr>
              <a:t>73,397 orders/sec</a:t>
            </a:r>
          </a:p>
        </p:txBody>
      </p:sp>
      <p:pic>
        <p:nvPicPr>
          <p:cNvPr id="6" name="Picture 5" descr="grafana-2units.png"/>
          <p:cNvPicPr>
            <a:picLocks noChangeAspect="1"/>
          </p:cNvPicPr>
          <p:nvPr/>
        </p:nvPicPr>
        <p:blipFill>
          <a:blip r:embed="rId2"/>
          <a:stretch>
            <a:fillRect/>
          </a:stretch>
        </p:blipFill>
        <p:spPr>
          <a:xfrm>
            <a:off x="566928" y="2167128"/>
            <a:ext cx="5266944" cy="2062886"/>
          </a:xfrm>
          <a:prstGeom prst="rect">
            <a:avLst/>
          </a:prstGeom>
        </p:spPr>
      </p:pic>
      <p:sp>
        <p:nvSpPr>
          <p:cNvPr id="7" name="Rectangle 6"/>
          <p:cNvSpPr/>
          <p:nvPr/>
        </p:nvSpPr>
        <p:spPr>
          <a:xfrm>
            <a:off x="566928"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4 units   </a:t>
            </a:r>
            <a:r>
              <a:rPr sz="1500" b="1" i="0">
                <a:solidFill>
                  <a:srgbClr val="1B6B8A"/>
                </a:solidFill>
                <a:latin typeface="Segoe UI"/>
              </a:rPr>
              <a:t>146,063 orders/sec</a:t>
            </a:r>
          </a:p>
        </p:txBody>
      </p:sp>
      <p:pic>
        <p:nvPicPr>
          <p:cNvPr id="9" name="Picture 8" descr="grafana-4units.png"/>
          <p:cNvPicPr>
            <a:picLocks noChangeAspect="1"/>
          </p:cNvPicPr>
          <p:nvPr/>
        </p:nvPicPr>
        <p:blipFill>
          <a:blip r:embed="rId3"/>
          <a:stretch>
            <a:fillRect/>
          </a:stretch>
        </p:blipFill>
        <p:spPr>
          <a:xfrm>
            <a:off x="6355080" y="2167128"/>
            <a:ext cx="5266944" cy="2062886"/>
          </a:xfrm>
          <a:prstGeom prst="rect">
            <a:avLst/>
          </a:prstGeom>
        </p:spPr>
      </p:pic>
      <p:sp>
        <p:nvSpPr>
          <p:cNvPr id="10" name="Rectangle 9"/>
          <p:cNvSpPr/>
          <p:nvPr/>
        </p:nvSpPr>
        <p:spPr>
          <a:xfrm>
            <a:off x="6355080"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4433764"/>
            <a:ext cx="11064240" cy="1280160"/>
          </a:xfrm>
          <a:prstGeom prst="rect">
            <a:avLst/>
          </a:prstGeom>
          <a:noFill/>
        </p:spPr>
        <p:txBody>
          <a:bodyPr wrap="square">
            <a:spAutoFit/>
          </a:bodyPr>
          <a:lstStyle/>
          <a:p>
            <a:pPr algn="l"/>
            <a:r>
              <a:rPr sz="1600" b="1" i="0">
                <a:solidFill>
                  <a:srgbClr val="14222E"/>
                </a:solidFill>
                <a:latin typeface="Segoe UI"/>
              </a:rPr>
              <a:t>Same panels, same axes, twice the units.  </a:t>
            </a:r>
            <a:r>
              <a:rPr sz="1600" b="0" i="0">
                <a:solidFill>
                  <a:srgbClr val="2E3D4A"/>
                </a:solidFill>
                <a:latin typeface="Segoe UI"/>
              </a:rPr>
              <a:t>Orders in and positions-by-account both roughly double; the account side runs at four times the order rate throughout, because every trade splits across four accounts.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73 397</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1.99 of 2</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26.5%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146 063</a:t>
                      </a:r>
                    </a:p>
                  </a:txBody>
                  <a:tcPr marL="109728" marR="109728" anchor="ctr">
                    <a:solidFill>
                      <a:srgbClr val="F2F5F7"/>
                    </a:solidFill>
                  </a:tcPr>
                </a:tc>
                <a:tc>
                  <a:txBody>
                    <a:bodyPr wrap="square"/>
                    <a:lstStyle/>
                    <a:p>
                      <a:pPr algn="r"/>
                      <a:r>
                        <a:rPr sz="1400" b="1" i="0">
                          <a:solidFill>
                            <a:srgbClr val="14222E"/>
                          </a:solidFill>
                          <a:latin typeface="Consolas"/>
                        </a:rPr>
                        <a:t>1.99×</a:t>
                      </a:r>
                    </a:p>
                  </a:txBody>
                  <a:tcPr marL="109728" marR="109728" anchor="ctr">
                    <a:solidFill>
                      <a:srgbClr val="F2F5F7"/>
                    </a:solidFill>
                  </a:tcPr>
                </a:tc>
                <a:tc>
                  <a:txBody>
                    <a:bodyPr wrap="square"/>
                    <a:lstStyle/>
                    <a:p>
                      <a:pPr algn="r"/>
                      <a:r>
                        <a:rPr sz="1400" b="1" i="0">
                          <a:solidFill>
                            <a:srgbClr val="14222E"/>
                          </a:solidFill>
                          <a:latin typeface="Consolas"/>
                        </a:rPr>
                        <a:t>3.89 of 4</a:t>
                      </a:r>
                    </a:p>
                  </a:txBody>
                  <a:tcPr marL="109728" marR="109728" anchor="ctr">
                    <a:solidFill>
                      <a:srgbClr val="F2F5F7"/>
                    </a:solidFill>
                  </a:tcPr>
                </a:tc>
                <a:tc>
                  <a:txBody>
                    <a:bodyPr wrap="square"/>
                    <a:lstStyle/>
                    <a:p>
                      <a:pPr algn="r"/>
                      <a:r>
                        <a:rPr sz="1400" b="1" i="0">
                          <a:solidFill>
                            <a:srgbClr val="14222E"/>
                          </a:solidFill>
                          <a:latin typeface="Consolas"/>
                        </a:rPr>
                        <a:t>0.78</a:t>
                      </a:r>
                    </a:p>
                  </a:txBody>
                  <a:tcPr marL="109728" marR="109728" anchor="ctr">
                    <a:solidFill>
                      <a:srgbClr val="F2F5F7"/>
                    </a:solidFill>
                  </a:tcPr>
                </a:tc>
                <a:tc>
                  <a:txBody>
                    <a:bodyPr wrap="square"/>
                    <a:lstStyle/>
                    <a:p>
                      <a:pPr algn="r"/>
                      <a:r>
                        <a:rPr sz="1400" b="1" i="0">
                          <a:solidFill>
                            <a:srgbClr val="14222E"/>
                          </a:solidFill>
                          <a:latin typeface="Consolas"/>
                        </a:rPr>
                        <a:t>47.3%</a:t>
                      </a:r>
                    </a:p>
                  </a:txBody>
                  <a:tcPr marL="109728" marR="109728" anchor="ctr">
                    <a:solidFill>
                      <a:srgbClr val="F2F5F7"/>
                    </a:solidFill>
                  </a:tcPr>
                </a:tc>
              </a:tr>
            </a:tbl>
          </a:graphicData>
        </a:graphic>
      </p:graphicFrame>
      <p:sp>
        <p:nvSpPr>
          <p:cNvPr id="6" name="TextBox 5"/>
          <p:cNvSpPr txBox="1"/>
          <p:nvPr/>
        </p:nvSpPr>
        <p:spPr>
          <a:xfrm>
            <a:off x="685800" y="3008376"/>
            <a:ext cx="10881360" cy="822960"/>
          </a:xfrm>
          <a:prstGeom prst="rect">
            <a:avLst/>
          </a:prstGeom>
          <a:noFill/>
        </p:spPr>
        <p:txBody>
          <a:bodyPr wrap="square">
            <a:spAutoFit/>
          </a:bodyPr>
          <a:lstStyle/>
          <a:p>
            <a:pPr algn="l"/>
            <a:r>
              <a:rPr sz="1300" b="0" i="1">
                <a:solidFill>
                  <a:srgbClr val="6B7A87"/>
                </a:solidFill>
                <a:latin typeface="Segoe UI"/>
              </a:rPr>
              <a:t>50,000,000 queued orders drained with the producer stopped, 8 partitions and a 5 s checkpoint interval held constant across both cases — so nothing varies but the units. These are the harness's settings, not the demo's.</a:t>
            </a:r>
          </a:p>
        </p:txBody>
      </p:sp>
      <p:sp>
        <p:nvSpPr>
          <p:cNvPr id="7" name="TextBox 6"/>
          <p:cNvSpPr txBox="1"/>
          <p:nvPr/>
        </p:nvSpPr>
        <p:spPr>
          <a:xfrm>
            <a:off x="685800" y="384962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never passed 0.78 of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40870"/>
            <a:ext cx="2194560" cy="274320"/>
          </a:xfrm>
          <a:prstGeom prst="rect">
            <a:avLst/>
          </a:prstGeom>
          <a:noFill/>
        </p:spPr>
        <p:txBody>
          <a:bodyPr wrap="square">
            <a:spAutoFit/>
          </a:bodyPr>
          <a:lstStyle/>
          <a:p>
            <a:pPr algn="l"/>
            <a:r>
              <a:rPr sz="1150" b="1" i="0">
                <a:solidFill>
                  <a:srgbClr val="A84B2A"/>
                </a:solidFill>
                <a:latin typeface="Segoe UI"/>
              </a:rPr>
              <a:t>perfect 2x  =  146,794</a:t>
            </a:r>
          </a:p>
        </p:txBody>
      </p:sp>
      <p:sp>
        <p:nvSpPr>
          <p:cNvPr id="29" name="Rounded Rectangle 28"/>
          <p:cNvSpPr/>
          <p:nvPr/>
        </p:nvSpPr>
        <p:spPr>
          <a:xfrm>
            <a:off x="1600200" y="3686203"/>
            <a:ext cx="1508760" cy="1452725"/>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65579"/>
            <a:ext cx="2148840" cy="365760"/>
          </a:xfrm>
          <a:prstGeom prst="rect">
            <a:avLst/>
          </a:prstGeom>
          <a:noFill/>
        </p:spPr>
        <p:txBody>
          <a:bodyPr wrap="square">
            <a:spAutoFit/>
          </a:bodyPr>
          <a:lstStyle/>
          <a:p>
            <a:pPr algn="ctr"/>
            <a:r>
              <a:rPr sz="1900" b="1" i="0">
                <a:solidFill>
                  <a:srgbClr val="14222E"/>
                </a:solidFill>
                <a:latin typeface="Segoe UI"/>
              </a:rPr>
              <a:t>73,397</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1.99 of 2 cores used</a:t>
            </a:r>
          </a:p>
        </p:txBody>
      </p:sp>
      <p:sp>
        <p:nvSpPr>
          <p:cNvPr id="32" name="Rounded Rectangle 31"/>
          <p:cNvSpPr/>
          <p:nvPr/>
        </p:nvSpPr>
        <p:spPr>
          <a:xfrm>
            <a:off x="3977639" y="2247946"/>
            <a:ext cx="1508760" cy="2890982"/>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27322"/>
            <a:ext cx="2148840" cy="365760"/>
          </a:xfrm>
          <a:prstGeom prst="rect">
            <a:avLst/>
          </a:prstGeom>
          <a:noFill/>
        </p:spPr>
        <p:txBody>
          <a:bodyPr wrap="square">
            <a:spAutoFit/>
          </a:bodyPr>
          <a:lstStyle/>
          <a:p>
            <a:pPr algn="ctr"/>
            <a:r>
              <a:rPr sz="1900" b="1" i="0">
                <a:solidFill>
                  <a:srgbClr val="14222E"/>
                </a:solidFill>
                <a:latin typeface="Segoe UI"/>
              </a:rPr>
              <a:t>146,063</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3.89 of 4 cores used</a:t>
            </a:r>
          </a:p>
        </p:txBody>
      </p:sp>
      <p:sp>
        <p:nvSpPr>
          <p:cNvPr id="35" name="TextBox 34"/>
          <p:cNvSpPr txBox="1"/>
          <p:nvPr/>
        </p:nvSpPr>
        <p:spPr>
          <a:xfrm>
            <a:off x="2834640" y="3357585"/>
            <a:ext cx="1371600" cy="731520"/>
          </a:xfrm>
          <a:prstGeom prst="rect">
            <a:avLst/>
          </a:prstGeom>
          <a:noFill/>
        </p:spPr>
        <p:txBody>
          <a:bodyPr wrap="square">
            <a:spAutoFit/>
          </a:bodyPr>
          <a:lstStyle/>
          <a:p>
            <a:pPr algn="ctr"/>
            <a:r>
              <a:rPr sz="3000" b="1" i="0">
                <a:solidFill>
                  <a:srgbClr val="1B6B8A"/>
                </a:solidFill>
                <a:latin typeface="Segoe UI"/>
              </a:rPr>
              <a:t>1.99x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1.99 of 2, then 3.89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never passed 0.78 of a core. </a:t>
            </a:r>
            <a:r>
              <a:rPr sz="1500" b="0" i="0">
                <a:solidFill>
                  <a:srgbClr val="2E3D4A"/>
                </a:solidFill>
                <a:latin typeface="Segoe UI"/>
              </a:rPr>
              <a:t>Flink was the constrained component, and you can only show that something scales when it is the thing that is constrained.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