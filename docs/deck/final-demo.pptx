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-- 129,056 against 131,442, which is 98%.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10237"/>
            <a:ext cx="2194560" cy="274320"/>
          </a:xfrm>
          <a:prstGeom prst="rect">
            <a:avLst/>
          </a:prstGeom>
          <a:noFill/>
        </p:spPr>
        <p:txBody>
          <a:bodyPr wrap="square">
            <a:spAutoFit/>
          </a:bodyPr>
          <a:lstStyle/>
          <a:p>
            <a:pPr algn="l"/>
            <a:r>
              <a:rPr sz="1150" b="1" i="0">
                <a:solidFill>
                  <a:srgbClr val="A84B2A"/>
                </a:solidFill>
                <a:latin typeface="Segoe UI"/>
              </a:rPr>
              <a:t>perfect 2x  =  131,442</a:t>
            </a:r>
          </a:p>
        </p:txBody>
      </p:sp>
      <p:sp>
        <p:nvSpPr>
          <p:cNvPr id="29" name="Rounded Rectangle 28"/>
          <p:cNvSpPr/>
          <p:nvPr/>
        </p:nvSpPr>
        <p:spPr>
          <a:xfrm>
            <a:off x="1600200" y="3670887"/>
            <a:ext cx="1508760" cy="1468041"/>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50263"/>
            <a:ext cx="2148840" cy="365760"/>
          </a:xfrm>
          <a:prstGeom prst="rect">
            <a:avLst/>
          </a:prstGeom>
          <a:noFill/>
        </p:spPr>
        <p:txBody>
          <a:bodyPr wrap="square">
            <a:spAutoFit/>
          </a:bodyPr>
          <a:lstStyle/>
          <a:p>
            <a:pPr algn="ctr"/>
            <a:r>
              <a:rPr sz="1900" b="1" i="0">
                <a:solidFill>
                  <a:srgbClr val="14222E"/>
                </a:solidFill>
                <a:latin typeface="Segoe UI"/>
              </a:rPr>
              <a:t>65,721</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2.00 of 2 cores used</a:t>
            </a:r>
          </a:p>
        </p:txBody>
      </p:sp>
      <p:sp>
        <p:nvSpPr>
          <p:cNvPr id="32" name="Rounded Rectangle 31"/>
          <p:cNvSpPr/>
          <p:nvPr/>
        </p:nvSpPr>
        <p:spPr>
          <a:xfrm>
            <a:off x="3977639" y="2256142"/>
            <a:ext cx="1508760" cy="2882786"/>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35518"/>
            <a:ext cx="2148840" cy="365760"/>
          </a:xfrm>
          <a:prstGeom prst="rect">
            <a:avLst/>
          </a:prstGeom>
          <a:noFill/>
        </p:spPr>
        <p:txBody>
          <a:bodyPr wrap="square">
            <a:spAutoFit/>
          </a:bodyPr>
          <a:lstStyle/>
          <a:p>
            <a:pPr algn="ctr"/>
            <a:r>
              <a:rPr sz="1900" b="1" i="0">
                <a:solidFill>
                  <a:srgbClr val="14222E"/>
                </a:solidFill>
                <a:latin typeface="Segoe UI"/>
              </a:rPr>
              <a:t>129,056</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3.94 of 4 cores used</a:t>
            </a:r>
          </a:p>
        </p:txBody>
      </p:sp>
      <p:sp>
        <p:nvSpPr>
          <p:cNvPr id="35" name="TextBox 34"/>
          <p:cNvSpPr txBox="1"/>
          <p:nvPr/>
        </p:nvSpPr>
        <p:spPr>
          <a:xfrm>
            <a:off x="2834640" y="3128555"/>
            <a:ext cx="1371600" cy="731520"/>
          </a:xfrm>
          <a:prstGeom prst="rect">
            <a:avLst/>
          </a:prstGeom>
          <a:noFill/>
        </p:spPr>
        <p:txBody>
          <a:bodyPr wrap="square">
            <a:spAutoFit/>
          </a:bodyPr>
          <a:lstStyle/>
          <a:p>
            <a:pPr algn="ctr"/>
            <a:r>
              <a:rPr sz="3000" b="1" i="0">
                <a:solidFill>
                  <a:srgbClr val="1B6B8A"/>
                </a:solidFill>
                <a:latin typeface="Segoe UI"/>
              </a:rPr>
              <a:t>1.96x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2.00 of 2, then 3.94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stayed under half a core. </a:t>
            </a:r>
            <a:r>
              <a:rPr sz="1500" b="0" i="0">
                <a:solidFill>
                  <a:srgbClr val="2E3D4A"/>
                </a:solidFill>
                <a:latin typeface="Segoe UI"/>
              </a:rPr>
              <a:t>Flink was the constrained component, and you can only show that something scales when it is the thing that is constrained.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