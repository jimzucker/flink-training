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122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1  </a:t>
            </a:r>
            <a:r>
              <a:rPr sz="1250" b="1" i="0">
                <a:solidFill>
                  <a:srgbClr val="FFFFFF"/>
                </a:solidFill>
                <a:latin typeface="Consolas"/>
              </a:rPr>
              <a:t>orders</a:t>
            </a:r>
          </a:p>
          <a:p>
            <a:pPr algn="ctr"/>
            <a:r>
              <a:rPr sz="1000" b="0" i="0">
                <a:solidFill>
                  <a:srgbClr val="FFFFFF"/>
                </a:solidFill>
                <a:latin typeface="Segoe UI"/>
              </a:rPr>
              <a:t>K: tradeId</a:t>
            </a:r>
          </a:p>
        </p:txBody>
      </p:sp>
      <p:sp>
        <p:nvSpPr>
          <p:cNvPr id="6" name="Rounded Rectangle 5"/>
          <p:cNvSpPr/>
          <p:nvPr/>
        </p:nvSpPr>
        <p:spPr>
          <a:xfrm>
            <a:off x="685800" y="3483863"/>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2  </a:t>
            </a:r>
            <a:r>
              <a:rPr sz="1250" b="1" i="0">
                <a:solidFill>
                  <a:srgbClr val="FFFFFF"/>
                </a:solidFill>
                <a:latin typeface="Consolas"/>
              </a:rPr>
              <a:t>prices</a:t>
            </a:r>
          </a:p>
          <a:p>
            <a:pPr algn="ctr"/>
            <a:r>
              <a:rPr sz="1000" b="0" i="0">
                <a:solidFill>
                  <a:srgbClr val="FFFFFF"/>
                </a:solidFill>
                <a:latin typeface="Segoe UI"/>
              </a:rPr>
              <a:t>K: symbol</a:t>
            </a:r>
          </a:p>
        </p:txBody>
      </p:sp>
      <p:sp>
        <p:nvSpPr>
          <p:cNvPr id="7" name="Right Arrow 6"/>
          <p:cNvSpPr/>
          <p:nvPr/>
        </p:nvSpPr>
        <p:spPr>
          <a:xfrm>
            <a:off x="294436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993392"/>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positions</a:t>
            </a:r>
          </a:p>
          <a:p>
            <a:pPr algn="ctr"/>
            <a:r>
              <a:rPr sz="1000" b="0" i="0">
                <a:solidFill>
                  <a:srgbClr val="FFFFFF"/>
                </a:solidFill>
                <a:latin typeface="Segoe UI"/>
              </a:rPr>
              <a:t>keyBy symbol  /  acct·sub·sym</a:t>
            </a:r>
          </a:p>
        </p:txBody>
      </p:sp>
      <p:sp>
        <p:nvSpPr>
          <p:cNvPr id="9" name="Right Arrow 8"/>
          <p:cNvSpPr/>
          <p:nvPr/>
        </p:nvSpPr>
        <p:spPr>
          <a:xfrm>
            <a:off x="587044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0" y="160934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3  </a:t>
            </a:r>
            <a:r>
              <a:rPr sz="1250" b="1" i="0">
                <a:solidFill>
                  <a:srgbClr val="FFFFFF"/>
                </a:solidFill>
                <a:latin typeface="Consolas"/>
              </a:rPr>
              <a:t>positions-by-symbol</a:t>
            </a:r>
          </a:p>
          <a:p>
            <a:pPr algn="ctr"/>
            <a:r>
              <a:rPr sz="1000" b="0" i="0">
                <a:solidFill>
                  <a:srgbClr val="FFFFFF"/>
                </a:solidFill>
                <a:latin typeface="Segoe UI"/>
              </a:rPr>
              <a:t>4 keys · 10/sec</a:t>
            </a:r>
          </a:p>
        </p:txBody>
      </p:sp>
      <p:sp>
        <p:nvSpPr>
          <p:cNvPr id="11" name="Rounded Rectangle 10"/>
          <p:cNvSpPr/>
          <p:nvPr/>
        </p:nvSpPr>
        <p:spPr>
          <a:xfrm>
            <a:off x="6400800" y="25694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4  </a:t>
            </a:r>
            <a:r>
              <a:rPr sz="1250" b="1" i="0">
                <a:solidFill>
                  <a:srgbClr val="FFFFFF"/>
                </a:solidFill>
                <a:latin typeface="Consolas"/>
              </a:rPr>
              <a:t>positions-by-account</a:t>
            </a:r>
          </a:p>
          <a:p>
            <a:pPr algn="ctr"/>
            <a:r>
              <a:rPr sz="1000" b="0" i="0">
                <a:solidFill>
                  <a:srgbClr val="FFFFFF"/>
                </a:solidFill>
                <a:latin typeface="Segoe UI"/>
              </a:rPr>
              <a:t>16 keys · 40/sec</a:t>
            </a:r>
          </a:p>
        </p:txBody>
      </p:sp>
      <p:sp>
        <p:nvSpPr>
          <p:cNvPr id="12" name="Right Arrow 11"/>
          <p:cNvSpPr/>
          <p:nvPr/>
        </p:nvSpPr>
        <p:spPr>
          <a:xfrm>
            <a:off x="294436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720" y="3392424"/>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market value</a:t>
            </a:r>
          </a:p>
          <a:p>
            <a:pPr algn="ctr"/>
            <a:r>
              <a:rPr sz="1000" b="0" i="0">
                <a:solidFill>
                  <a:srgbClr val="FFFFFF"/>
                </a:solidFill>
                <a:latin typeface="Segoe UI"/>
              </a:rPr>
              <a:t>price × position, 10s window</a:t>
            </a:r>
          </a:p>
        </p:txBody>
      </p:sp>
      <p:sp>
        <p:nvSpPr>
          <p:cNvPr id="14" name="Right Arrow 13"/>
          <p:cNvSpPr/>
          <p:nvPr/>
        </p:nvSpPr>
        <p:spPr>
          <a:xfrm>
            <a:off x="587044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0" y="352958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5  </a:t>
            </a:r>
            <a:r>
              <a:rPr sz="1250" b="1" i="0">
                <a:solidFill>
                  <a:srgbClr val="FFFFFF"/>
                </a:solidFill>
                <a:latin typeface="Consolas"/>
              </a:rPr>
              <a:t>mv-by-symbol</a:t>
            </a:r>
          </a:p>
          <a:p>
            <a:pPr algn="ctr"/>
            <a:r>
              <a:rPr sz="1000" b="0" i="0">
                <a:solidFill>
                  <a:srgbClr val="FFFFFF"/>
                </a:solidFill>
                <a:latin typeface="Segoe UI"/>
              </a:rPr>
              <a:t>4 keys · 4 per window</a:t>
            </a:r>
          </a:p>
        </p:txBody>
      </p:sp>
      <p:sp>
        <p:nvSpPr>
          <p:cNvPr id="16" name="Rounded Rectangle 15"/>
          <p:cNvSpPr/>
          <p:nvPr/>
        </p:nvSpPr>
        <p:spPr>
          <a:xfrm>
            <a:off x="6400800" y="448970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6  </a:t>
            </a:r>
            <a:r>
              <a:rPr sz="1250" b="1" i="0">
                <a:solidFill>
                  <a:srgbClr val="FFFFFF"/>
                </a:solidFill>
                <a:latin typeface="Consolas"/>
              </a:rPr>
              <a:t>mv-by-account</a:t>
            </a:r>
          </a:p>
          <a:p>
            <a:pPr algn="ctr"/>
            <a:r>
              <a:rPr sz="1000" b="0" i="0">
                <a:solidFill>
                  <a:srgbClr val="FFFFFF"/>
                </a:solidFill>
                <a:latin typeface="Segoe UI"/>
              </a:rPr>
              <a:t>16 keys · 16 per window</a:t>
            </a:r>
          </a:p>
        </p:txBody>
      </p:sp>
      <p:sp>
        <p:nvSpPr>
          <p:cNvPr id="17" name="TextBox 16"/>
          <p:cNvSpPr txBox="1"/>
          <p:nvPr/>
        </p:nvSpPr>
        <p:spPr>
          <a:xfrm>
            <a:off x="8915400" y="1929384"/>
            <a:ext cx="2834640" cy="2926080"/>
          </a:xfrm>
          <a:prstGeom prst="rect">
            <a:avLst/>
          </a:prstGeom>
          <a:noFill/>
        </p:spPr>
        <p:txBody>
          <a:bodyPr wrap="square">
            <a:spAutoFit/>
          </a:bodyPr>
          <a:lstStyle/>
          <a:p>
            <a:pPr algn="l">
              <a:spcAft>
                <a:spcPts val="1200"/>
              </a:spcAft>
            </a:pPr>
            <a:r>
              <a:rPr sz="1200" b="1" i="0">
                <a:solidFill>
                  <a:srgbClr val="14222E"/>
                </a:solidFill>
                <a:latin typeface="Segoe UI"/>
              </a:rPr>
              <a:t>One order, five records.  </a:t>
            </a:r>
            <a:r>
              <a:rPr sz="1200" b="0" i="0">
                <a:solidFill>
                  <a:srgbClr val="2E3D4A"/>
                </a:solidFill>
                <a:latin typeface="Segoe UI"/>
              </a:rPr>
              <a:t>Four account-side allocations plus one symbol-side position.</a:t>
            </a:r>
          </a:p>
          <a:p>
            <a:pPr>
              <a:spcAft>
                <a:spcPts val="1200"/>
              </a:spcAft>
            </a:pPr>
            <a:r>
              <a:rPr sz="1200" b="1" i="0">
                <a:solidFill>
                  <a:srgbClr val="14222E"/>
                </a:solidFill>
                <a:latin typeface="Segoe UI"/>
              </a:rPr>
              <a:t>Two aggregations, in parallel.  </a:t>
            </a:r>
            <a:r>
              <a:rPr sz="1200" b="0" i="0">
                <a:solidFill>
                  <a:srgbClr val="2E3D4A"/>
                </a:solidFill>
                <a:latin typeface="Segoe UI"/>
              </a:rPr>
              <a:t>One key per symbol; one per account and symbol.</a:t>
            </a:r>
          </a:p>
          <a:p>
            <a:pPr>
              <a:spcAft>
                <a:spcPts val="1200"/>
              </a:spcAft>
            </a:pPr>
            <a:r>
              <a:rPr sz="1200" b="1" i="0">
                <a:solidFill>
                  <a:srgbClr val="14222E"/>
                </a:solidFill>
                <a:latin typeface="Segoe UI"/>
              </a:rPr>
              <a:t>Prices are broadcast.  </a:t>
            </a:r>
            <a:r>
              <a:rPr sz="1200" b="0" i="0">
                <a:solidFill>
                  <a:srgbClr val="2E3D4A"/>
                </a:solidFill>
                <a:latin typeface="Segoe UI"/>
              </a:rPr>
              <a:t>Every task sees every price.</a:t>
            </a:r>
          </a:p>
        </p:txBody>
      </p:sp>
      <p:sp>
        <p:nvSpPr>
          <p:cNvPr id="18" name="TextBox 17"/>
          <p:cNvSpPr txBox="1"/>
          <p:nvPr/>
        </p:nvSpPr>
        <p:spPr>
          <a:xfrm>
            <a:off x="685800" y="5806440"/>
            <a:ext cx="10881360" cy="822960"/>
          </a:xfrm>
          <a:prstGeom prst="rect">
            <a:avLst/>
          </a:prstGeom>
          <a:noFill/>
        </p:spPr>
        <p:txBody>
          <a:bodyPr wrap="square">
            <a:spAutoFit/>
          </a:bodyPr>
          <a:lstStyle/>
          <a:p>
            <a:pPr algn="l"/>
            <a:r>
              <a:rPr sz="1350" b="0" i="1">
                <a:solidFill>
                  <a:srgbClr val="6B7A87"/>
                </a:solidFill>
                <a:latin typeface="Segoe UI"/>
              </a:rPr>
              <a:t>Every edge is labelled with its key and value; the full walkthrough and object model are in docs/design/pipeline-design.md.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96265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 / setting</a:t>
                      </a:r>
                    </a:p>
                  </a:txBody>
                  <a:tcPr marL="109728" marR="109728" anchor="ctr">
                    <a:solidFill>
                      <a:srgbClr val="14222E"/>
                    </a:solidFill>
                  </a:tcPr>
                </a:tc>
                <a:tc>
                  <a:txBody>
                    <a:bodyPr wrap="square"/>
                    <a:lstStyle/>
                    <a:p>
                      <a:pPr algn="r"/>
                      <a:r>
                        <a:rPr sz="1350" b="1" i="0">
                          <a:solidFill>
                            <a:srgbClr val="FFFFFF"/>
                          </a:solidFill>
                          <a:latin typeface="Segoe UI"/>
                        </a:rPr>
                        <a:t>Demo value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r h="365760">
                <a:tc>
                  <a:txBody>
                    <a:bodyPr wrap="square"/>
                    <a:lstStyle/>
                    <a:p>
                      <a:pPr algn="l"/>
                      <a:r>
                        <a:rPr sz="1350" b="1" i="0">
                          <a:solidFill>
                            <a:srgbClr val="14222E"/>
                          </a:solidFill>
                          <a:latin typeface="Segoe UI"/>
                        </a:rPr>
                        <a:t>Window</a:t>
                      </a:r>
                    </a:p>
                  </a:txBody>
                  <a:tcPr marL="109728" marR="109728" anchor="ctr">
                    <a:solidFill>
                      <a:srgbClr val="F2F5F7"/>
                    </a:solidFill>
                  </a:tcPr>
                </a:tc>
                <a:tc>
                  <a:txBody>
                    <a:bodyPr wrap="square"/>
                    <a:lstStyle/>
                    <a:p>
                      <a:pPr algn="r"/>
                      <a:r>
                        <a:rPr sz="1350" b="1" i="0">
                          <a:solidFill>
                            <a:srgbClr val="14222E"/>
                          </a:solidFill>
                          <a:latin typeface="Consolas"/>
                        </a:rPr>
                        <a:t>10 s  (spec: 1 min)</a:t>
                      </a:r>
                    </a:p>
                  </a:txBody>
                  <a:tcPr marL="109728" marR="109728" anchor="ctr">
                    <a:solidFill>
                      <a:srgbClr val="F2F5F7"/>
                    </a:solidFill>
                  </a:tcPr>
                </a:tc>
              </a:tr>
              <a:tr h="365760">
                <a:tc>
                  <a:txBody>
                    <a:bodyPr wrap="square"/>
                    <a:lstStyle/>
                    <a:p>
                      <a:pPr algn="l"/>
                      <a:r>
                        <a:rPr sz="1350" b="1" i="0">
                          <a:solidFill>
                            <a:srgbClr val="14222E"/>
                          </a:solidFill>
                          <a:latin typeface="Segoe UI"/>
                        </a:rPr>
                        <a:t>Checkpoint interval</a:t>
                      </a:r>
                    </a:p>
                  </a:txBody>
                  <a:tcPr marL="109728" marR="109728" anchor="ctr">
                    <a:solidFill>
                      <a:srgbClr val="F2F5F7"/>
                    </a:solidFill>
                  </a:tcPr>
                </a:tc>
                <a:tc>
                  <a:txBody>
                    <a:bodyPr wrap="square"/>
                    <a:lstStyle/>
                    <a:p>
                      <a:pPr algn="r"/>
                      <a:r>
                        <a:rPr sz="1350" b="1" i="0">
                          <a:solidFill>
                            <a:srgbClr val="14222E"/>
                          </a:solidFill>
                          <a:latin typeface="Consolas"/>
                        </a:rPr>
                        <a:t>1 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394960"/>
            <a:ext cx="10881360" cy="822960"/>
          </a:xfrm>
          <a:prstGeom prst="rect">
            <a:avLst/>
          </a:prstGeom>
          <a:noFill/>
        </p:spPr>
        <p:txBody>
          <a:bodyPr wrap="square">
            <a:spAutoFit/>
          </a:bodyPr>
          <a:lstStyle/>
          <a:p>
            <a:pPr algn="l"/>
            <a:r>
              <a:rPr sz="1350" b="0" i="0">
                <a:solidFill>
                  <a:srgbClr val="2C6E49"/>
                </a:solidFill>
                <a:latin typeface="Segoe UI"/>
              </a:rPr>
              <a:t>The window is 10 s for the demo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Exactly-once is a claim about what happens when something fails, so without a failure the setting is untested and at-least-once looks identical. That is why the proof is a chaos script rather than a configuration screenshot. It also has a visible cost, which the next slide is about.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p99</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1 020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5120640" cy="1133856"/>
        </p:xfrm>
        <a:graphic>
          <a:graphicData uri="http://schemas.openxmlformats.org/drawingml/2006/table">
            <a:tbl>
              <a:tblPr bandRow="1">
                <a:tableStyleId>{5C22544A-7EE6-4342-B048-85BDC9FD1C3A}</a:tableStyleId>
              </a:tblPr>
              <a:tblGrid>
                <a:gridCol w="265176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  (the default)</a:t>
                      </a:r>
                    </a:p>
                  </a:txBody>
                  <a:tcPr marL="109728" marR="109728" anchor="ctr">
                    <a:solidFill>
                      <a:srgbClr val="F2F5F7"/>
                    </a:solidFill>
                  </a:tcPr>
                </a:tc>
                <a:tc>
                  <a:txBody>
                    <a:bodyPr wrap="square"/>
                    <a:lstStyle/>
                    <a:p>
                      <a:pPr algn="r"/>
                      <a:r>
                        <a:rPr sz="1400" b="1" i="0">
                          <a:solidFill>
                            <a:srgbClr val="14222E"/>
                          </a:solidFill>
                          <a:latin typeface="Consolas"/>
                        </a:rPr>
                        <a:t>497 ms</a:t>
                      </a:r>
                    </a:p>
                  </a:txBody>
                  <a:tcPr marL="109728" marR="109728" anchor="ctr">
                    <a:solidFill>
                      <a:srgbClr val="F2F5F7"/>
                    </a:solidFill>
                  </a:tcPr>
                </a:tc>
                <a:tc>
                  <a:txBody>
                    <a:bodyPr wrap="square"/>
                    <a:lstStyle/>
                    <a:p>
                      <a:pPr algn="r"/>
                      <a:r>
                        <a:rPr sz="1400" b="1" i="0">
                          <a:solidFill>
                            <a:srgbClr val="14222E"/>
                          </a:solidFill>
                          <a:latin typeface="Consolas"/>
                        </a:rPr>
                        <a:t>1 041 ms</a:t>
                      </a:r>
                    </a:p>
                  </a:txBody>
                  <a:tcPr marL="109728" marR="109728" anchor="ctr">
                    <a:solidFill>
                      <a:srgbClr val="F2F5F7"/>
                    </a:solidFill>
                  </a:tcPr>
                </a:tc>
              </a:tr>
            </a:tbl>
          </a:graphicData>
        </a:graphic>
      </p:graphicFrame>
      <p:sp>
        <p:nvSpPr>
          <p:cNvPr id="7" name="TextBox 6"/>
          <p:cNvSpPr txBox="1"/>
          <p:nvPr/>
        </p:nvSpPr>
        <p:spPr>
          <a:xfrm>
            <a:off x="685800" y="3483864"/>
            <a:ext cx="10881360" cy="1463040"/>
          </a:xfrm>
          <a:prstGeom prst="rect">
            <a:avLst/>
          </a:prstGeom>
          <a:noFill/>
        </p:spPr>
        <p:txBody>
          <a:bodyPr wrap="square">
            <a:spAutoFit/>
          </a:bodyPr>
          <a:lstStyle/>
          <a:p>
            <a:pPr algn="l"/>
            <a:r>
              <a:rPr sz="1500" b="0" i="0">
                <a:solidFill>
                  <a:srgbClr val="2E3D4A"/>
                </a:solidFill>
                <a:latin typeface="Segoe UI"/>
              </a:rPr>
              <a:t>The gap is the guarantee, not the work. Under exactly-once nothing is readable until the checkpoint that produced it commits, so a consumer waits a roughly uniform interval on top of the processing time. Cut the interval by five and the latency falls by five, with the maximum landing inside one interval each time — which is what a uniform wait for the next commit looks like, and the strongest evidence that the delay is the guarantee rather than the pipeline. A checkpoint itself takes about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a:p>
            <a:pPr>
              <a:spcBef>
                <a:spcPts val="1200"/>
              </a:spcBef>
            </a:pPr>
            <a:r>
              <a:rPr sz="1500" b="0" i="0">
                <a:solidFill>
                  <a:srgbClr val="2E3D4A"/>
                </a:solidFill>
                <a:latin typeface="Segoe UI"/>
              </a:rPr>
              <a:t>A broker that looks asleep can still be the ceiling, and the only way to tell is to have both CPU figures beside the throughput. "The broker is full" would have been the wrong way to say it — it implies a busy broker, and the two cases are only distinguishable from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a:p>
            <a:pPr>
              <a:spcBef>
                <a:spcPts val="1400"/>
              </a:spcBef>
            </a:pPr>
            <a:r>
              <a:rPr sz="1450" b="0" i="1">
                <a:solidFill>
                  <a:srgbClr val="6B7A87"/>
                </a:solidFill>
                <a:latin typeface="Segoe UI"/>
              </a:rPr>
              <a:t>Stated honestly: that run was a confirmation, not a second demo. Its step ratios rise rather than decay, which is backwards and is not yet explained, and its two highest points were measured once each. The laptop numbers are the ones to stand behind.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The scaling harness refuses to report a number it cannot stand behind: it checks that the CPU limit was applied to the container, that a job is actually running, that the backlog outlasted the measurement window, and that no previous run still owns the cluster. Every one of those was a real failure during the scaling work, and each had produced a confident wrong answer.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