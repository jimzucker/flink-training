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with the running stack already built but idle. The most persuasive moment is graphs going from flat to flowing while people watch.</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Sink 4 updates 4x as often as sink 3. Quantities reconcile — the four accounts sum to the block. The update counts differ by design.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Numbered left to right, in the order the demo talks through them. Point at 1 and 2 as the inputs, 3-6 as the outputs to verify. If anyone reads '1 min' off the diagram, that is the specification -- the demo runs a 10s window.</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the numbers out loud BEFORE starting the generators. Then the dashboard either matches or it does not. If asked why the window is 10s and not a minute: only for the demo, so the sinks say something without a minute of waiting. The job defaults to the specified minute and the verification runs against both.</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generators come up idle on purpose, so the dashboard is visibly empty until you start them. A stack that is already busy when it appears gives the moment away.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you cannot answer something, say so and take it as an action item to change the logging. That is the instruction in the requirements, and it beats an explanation invented on the spot.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cost of this guarantee is the latency on the next slide. Don't let anyone read the 518ms as slowness — it is the commit interval, and it is a dial.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Market value latency is measured from the window close, not the trade — the window is the specification, not a delay to account for.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Case 2 is the one that settles the broadcast-prices question.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 can only show that something scales when it is the thing that is constrained. Step 10 got this wrong — it varied parallelism while Flink already had every core it could use, and the answer came back flat.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Only show this if asked where it stops. The demo pair is 2 and 4.</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volunteer this. It is an answer to one question, not a slide in the flow.</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journal records what drove each step, what was decided, and what its review changed. docs/reviews/ has the exchanges verbatim.</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148840"/>
          </a:xfrm>
          <a:prstGeom prst="rect">
            <a:avLst/>
          </a:prstGeom>
          <a:solidFill>
            <a:srgbClr val="1422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658368"/>
            <a:ext cx="10515600" cy="1280160"/>
          </a:xfrm>
          <a:prstGeom prst="rect">
            <a:avLst/>
          </a:prstGeom>
          <a:noFill/>
        </p:spPr>
        <p:txBody>
          <a:bodyPr wrap="square">
            <a:spAutoFit/>
          </a:bodyPr>
          <a:lstStyle/>
          <a:p>
            <a:pPr algn="l"/>
            <a:r>
              <a:rPr sz="1200" b="1" i="0" spc="160">
                <a:solidFill>
                  <a:srgbClr val="7FB6CB"/>
                </a:solidFill>
                <a:latin typeface="Segoe UI"/>
              </a:rPr>
              <a:t>FINAL PROJECT</a:t>
            </a:r>
          </a:p>
          <a:p>
            <a:r>
              <a:rPr sz="3400" b="1" i="0">
                <a:solidFill>
                  <a:srgbClr val="FFFFFF"/>
                </a:solidFill>
                <a:latin typeface="Segoe UI"/>
              </a:rPr>
              <a:t>Positions and Market Value from Block Trades</a:t>
            </a:r>
          </a:p>
        </p:txBody>
      </p:sp>
      <p:sp>
        <p:nvSpPr>
          <p:cNvPr id="4" name="TextBox 3"/>
          <p:cNvSpPr txBox="1"/>
          <p:nvPr/>
        </p:nvSpPr>
        <p:spPr>
          <a:xfrm>
            <a:off x="822960" y="2514600"/>
            <a:ext cx="10515600" cy="548640"/>
          </a:xfrm>
          <a:prstGeom prst="rect">
            <a:avLst/>
          </a:prstGeom>
          <a:noFill/>
        </p:spPr>
        <p:txBody>
          <a:bodyPr wrap="square">
            <a:spAutoFit/>
          </a:bodyPr>
          <a:lstStyle/>
          <a:p>
            <a:pPr algn="l"/>
            <a:r>
              <a:rPr sz="1650" b="0" i="0">
                <a:solidFill>
                  <a:srgbClr val="2E3D4A"/>
                </a:solidFill>
                <a:latin typeface="Segoe UI"/>
              </a:rPr>
              <a:t>A streaming pipeline that aggregates block trades two ways, joins prices, and publishes market value — with exactly-once delivery.</a:t>
            </a:r>
          </a:p>
        </p:txBody>
      </p:sp>
      <p:graphicFrame>
        <p:nvGraphicFramePr>
          <p:cNvPr id="5" name="Table 4"/>
          <p:cNvGraphicFramePr>
            <a:graphicFrameLocks noGrp="1"/>
          </p:cNvGraphicFramePr>
          <p:nvPr/>
        </p:nvGraphicFramePr>
        <p:xfrm>
          <a:off x="822960" y="3337560"/>
          <a:ext cx="10241280" cy="1847088"/>
        </p:xfrm>
        <a:graphic>
          <a:graphicData uri="http://schemas.openxmlformats.org/drawingml/2006/table">
            <a:tbl>
              <a:tblPr bandRow="1">
                <a:tableStyleId>{5C22544A-7EE6-4342-B048-85BDC9FD1C3A}</a:tableStyleId>
              </a:tblPr>
              <a:tblGrid>
                <a:gridCol w="2011680"/>
                <a:gridCol w="8229600"/>
              </a:tblGrid>
              <a:tr h="384048">
                <a:tc>
                  <a:txBody>
                    <a:bodyPr wrap="square"/>
                    <a:lstStyle/>
                    <a:p>
                      <a:pPr algn="l"/>
                      <a:r>
                        <a:rPr sz="1350" b="1" i="0">
                          <a:solidFill>
                            <a:srgbClr val="FFFFFF"/>
                          </a:solidFill>
                          <a:latin typeface="Segoe UI"/>
                        </a:rPr>
                        <a:t>Runtime</a:t>
                      </a:r>
                    </a:p>
                  </a:txBody>
                  <a:tcPr marL="109728" marR="109728" anchor="ctr">
                    <a:solidFill>
                      <a:srgbClr val="14222E"/>
                    </a:solidFill>
                  </a:tcPr>
                </a:tc>
                <a:tc>
                  <a:txBody>
                    <a:bodyPr wrap="square"/>
                    <a:lstStyle/>
                    <a:p>
                      <a:pPr algn="r"/>
                      <a:r>
                        <a:rPr sz="1350" b="1" i="0">
                          <a:solidFill>
                            <a:srgbClr val="FFFFFF"/>
                          </a:solidFill>
                          <a:latin typeface="Segoe UI"/>
                        </a:rPr>
                        <a:t>Apache Flink 1.20 · Java 17</a:t>
                      </a:r>
                    </a:p>
                  </a:txBody>
                  <a:tcPr marL="109728" marR="109728" anchor="ctr">
                    <a:solidFill>
                      <a:srgbClr val="14222E"/>
                    </a:solidFill>
                  </a:tcPr>
                </a:tc>
              </a:tr>
              <a:tr h="365760">
                <a:tc>
                  <a:txBody>
                    <a:bodyPr wrap="square"/>
                    <a:lstStyle/>
                    <a:p>
                      <a:pPr algn="l"/>
                      <a:r>
                        <a:rPr sz="1350" b="0" i="0">
                          <a:solidFill>
                            <a:srgbClr val="2E3D4A"/>
                          </a:solidFill>
                          <a:latin typeface="Segoe UI"/>
                        </a:rPr>
                        <a:t>Transport</a:t>
                      </a:r>
                    </a:p>
                  </a:txBody>
                  <a:tcPr marL="109728" marR="109728" anchor="ctr">
                    <a:solidFill>
                      <a:srgbClr val="FFFFFF"/>
                    </a:solidFill>
                  </a:tcPr>
                </a:tc>
                <a:tc>
                  <a:txBody>
                    <a:bodyPr wrap="square"/>
                    <a:lstStyle/>
                    <a:p>
                      <a:pPr algn="r"/>
                      <a:r>
                        <a:rPr sz="1350" b="0" i="0">
                          <a:solidFill>
                            <a:srgbClr val="2E3D4A"/>
                          </a:solidFill>
                          <a:latin typeface="Segoe UI"/>
                        </a:rPr>
                        <a:t>Apache Kafka 3.9 (KRaft)</a:t>
                      </a:r>
                    </a:p>
                  </a:txBody>
                  <a:tcPr marL="109728" marR="109728" anchor="ctr">
                    <a:solidFill>
                      <a:srgbClr val="FFFFFF"/>
                    </a:solidFill>
                  </a:tcPr>
                </a:tc>
              </a:tr>
              <a:tr h="365760">
                <a:tc>
                  <a:txBody>
                    <a:bodyPr wrap="square"/>
                    <a:lstStyle/>
                    <a:p>
                      <a:pPr algn="l"/>
                      <a:r>
                        <a:rPr sz="1350" b="0" i="0">
                          <a:solidFill>
                            <a:srgbClr val="2E3D4A"/>
                          </a:solidFill>
                          <a:latin typeface="Segoe UI"/>
                        </a:rPr>
                        <a:t>Delivery</a:t>
                      </a:r>
                    </a:p>
                  </a:txBody>
                  <a:tcPr marL="109728" marR="109728" anchor="ctr">
                    <a:solidFill>
                      <a:srgbClr val="FFFFFF"/>
                    </a:solidFill>
                  </a:tcPr>
                </a:tc>
                <a:tc>
                  <a:txBody>
                    <a:bodyPr wrap="square"/>
                    <a:lstStyle/>
                    <a:p>
                      <a:pPr algn="r"/>
                      <a:r>
                        <a:rPr sz="1350" b="0" i="0">
                          <a:solidFill>
                            <a:srgbClr val="2E3D4A"/>
                          </a:solidFill>
                          <a:latin typeface="Segoe UI"/>
                        </a:rPr>
                        <a:t>exactly-once, verified by killing a task manager</a:t>
                      </a:r>
                    </a:p>
                  </a:txBody>
                  <a:tcPr marL="109728" marR="109728" anchor="ctr">
                    <a:solidFill>
                      <a:srgbClr val="FFFFFF"/>
                    </a:solidFill>
                  </a:tcPr>
                </a:tc>
              </a:tr>
              <a:tr h="365760">
                <a:tc>
                  <a:txBody>
                    <a:bodyPr wrap="square"/>
                    <a:lstStyle/>
                    <a:p>
                      <a:pPr algn="l"/>
                      <a:r>
                        <a:rPr sz="1350" b="0" i="0">
                          <a:solidFill>
                            <a:srgbClr val="2E3D4A"/>
                          </a:solidFill>
                          <a:latin typeface="Segoe UI"/>
                        </a:rPr>
                        <a:t>Observability</a:t>
                      </a:r>
                    </a:p>
                  </a:txBody>
                  <a:tcPr marL="109728" marR="109728" anchor="ctr">
                    <a:solidFill>
                      <a:srgbClr val="FFFFFF"/>
                    </a:solidFill>
                  </a:tcPr>
                </a:tc>
                <a:tc>
                  <a:txBody>
                    <a:bodyPr wrap="square"/>
                    <a:lstStyle/>
                    <a:p>
                      <a:pPr algn="r"/>
                      <a:r>
                        <a:rPr sz="1350" b="0" i="0">
                          <a:solidFill>
                            <a:srgbClr val="2E3D4A"/>
                          </a:solidFill>
                          <a:latin typeface="Segoe UI"/>
                        </a:rPr>
                        <a:t>Prometheus · Grafana</a:t>
                      </a:r>
                    </a:p>
                  </a:txBody>
                  <a:tcPr marL="109728" marR="109728" anchor="ctr">
                    <a:solidFill>
                      <a:srgbClr val="FFFFFF"/>
                    </a:solidFill>
                  </a:tcPr>
                </a:tc>
              </a:tr>
              <a:tr h="365760">
                <a:tc>
                  <a:txBody>
                    <a:bodyPr wrap="square"/>
                    <a:lstStyle/>
                    <a:p>
                      <a:pPr algn="l"/>
                      <a:r>
                        <a:rPr sz="1350" b="0" i="0">
                          <a:solidFill>
                            <a:srgbClr val="2E3D4A"/>
                          </a:solidFill>
                          <a:latin typeface="Segoe UI"/>
                        </a:rPr>
                        <a:t>Runs on</a:t>
                      </a:r>
                    </a:p>
                  </a:txBody>
                  <a:tcPr marL="109728" marR="109728" anchor="ctr">
                    <a:solidFill>
                      <a:srgbClr val="FFFFFF"/>
                    </a:solidFill>
                  </a:tcPr>
                </a:tc>
                <a:tc>
                  <a:txBody>
                    <a:bodyPr wrap="square"/>
                    <a:lstStyle/>
                    <a:p>
                      <a:pPr algn="r"/>
                      <a:r>
                        <a:rPr sz="1350" b="0" i="0">
                          <a:solidFill>
                            <a:srgbClr val="2E3D4A"/>
                          </a:solidFill>
                          <a:latin typeface="Segoe UI"/>
                        </a:rPr>
                        <a:t>one laptop, `docker compose up` — and on AWS unchanged</a:t>
                      </a:r>
                    </a:p>
                  </a:txBody>
                  <a:tcPr marL="109728" marR="109728" anchor="ctr">
                    <a:solidFill>
                      <a:srgbClr val="FFFFFF"/>
                    </a:solidFill>
                  </a:tcPr>
                </a:tc>
              </a:tr>
            </a:tbl>
          </a:graphicData>
        </a:graphic>
      </p:graphicFrame>
      <p:sp>
        <p:nvSpPr>
          <p:cNvPr id="6" name="TextBox 5"/>
          <p:cNvSpPr txBox="1"/>
          <p:nvPr/>
        </p:nvSpPr>
        <p:spPr>
          <a:xfrm>
            <a:off x="822960" y="5989320"/>
            <a:ext cx="10515600" cy="457200"/>
          </a:xfrm>
          <a:prstGeom prst="rect">
            <a:avLst/>
          </a:prstGeom>
          <a:noFill/>
        </p:spPr>
        <p:txBody>
          <a:bodyPr wrap="square">
            <a:spAutoFit/>
          </a:bodyPr>
          <a:lstStyle/>
          <a:p>
            <a:pPr algn="l"/>
            <a:r>
              <a:rPr sz="1300" b="0" i="1">
                <a:solidFill>
                  <a:srgbClr val="6B7A87"/>
                </a:solidFill>
                <a:latin typeface="Segoe UI"/>
              </a:rPr>
              <a:t>The live demo is the deliverable. These slides are the handout and the backup.</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75488"/>
            <a:ext cx="10972800" cy="274320"/>
          </a:xfrm>
          <a:prstGeom prst="rect">
            <a:avLst/>
          </a:prstGeom>
          <a:noFill/>
        </p:spPr>
        <p:txBody>
          <a:bodyPr wrap="square">
            <a:spAutoFit/>
          </a:bodyPr>
          <a:lstStyle/>
          <a:p>
            <a:pPr algn="l"/>
            <a:r>
              <a:rPr sz="1150" b="1" i="0" spc="120">
                <a:solidFill>
                  <a:srgbClr val="1B6B8A"/>
                </a:solidFill>
                <a:latin typeface="Segoe UI"/>
              </a:rPr>
              <a:t>THE PROBLEM</a:t>
            </a:r>
          </a:p>
        </p:txBody>
      </p:sp>
      <p:sp>
        <p:nvSpPr>
          <p:cNvPr id="3" name="TextBox 2"/>
          <p:cNvSpPr txBox="1"/>
          <p:nvPr/>
        </p:nvSpPr>
        <p:spPr>
          <a:xfrm>
            <a:off x="640080" y="786384"/>
            <a:ext cx="10972800" cy="731520"/>
          </a:xfrm>
          <a:prstGeom prst="rect">
            <a:avLst/>
          </a:prstGeom>
          <a:noFill/>
        </p:spPr>
        <p:txBody>
          <a:bodyPr wrap="square">
            <a:spAutoFit/>
          </a:bodyPr>
          <a:lstStyle/>
          <a:p>
            <a:pPr algn="l"/>
            <a:r>
              <a:rPr sz="3000" b="1" i="0">
                <a:solidFill>
                  <a:srgbClr val="14222E"/>
                </a:solidFill>
                <a:latin typeface="Segoe UI"/>
              </a:rPr>
              <a:t>One order becomes four allocations</a:t>
            </a:r>
          </a:p>
        </p:txBody>
      </p:sp>
      <p:sp>
        <p:nvSpPr>
          <p:cNvPr id="4" name="Rectangle 3"/>
          <p:cNvSpPr/>
          <p:nvPr/>
        </p:nvSpPr>
        <p:spPr>
          <a:xfrm>
            <a:off x="640080" y="1444752"/>
            <a:ext cx="10908792" cy="12700"/>
          </a:xfrm>
          <a:prstGeom prst="rect">
            <a:avLst/>
          </a:prstGeom>
          <a:solidFill>
            <a:srgbClr val="D8DF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1746504"/>
            <a:ext cx="10881360" cy="3840480"/>
          </a:xfrm>
          <a:prstGeom prst="rect">
            <a:avLst/>
          </a:prstGeom>
          <a:noFill/>
        </p:spPr>
        <p:txBody>
          <a:bodyPr wrap="square">
            <a:spAutoFit/>
          </a:bodyPr>
          <a:lstStyle/>
          <a:p>
            <a:pPr algn="l">
              <a:spcAft>
                <a:spcPts val="1400"/>
              </a:spcAft>
            </a:pPr>
            <a:r>
              <a:rPr sz="1700" b="1" i="0">
                <a:solidFill>
                  <a:srgbClr val="1B6B8A"/>
                </a:solidFill>
                <a:latin typeface="Segoe UI"/>
              </a:rPr>
              <a:t>▸   </a:t>
            </a:r>
            <a:r>
              <a:rPr sz="1700" b="1" i="0">
                <a:solidFill>
                  <a:srgbClr val="14222E"/>
                </a:solidFill>
                <a:latin typeface="Segoe UI"/>
              </a:rPr>
              <a:t>A block trade is one order split across several accounts.  </a:t>
            </a:r>
            <a:r>
              <a:rPr sz="1700" b="0" i="0">
                <a:solidFill>
                  <a:srgbClr val="2E3D4A"/>
                </a:solidFill>
                <a:latin typeface="Segoe UI"/>
              </a:rPr>
              <a:t>A trade of 400 shares allocated to 4 accounts becomes 4 allocations of 100.</a:t>
            </a:r>
          </a:p>
          <a:p>
            <a:pPr>
              <a:spcAft>
                <a:spcPts val="1400"/>
              </a:spcAft>
            </a:pPr>
            <a:r>
              <a:rPr sz="1700" b="1" i="0">
                <a:solidFill>
                  <a:srgbClr val="1B6B8A"/>
                </a:solidFill>
                <a:latin typeface="Segoe UI"/>
              </a:rPr>
              <a:t>▸   </a:t>
            </a:r>
            <a:r>
              <a:rPr sz="1700" b="1" i="0">
                <a:solidFill>
                  <a:srgbClr val="14222E"/>
                </a:solidFill>
                <a:latin typeface="Segoe UI"/>
              </a:rPr>
              <a:t>Publish positions two ways, in parallel.  </a:t>
            </a:r>
            <a:r>
              <a:rPr sz="1700" b="0" i="0">
                <a:solidFill>
                  <a:srgbClr val="2E3D4A"/>
                </a:solidFill>
                <a:latin typeface="Segoe UI"/>
              </a:rPr>
              <a:t>By symbol, and by account / sub-account / symbol.</a:t>
            </a:r>
          </a:p>
          <a:p>
            <a:pPr>
              <a:spcAft>
                <a:spcPts val="1400"/>
              </a:spcAft>
            </a:pPr>
            <a:r>
              <a:rPr sz="1700" b="1" i="0">
                <a:solidFill>
                  <a:srgbClr val="1B6B8A"/>
                </a:solidFill>
                <a:latin typeface="Segoe UI"/>
              </a:rPr>
              <a:t>▸   </a:t>
            </a:r>
            <a:r>
              <a:rPr sz="1700" b="1" i="0">
                <a:solidFill>
                  <a:srgbClr val="14222E"/>
                </a:solidFill>
                <a:latin typeface="Segoe UI"/>
              </a:rPr>
              <a:t>Then join prices to those positions  </a:t>
            </a:r>
            <a:r>
              <a:rPr sz="1700" b="0" i="0">
                <a:solidFill>
                  <a:srgbClr val="2E3D4A"/>
                </a:solidFill>
                <a:latin typeface="Segoe UI"/>
              </a:rPr>
              <a:t>and publish market value the same two ways, once per key per window.</a:t>
            </a:r>
          </a:p>
        </p:txBody>
      </p:sp>
      <p:sp>
        <p:nvSpPr>
          <p:cNvPr id="6" name="TextBox 5"/>
          <p:cNvSpPr txBox="1"/>
          <p:nvPr/>
        </p:nvSpPr>
        <p:spPr>
          <a:xfrm>
            <a:off x="685800" y="4032504"/>
            <a:ext cx="10881360" cy="1463040"/>
          </a:xfrm>
          <a:prstGeom prst="rect">
            <a:avLst/>
          </a:prstGeom>
          <a:noFill/>
        </p:spPr>
        <p:txBody>
          <a:bodyPr wrap="square">
            <a:spAutoFit/>
          </a:bodyPr>
          <a:lstStyle/>
          <a:p>
            <a:pPr algn="l"/>
            <a:r>
              <a:rPr sz="1500" b="0" i="0">
                <a:solidFill>
                  <a:srgbClr val="2E3D4A"/>
                </a:solidFill>
                <a:latin typeface="Segoe UI"/>
              </a:rPr>
              <a:t>That split is the whole reason the two aggregations differ. The account side sees four records for every one the symbol side sees, so sink 4 updates four times as often as sink 3 — while the quantities still reconcile, because the four allocations sum to the block. It is the first thing anyone notices on the dashboard and the first thing to have an answer ready for.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75488"/>
            <a:ext cx="10972800" cy="274320"/>
          </a:xfrm>
          <a:prstGeom prst="rect">
            <a:avLst/>
          </a:prstGeom>
          <a:noFill/>
        </p:spPr>
        <p:txBody>
          <a:bodyPr wrap="square">
            <a:spAutoFit/>
          </a:bodyPr>
          <a:lstStyle/>
          <a:p>
            <a:pPr algn="l"/>
            <a:r>
              <a:rPr sz="1150" b="1" i="0" spc="120">
                <a:solidFill>
                  <a:srgbClr val="1B6B8A"/>
                </a:solidFill>
                <a:latin typeface="Segoe UI"/>
              </a:rPr>
              <a:t>THE DESIGN</a:t>
            </a:r>
          </a:p>
        </p:txBody>
      </p:sp>
      <p:sp>
        <p:nvSpPr>
          <p:cNvPr id="3" name="TextBox 2"/>
          <p:cNvSpPr txBox="1"/>
          <p:nvPr/>
        </p:nvSpPr>
        <p:spPr>
          <a:xfrm>
            <a:off x="640080" y="786384"/>
            <a:ext cx="10972800" cy="731520"/>
          </a:xfrm>
          <a:prstGeom prst="rect">
            <a:avLst/>
          </a:prstGeom>
          <a:noFill/>
        </p:spPr>
        <p:txBody>
          <a:bodyPr wrap="square">
            <a:spAutoFit/>
          </a:bodyPr>
          <a:lstStyle/>
          <a:p>
            <a:pPr algn="l"/>
            <a:r>
              <a:rPr sz="3000" b="1" i="0">
                <a:solidFill>
                  <a:srgbClr val="14222E"/>
                </a:solidFill>
                <a:latin typeface="Segoe UI"/>
              </a:rPr>
              <a:t>Six numbered elements, end to end</a:t>
            </a:r>
          </a:p>
        </p:txBody>
      </p:sp>
      <p:sp>
        <p:nvSpPr>
          <p:cNvPr id="4" name="Rectangle 3"/>
          <p:cNvSpPr/>
          <p:nvPr/>
        </p:nvSpPr>
        <p:spPr>
          <a:xfrm>
            <a:off x="640080" y="1444752"/>
            <a:ext cx="10908792" cy="12700"/>
          </a:xfrm>
          <a:prstGeom prst="rect">
            <a:avLst/>
          </a:prstGeom>
          <a:solidFill>
            <a:srgbClr val="D8DF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pipeline.png"/>
          <p:cNvPicPr>
            <a:picLocks noChangeAspect="1"/>
          </p:cNvPicPr>
          <p:nvPr/>
        </p:nvPicPr>
        <p:blipFill>
          <a:blip r:embed="rId2"/>
          <a:stretch>
            <a:fillRect/>
          </a:stretch>
        </p:blipFill>
        <p:spPr>
          <a:xfrm>
            <a:off x="521207" y="2002536"/>
            <a:ext cx="11155680" cy="4172586"/>
          </a:xfrm>
          <a:prstGeom prst="rect">
            <a:avLst/>
          </a:prstGeom>
        </p:spPr>
      </p:pic>
      <p:sp>
        <p:nvSpPr>
          <p:cNvPr id="6" name="TextBox 5"/>
          <p:cNvSpPr txBox="1"/>
          <p:nvPr/>
        </p:nvSpPr>
        <p:spPr>
          <a:xfrm>
            <a:off x="685800" y="6303138"/>
            <a:ext cx="10881360" cy="822960"/>
          </a:xfrm>
          <a:prstGeom prst="rect">
            <a:avLst/>
          </a:prstGeom>
          <a:noFill/>
        </p:spPr>
        <p:txBody>
          <a:bodyPr wrap="square">
            <a:spAutoFit/>
          </a:bodyPr>
          <a:lstStyle/>
          <a:p>
            <a:pPr algn="l"/>
            <a:r>
              <a:rPr sz="1350" b="0" i="1">
                <a:solidFill>
                  <a:srgbClr val="6B7A87"/>
                </a:solidFill>
                <a:latin typeface="Segoe UI"/>
              </a:rPr>
              <a:t>Every edge carries its partition key and value. The diagram states the specified one-minute window; the demo overrides it to ten seconds, and the calculation is identical either way.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75488"/>
            <a:ext cx="10972800" cy="274320"/>
          </a:xfrm>
          <a:prstGeom prst="rect">
            <a:avLst/>
          </a:prstGeom>
          <a:noFill/>
        </p:spPr>
        <p:txBody>
          <a:bodyPr wrap="square">
            <a:spAutoFit/>
          </a:bodyPr>
          <a:lstStyle/>
          <a:p>
            <a:pPr algn="l"/>
            <a:r>
              <a:rPr sz="1150" b="1" i="0" spc="120">
                <a:solidFill>
                  <a:srgbClr val="1B6B8A"/>
                </a:solidFill>
                <a:latin typeface="Segoe UI"/>
              </a:rPr>
              <a:t>EXPECTED OUTPUT</a:t>
            </a:r>
          </a:p>
        </p:txBody>
      </p:sp>
      <p:sp>
        <p:nvSpPr>
          <p:cNvPr id="3" name="TextBox 2"/>
          <p:cNvSpPr txBox="1"/>
          <p:nvPr/>
        </p:nvSpPr>
        <p:spPr>
          <a:xfrm>
            <a:off x="640080" y="786384"/>
            <a:ext cx="10972800" cy="731520"/>
          </a:xfrm>
          <a:prstGeom prst="rect">
            <a:avLst/>
          </a:prstGeom>
          <a:noFill/>
        </p:spPr>
        <p:txBody>
          <a:bodyPr wrap="square">
            <a:spAutoFit/>
          </a:bodyPr>
          <a:lstStyle/>
          <a:p>
            <a:pPr algn="l"/>
            <a:r>
              <a:rPr sz="3000" b="1" i="0">
                <a:solidFill>
                  <a:srgbClr val="14222E"/>
                </a:solidFill>
                <a:latin typeface="Segoe UI"/>
              </a:rPr>
              <a:t>What the numbers should be, before we run anything</a:t>
            </a:r>
          </a:p>
        </p:txBody>
      </p:sp>
      <p:sp>
        <p:nvSpPr>
          <p:cNvPr id="4" name="Rectangle 3"/>
          <p:cNvSpPr/>
          <p:nvPr/>
        </p:nvSpPr>
        <p:spPr>
          <a:xfrm>
            <a:off x="640080" y="1444752"/>
            <a:ext cx="10908792" cy="12700"/>
          </a:xfrm>
          <a:prstGeom prst="rect">
            <a:avLst/>
          </a:prstGeom>
          <a:solidFill>
            <a:srgbClr val="D8DF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685800" y="1746504"/>
          <a:ext cx="4937760" cy="2962656"/>
        </p:xfrm>
        <a:graphic>
          <a:graphicData uri="http://schemas.openxmlformats.org/drawingml/2006/table">
            <a:tbl>
              <a:tblPr bandRow="1">
                <a:tableStyleId>{5C22544A-7EE6-4342-B048-85BDC9FD1C3A}</a:tableStyleId>
              </a:tblPr>
              <a:tblGrid>
                <a:gridCol w="2834640"/>
                <a:gridCol w="2103120"/>
              </a:tblGrid>
              <a:tr h="402336">
                <a:tc>
                  <a:txBody>
                    <a:bodyPr wrap="square"/>
                    <a:lstStyle/>
                    <a:p>
                      <a:pPr algn="l"/>
                      <a:r>
                        <a:rPr sz="1350" b="1" i="0">
                          <a:solidFill>
                            <a:srgbClr val="FFFFFF"/>
                          </a:solidFill>
                          <a:latin typeface="Segoe UI"/>
                        </a:rPr>
                        <a:t>Input / setting</a:t>
                      </a:r>
                    </a:p>
                  </a:txBody>
                  <a:tcPr marL="109728" marR="109728" anchor="ctr">
                    <a:solidFill>
                      <a:srgbClr val="14222E"/>
                    </a:solidFill>
                  </a:tcPr>
                </a:tc>
                <a:tc>
                  <a:txBody>
                    <a:bodyPr wrap="square"/>
                    <a:lstStyle/>
                    <a:p>
                      <a:pPr algn="r"/>
                      <a:r>
                        <a:rPr sz="1350" b="1" i="0">
                          <a:solidFill>
                            <a:srgbClr val="FFFFFF"/>
                          </a:solidFill>
                          <a:latin typeface="Segoe UI"/>
                        </a:rPr>
                        <a:t>Demo value</a:t>
                      </a:r>
                    </a:p>
                  </a:txBody>
                  <a:tcPr marL="109728" marR="109728" anchor="ctr">
                    <a:solidFill>
                      <a:srgbClr val="14222E"/>
                    </a:solidFill>
                  </a:tcPr>
                </a:tc>
              </a:tr>
              <a:tr h="365760">
                <a:tc>
                  <a:txBody>
                    <a:bodyPr wrap="square"/>
                    <a:lstStyle/>
                    <a:p>
                      <a:pPr algn="l"/>
                      <a:r>
                        <a:rPr sz="1350" b="0" i="0">
                          <a:solidFill>
                            <a:srgbClr val="2E3D4A"/>
                          </a:solidFill>
                          <a:latin typeface="Segoe UI"/>
                        </a:rPr>
                        <a:t>Trades</a:t>
                      </a:r>
                    </a:p>
                  </a:txBody>
                  <a:tcPr marL="109728" marR="109728" anchor="ctr">
                    <a:solidFill>
                      <a:srgbClr val="FFFFFF"/>
                    </a:solidFill>
                  </a:tcPr>
                </a:tc>
                <a:tc>
                  <a:txBody>
                    <a:bodyPr wrap="square"/>
                    <a:lstStyle/>
                    <a:p>
                      <a:pPr algn="r"/>
                      <a:r>
                        <a:rPr sz="1350" b="0" i="0">
                          <a:solidFill>
                            <a:srgbClr val="2E3D4A"/>
                          </a:solidFill>
                          <a:latin typeface="Consolas"/>
                        </a:rPr>
                        <a:t>10 / sec</a:t>
                      </a:r>
                    </a:p>
                  </a:txBody>
                  <a:tcPr marL="109728" marR="109728" anchor="ctr">
                    <a:solidFill>
                      <a:srgbClr val="FFFFFF"/>
                    </a:solidFill>
                  </a:tcPr>
                </a:tc>
              </a:tr>
              <a:tr h="365760">
                <a:tc>
                  <a:txBody>
                    <a:bodyPr wrap="square"/>
                    <a:lstStyle/>
                    <a:p>
                      <a:pPr algn="l"/>
                      <a:r>
                        <a:rPr sz="1350" b="0" i="0">
                          <a:solidFill>
                            <a:srgbClr val="2E3D4A"/>
                          </a:solidFill>
                          <a:latin typeface="Segoe UI"/>
                        </a:rPr>
                        <a:t>Prices</a:t>
                      </a:r>
                    </a:p>
                  </a:txBody>
                  <a:tcPr marL="109728" marR="109728" anchor="ctr">
                    <a:solidFill>
                      <a:srgbClr val="FFFFFF"/>
                    </a:solidFill>
                  </a:tcPr>
                </a:tc>
                <a:tc>
                  <a:txBody>
                    <a:bodyPr wrap="square"/>
                    <a:lstStyle/>
                    <a:p>
                      <a:pPr algn="r"/>
                      <a:r>
                        <a:rPr sz="1350" b="0" i="0">
                          <a:solidFill>
                            <a:srgbClr val="2E3D4A"/>
                          </a:solidFill>
                          <a:latin typeface="Consolas"/>
                        </a:rPr>
                        <a:t>1 000 / sec</a:t>
                      </a:r>
                    </a:p>
                  </a:txBody>
                  <a:tcPr marL="109728" marR="109728" anchor="ctr">
                    <a:solidFill>
                      <a:srgbClr val="FFFFFF"/>
                    </a:solidFill>
                  </a:tcPr>
                </a:tc>
              </a:tr>
              <a:tr h="365760">
                <a:tc>
                  <a:txBody>
                    <a:bodyPr wrap="square"/>
                    <a:lstStyle/>
                    <a:p>
                      <a:pPr algn="l"/>
                      <a:r>
                        <a:rPr sz="1350" b="0" i="0">
                          <a:solidFill>
                            <a:srgbClr val="2E3D4A"/>
                          </a:solidFill>
                          <a:latin typeface="Segoe UI"/>
                        </a:rPr>
                        <a:t>Symbols</a:t>
                      </a:r>
                    </a:p>
                  </a:txBody>
                  <a:tcPr marL="109728" marR="109728" anchor="ctr">
                    <a:solidFill>
                      <a:srgbClr val="FFFFFF"/>
                    </a:solidFill>
                  </a:tcPr>
                </a:tc>
                <a:tc>
                  <a:txBody>
                    <a:bodyPr wrap="square"/>
                    <a:lstStyle/>
                    <a:p>
                      <a:pPr algn="r"/>
                      <a:r>
                        <a:rPr sz="1350" b="0" i="0">
                          <a:solidFill>
                            <a:srgbClr val="2E3D4A"/>
                          </a:solidFill>
                          <a:latin typeface="Consolas"/>
                        </a:rPr>
                        <a:t>4 unique</a:t>
                      </a:r>
                    </a:p>
                  </a:txBody>
                  <a:tcPr marL="109728" marR="109728" anchor="ctr">
                    <a:solidFill>
                      <a:srgbClr val="FFFFFF"/>
                    </a:solidFill>
                  </a:tcPr>
                </a:tc>
              </a:tr>
              <a:tr h="365760">
                <a:tc>
                  <a:txBody>
                    <a:bodyPr wrap="square"/>
                    <a:lstStyle/>
                    <a:p>
                      <a:pPr algn="l"/>
                      <a:r>
                        <a:rPr sz="1350" b="0" i="0">
                          <a:solidFill>
                            <a:srgbClr val="2E3D4A"/>
                          </a:solidFill>
                          <a:latin typeface="Segoe UI"/>
                        </a:rPr>
                        <a:t>Accounts</a:t>
                      </a:r>
                    </a:p>
                  </a:txBody>
                  <a:tcPr marL="109728" marR="109728" anchor="ctr">
                    <a:solidFill>
                      <a:srgbClr val="FFFFFF"/>
                    </a:solidFill>
                  </a:tcPr>
                </a:tc>
                <a:tc>
                  <a:txBody>
                    <a:bodyPr wrap="square"/>
                    <a:lstStyle/>
                    <a:p>
                      <a:pPr algn="r"/>
                      <a:r>
                        <a:rPr sz="1350" b="0" i="0">
                          <a:solidFill>
                            <a:srgbClr val="2E3D4A"/>
                          </a:solidFill>
                          <a:latin typeface="Consolas"/>
                        </a:rPr>
                        <a:t>4 unique</a:t>
                      </a:r>
                    </a:p>
                  </a:txBody>
                  <a:tcPr marL="109728" marR="109728" anchor="ctr">
                    <a:solidFill>
                      <a:srgbClr val="FFFFFF"/>
                    </a:solidFill>
                  </a:tcPr>
                </a:tc>
              </a:tr>
              <a:tr h="365760">
                <a:tc>
                  <a:txBody>
                    <a:bodyPr wrap="square"/>
                    <a:lstStyle/>
                    <a:p>
                      <a:pPr algn="l"/>
                      <a:r>
                        <a:rPr sz="1350" b="0" i="0">
                          <a:solidFill>
                            <a:srgbClr val="2E3D4A"/>
                          </a:solidFill>
                          <a:latin typeface="Segoe UI"/>
                        </a:rPr>
                        <a:t>Allocations per trade</a:t>
                      </a:r>
                    </a:p>
                  </a:txBody>
                  <a:tcPr marL="109728" marR="109728" anchor="ctr">
                    <a:solidFill>
                      <a:srgbClr val="FFFFFF"/>
                    </a:solidFill>
                  </a:tcPr>
                </a:tc>
                <a:tc>
                  <a:txBody>
                    <a:bodyPr wrap="square"/>
                    <a:lstStyle/>
                    <a:p>
                      <a:pPr algn="r"/>
                      <a:r>
                        <a:rPr sz="1350" b="0" i="0">
                          <a:solidFill>
                            <a:srgbClr val="2E3D4A"/>
                          </a:solidFill>
                          <a:latin typeface="Consolas"/>
                        </a:rPr>
                        <a:t>4 (one per account)</a:t>
                      </a:r>
                    </a:p>
                  </a:txBody>
                  <a:tcPr marL="109728" marR="109728" anchor="ctr">
                    <a:solidFill>
                      <a:srgbClr val="FFFFFF"/>
                    </a:solidFill>
                  </a:tcPr>
                </a:tc>
              </a:tr>
              <a:tr h="365760">
                <a:tc>
                  <a:txBody>
                    <a:bodyPr wrap="square"/>
                    <a:lstStyle/>
                    <a:p>
                      <a:pPr algn="l"/>
                      <a:r>
                        <a:rPr sz="1350" b="1" i="0">
                          <a:solidFill>
                            <a:srgbClr val="14222E"/>
                          </a:solidFill>
                          <a:latin typeface="Segoe UI"/>
                        </a:rPr>
                        <a:t>Window</a:t>
                      </a:r>
                    </a:p>
                  </a:txBody>
                  <a:tcPr marL="109728" marR="109728" anchor="ctr">
                    <a:solidFill>
                      <a:srgbClr val="F2F5F7"/>
                    </a:solidFill>
                  </a:tcPr>
                </a:tc>
                <a:tc>
                  <a:txBody>
                    <a:bodyPr wrap="square"/>
                    <a:lstStyle/>
                    <a:p>
                      <a:pPr algn="r"/>
                      <a:r>
                        <a:rPr sz="1350" b="1" i="0">
                          <a:solidFill>
                            <a:srgbClr val="14222E"/>
                          </a:solidFill>
                          <a:latin typeface="Consolas"/>
                        </a:rPr>
                        <a:t>10 s  (spec: 1 min)</a:t>
                      </a:r>
                    </a:p>
                  </a:txBody>
                  <a:tcPr marL="109728" marR="109728" anchor="ctr">
                    <a:solidFill>
                      <a:srgbClr val="F2F5F7"/>
                    </a:solidFill>
                  </a:tcPr>
                </a:tc>
              </a:tr>
              <a:tr h="365760">
                <a:tc>
                  <a:txBody>
                    <a:bodyPr wrap="square"/>
                    <a:lstStyle/>
                    <a:p>
                      <a:pPr algn="l"/>
                      <a:r>
                        <a:rPr sz="1350" b="1" i="0">
                          <a:solidFill>
                            <a:srgbClr val="14222E"/>
                          </a:solidFill>
                          <a:latin typeface="Segoe UI"/>
                        </a:rPr>
                        <a:t>Checkpoint interval</a:t>
                      </a:r>
                    </a:p>
                  </a:txBody>
                  <a:tcPr marL="109728" marR="109728" anchor="ctr">
                    <a:solidFill>
                      <a:srgbClr val="F2F5F7"/>
                    </a:solidFill>
                  </a:tcPr>
                </a:tc>
                <a:tc>
                  <a:txBody>
                    <a:bodyPr wrap="square"/>
                    <a:lstStyle/>
                    <a:p>
                      <a:pPr algn="r"/>
                      <a:r>
                        <a:rPr sz="1350" b="1" i="0">
                          <a:solidFill>
                            <a:srgbClr val="14222E"/>
                          </a:solidFill>
                          <a:latin typeface="Consolas"/>
                        </a:rPr>
                        <a:t>1 s</a:t>
                      </a:r>
                    </a:p>
                  </a:txBody>
                  <a:tcPr marL="109728" marR="109728" anchor="ctr">
                    <a:solidFill>
                      <a:srgbClr val="F2F5F7"/>
                    </a:solidFill>
                  </a:tcPr>
                </a:tc>
              </a:tr>
            </a:tbl>
          </a:graphicData>
        </a:graphic>
      </p:graphicFrame>
      <p:graphicFrame>
        <p:nvGraphicFramePr>
          <p:cNvPr id="6" name="Table 5"/>
          <p:cNvGraphicFramePr>
            <a:graphicFrameLocks noGrp="1"/>
          </p:cNvGraphicFramePr>
          <p:nvPr/>
        </p:nvGraphicFramePr>
        <p:xfrm>
          <a:off x="5806440" y="1746504"/>
          <a:ext cx="5760720" cy="1865376"/>
        </p:xfrm>
        <a:graphic>
          <a:graphicData uri="http://schemas.openxmlformats.org/drawingml/2006/table">
            <a:tbl>
              <a:tblPr bandRow="1">
                <a:tableStyleId>{5C22544A-7EE6-4342-B048-85BDC9FD1C3A}</a:tableStyleId>
              </a:tblPr>
              <a:tblGrid>
                <a:gridCol w="411480"/>
                <a:gridCol w="2788920"/>
                <a:gridCol w="1737360"/>
                <a:gridCol w="822960"/>
              </a:tblGrid>
              <a:tr h="402336">
                <a:tc>
                  <a:txBody>
                    <a:bodyPr wrap="square"/>
                    <a:lstStyle/>
                    <a:p>
                      <a:pPr algn="l"/>
                      <a:r>
                        <a:rPr sz="1350" b="1" i="0">
                          <a:solidFill>
                            <a:srgbClr val="FFFFFF"/>
                          </a:solidFill>
                          <a:latin typeface="Segoe UI"/>
                        </a:rPr>
                        <a:t>#</a:t>
                      </a:r>
                    </a:p>
                  </a:txBody>
                  <a:tcPr marL="109728" marR="109728" anchor="ctr">
                    <a:solidFill>
                      <a:srgbClr val="14222E"/>
                    </a:solidFill>
                  </a:tcPr>
                </a:tc>
                <a:tc>
                  <a:txBody>
                    <a:bodyPr wrap="square"/>
                    <a:lstStyle/>
                    <a:p>
                      <a:pPr algn="r"/>
                      <a:r>
                        <a:rPr sz="1350" b="1" i="0">
                          <a:solidFill>
                            <a:srgbClr val="FFFFFF"/>
                          </a:solidFill>
                          <a:latin typeface="Segoe UI"/>
                        </a:rPr>
                        <a:t>Sink</a:t>
                      </a:r>
                    </a:p>
                  </a:txBody>
                  <a:tcPr marL="109728" marR="109728" anchor="ctr">
                    <a:solidFill>
                      <a:srgbClr val="14222E"/>
                    </a:solidFill>
                  </a:tcPr>
                </a:tc>
                <a:tc>
                  <a:txBody>
                    <a:bodyPr wrap="square"/>
                    <a:lstStyle/>
                    <a:p>
                      <a:pPr algn="r"/>
                      <a:r>
                        <a:rPr sz="1350" b="1" i="0">
                          <a:solidFill>
                            <a:srgbClr val="FFFFFF"/>
                          </a:solidFill>
                          <a:latin typeface="Segoe UI"/>
                        </a:rPr>
                        <a:t>Rate in the demo</a:t>
                      </a:r>
                    </a:p>
                  </a:txBody>
                  <a:tcPr marL="109728" marR="109728" anchor="ctr">
                    <a:solidFill>
                      <a:srgbClr val="14222E"/>
                    </a:solidFill>
                  </a:tcPr>
                </a:tc>
                <a:tc>
                  <a:txBody>
                    <a:bodyPr wrap="square"/>
                    <a:lstStyle/>
                    <a:p>
                      <a:pPr algn="r"/>
                      <a:r>
                        <a:rPr sz="1350" b="1" i="0">
                          <a:solidFill>
                            <a:srgbClr val="FFFFFF"/>
                          </a:solidFill>
                          <a:latin typeface="Segoe UI"/>
                        </a:rPr>
                        <a:t>Keys</a:t>
                      </a:r>
                    </a:p>
                  </a:txBody>
                  <a:tcPr marL="109728" marR="109728" anchor="ctr">
                    <a:solidFill>
                      <a:srgbClr val="14222E"/>
                    </a:solidFill>
                  </a:tcPr>
                </a:tc>
              </a:tr>
              <a:tr h="365760">
                <a:tc>
                  <a:txBody>
                    <a:bodyPr wrap="square"/>
                    <a:lstStyle/>
                    <a:p>
                      <a:pPr algn="l"/>
                      <a:r>
                        <a:rPr sz="1350" b="0" i="0">
                          <a:solidFill>
                            <a:srgbClr val="2E3D4A"/>
                          </a:solidFill>
                          <a:latin typeface="Segoe UI"/>
                        </a:rPr>
                        <a:t>3</a:t>
                      </a:r>
                    </a:p>
                  </a:txBody>
                  <a:tcPr marL="109728" marR="109728" anchor="ctr">
                    <a:solidFill>
                      <a:srgbClr val="FFFFFF"/>
                    </a:solidFill>
                  </a:tcPr>
                </a:tc>
                <a:tc>
                  <a:txBody>
                    <a:bodyPr wrap="square"/>
                    <a:lstStyle/>
                    <a:p>
                      <a:pPr algn="r"/>
                      <a:r>
                        <a:rPr sz="1350" b="0" i="0">
                          <a:solidFill>
                            <a:srgbClr val="2E3D4A"/>
                          </a:solidFill>
                          <a:latin typeface="Consolas"/>
                        </a:rPr>
                        <a:t>positions-by-symbol</a:t>
                      </a:r>
                    </a:p>
                  </a:txBody>
                  <a:tcPr marL="109728" marR="109728" anchor="ctr">
                    <a:solidFill>
                      <a:srgbClr val="FFFFFF"/>
                    </a:solidFill>
                  </a:tcPr>
                </a:tc>
                <a:tc>
                  <a:txBody>
                    <a:bodyPr wrap="square"/>
                    <a:lstStyle/>
                    <a:p>
                      <a:pPr algn="r"/>
                      <a:r>
                        <a:rPr sz="1350" b="0" i="0">
                          <a:solidFill>
                            <a:srgbClr val="2E3D4A"/>
                          </a:solidFill>
                          <a:latin typeface="Consolas"/>
                        </a:rPr>
                        <a:t>10 / sec</a:t>
                      </a:r>
                    </a:p>
                  </a:txBody>
                  <a:tcPr marL="109728" marR="109728" anchor="ctr">
                    <a:solidFill>
                      <a:srgbClr val="FFFFFF"/>
                    </a:solidFill>
                  </a:tcPr>
                </a:tc>
                <a:tc>
                  <a:txBody>
                    <a:bodyPr wrap="square"/>
                    <a:lstStyle/>
                    <a:p>
                      <a:pPr algn="r"/>
                      <a:r>
                        <a:rPr sz="1350" b="0" i="0">
                          <a:solidFill>
                            <a:srgbClr val="2E3D4A"/>
                          </a:solidFill>
                          <a:latin typeface="Consolas"/>
                        </a:rPr>
                        <a:t>4</a:t>
                      </a:r>
                    </a:p>
                  </a:txBody>
                  <a:tcPr marL="109728" marR="109728" anchor="ctr">
                    <a:solidFill>
                      <a:srgbClr val="FFFFFF"/>
                    </a:solidFill>
                  </a:tcPr>
                </a:tc>
              </a:tr>
              <a:tr h="365760">
                <a:tc>
                  <a:txBody>
                    <a:bodyPr wrap="square"/>
                    <a:lstStyle/>
                    <a:p>
                      <a:pPr algn="l"/>
                      <a:r>
                        <a:rPr sz="1350" b="0" i="0">
                          <a:solidFill>
                            <a:srgbClr val="2E3D4A"/>
                          </a:solidFill>
                          <a:latin typeface="Segoe UI"/>
                        </a:rPr>
                        <a:t>4</a:t>
                      </a:r>
                    </a:p>
                  </a:txBody>
                  <a:tcPr marL="109728" marR="109728" anchor="ctr">
                    <a:solidFill>
                      <a:srgbClr val="FFFFFF"/>
                    </a:solidFill>
                  </a:tcPr>
                </a:tc>
                <a:tc>
                  <a:txBody>
                    <a:bodyPr wrap="square"/>
                    <a:lstStyle/>
                    <a:p>
                      <a:pPr algn="r"/>
                      <a:r>
                        <a:rPr sz="1350" b="0" i="0">
                          <a:solidFill>
                            <a:srgbClr val="2E3D4A"/>
                          </a:solidFill>
                          <a:latin typeface="Consolas"/>
                        </a:rPr>
                        <a:t>positions-by-account</a:t>
                      </a:r>
                    </a:p>
                  </a:txBody>
                  <a:tcPr marL="109728" marR="109728" anchor="ctr">
                    <a:solidFill>
                      <a:srgbClr val="FFFFFF"/>
                    </a:solidFill>
                  </a:tcPr>
                </a:tc>
                <a:tc>
                  <a:txBody>
                    <a:bodyPr wrap="square"/>
                    <a:lstStyle/>
                    <a:p>
                      <a:pPr algn="r"/>
                      <a:r>
                        <a:rPr sz="1350" b="0" i="0">
                          <a:solidFill>
                            <a:srgbClr val="2E3D4A"/>
                          </a:solidFill>
                          <a:latin typeface="Consolas"/>
                        </a:rPr>
                        <a:t>40 / sec</a:t>
                      </a:r>
                    </a:p>
                  </a:txBody>
                  <a:tcPr marL="109728" marR="109728" anchor="ctr">
                    <a:solidFill>
                      <a:srgbClr val="FFFFFF"/>
                    </a:solidFill>
                  </a:tcPr>
                </a:tc>
                <a:tc>
                  <a:txBody>
                    <a:bodyPr wrap="square"/>
                    <a:lstStyle/>
                    <a:p>
                      <a:pPr algn="r"/>
                      <a:r>
                        <a:rPr sz="1350" b="0" i="0">
                          <a:solidFill>
                            <a:srgbClr val="2E3D4A"/>
                          </a:solidFill>
                          <a:latin typeface="Consolas"/>
                        </a:rPr>
                        <a:t>16</a:t>
                      </a:r>
                    </a:p>
                  </a:txBody>
                  <a:tcPr marL="109728" marR="109728" anchor="ctr">
                    <a:solidFill>
                      <a:srgbClr val="FFFFFF"/>
                    </a:solidFill>
                  </a:tcPr>
                </a:tc>
              </a:tr>
              <a:tr h="365760">
                <a:tc>
                  <a:txBody>
                    <a:bodyPr wrap="square"/>
                    <a:lstStyle/>
                    <a:p>
                      <a:pPr algn="l"/>
                      <a:r>
                        <a:rPr sz="1350" b="0" i="0">
                          <a:solidFill>
                            <a:srgbClr val="2E3D4A"/>
                          </a:solidFill>
                          <a:latin typeface="Segoe UI"/>
                        </a:rPr>
                        <a:t>5</a:t>
                      </a:r>
                    </a:p>
                  </a:txBody>
                  <a:tcPr marL="109728" marR="109728" anchor="ctr">
                    <a:solidFill>
                      <a:srgbClr val="FFFFFF"/>
                    </a:solidFill>
                  </a:tcPr>
                </a:tc>
                <a:tc>
                  <a:txBody>
                    <a:bodyPr wrap="square"/>
                    <a:lstStyle/>
                    <a:p>
                      <a:pPr algn="r"/>
                      <a:r>
                        <a:rPr sz="1350" b="0" i="0">
                          <a:solidFill>
                            <a:srgbClr val="2E3D4A"/>
                          </a:solidFill>
                          <a:latin typeface="Consolas"/>
                        </a:rPr>
                        <a:t>mv-by-symbol</a:t>
                      </a:r>
                    </a:p>
                  </a:txBody>
                  <a:tcPr marL="109728" marR="109728" anchor="ctr">
                    <a:solidFill>
                      <a:srgbClr val="FFFFFF"/>
                    </a:solidFill>
                  </a:tcPr>
                </a:tc>
                <a:tc>
                  <a:txBody>
                    <a:bodyPr wrap="square"/>
                    <a:lstStyle/>
                    <a:p>
                      <a:pPr algn="r"/>
                      <a:r>
                        <a:rPr sz="1350" b="0" i="0">
                          <a:solidFill>
                            <a:srgbClr val="2E3D4A"/>
                          </a:solidFill>
                          <a:latin typeface="Consolas"/>
                        </a:rPr>
                        <a:t>4 per 10 s</a:t>
                      </a:r>
                    </a:p>
                  </a:txBody>
                  <a:tcPr marL="109728" marR="109728" anchor="ctr">
                    <a:solidFill>
                      <a:srgbClr val="FFFFFF"/>
                    </a:solidFill>
                  </a:tcPr>
                </a:tc>
                <a:tc>
                  <a:txBody>
                    <a:bodyPr wrap="square"/>
                    <a:lstStyle/>
                    <a:p>
                      <a:pPr algn="r"/>
                      <a:r>
                        <a:rPr sz="1350" b="0" i="0">
                          <a:solidFill>
                            <a:srgbClr val="2E3D4A"/>
                          </a:solidFill>
                          <a:latin typeface="Consolas"/>
                        </a:rPr>
                        <a:t>4</a:t>
                      </a:r>
                    </a:p>
                  </a:txBody>
                  <a:tcPr marL="109728" marR="109728" anchor="ctr">
                    <a:solidFill>
                      <a:srgbClr val="FFFFFF"/>
                    </a:solidFill>
                  </a:tcPr>
                </a:tc>
              </a:tr>
              <a:tr h="365760">
                <a:tc>
                  <a:txBody>
                    <a:bodyPr wrap="square"/>
                    <a:lstStyle/>
                    <a:p>
                      <a:pPr algn="l"/>
                      <a:r>
                        <a:rPr sz="1350" b="0" i="0">
                          <a:solidFill>
                            <a:srgbClr val="2E3D4A"/>
                          </a:solidFill>
                          <a:latin typeface="Segoe UI"/>
                        </a:rPr>
                        <a:t>6</a:t>
                      </a:r>
                    </a:p>
                  </a:txBody>
                  <a:tcPr marL="109728" marR="109728" anchor="ctr">
                    <a:solidFill>
                      <a:srgbClr val="FFFFFF"/>
                    </a:solidFill>
                  </a:tcPr>
                </a:tc>
                <a:tc>
                  <a:txBody>
                    <a:bodyPr wrap="square"/>
                    <a:lstStyle/>
                    <a:p>
                      <a:pPr algn="r"/>
                      <a:r>
                        <a:rPr sz="1350" b="0" i="0">
                          <a:solidFill>
                            <a:srgbClr val="2E3D4A"/>
                          </a:solidFill>
                          <a:latin typeface="Consolas"/>
                        </a:rPr>
                        <a:t>mv-by-account</a:t>
                      </a:r>
                    </a:p>
                  </a:txBody>
                  <a:tcPr marL="109728" marR="109728" anchor="ctr">
                    <a:solidFill>
                      <a:srgbClr val="FFFFFF"/>
                    </a:solidFill>
                  </a:tcPr>
                </a:tc>
                <a:tc>
                  <a:txBody>
                    <a:bodyPr wrap="square"/>
                    <a:lstStyle/>
                    <a:p>
                      <a:pPr algn="r"/>
                      <a:r>
                        <a:rPr sz="1350" b="0" i="0">
                          <a:solidFill>
                            <a:srgbClr val="2E3D4A"/>
                          </a:solidFill>
                          <a:latin typeface="Consolas"/>
                        </a:rPr>
                        <a:t>16 per 10 s</a:t>
                      </a:r>
                    </a:p>
                  </a:txBody>
                  <a:tcPr marL="109728" marR="109728" anchor="ctr">
                    <a:solidFill>
                      <a:srgbClr val="FFFFFF"/>
                    </a:solidFill>
                  </a:tcPr>
                </a:tc>
                <a:tc>
                  <a:txBody>
                    <a:bodyPr wrap="square"/>
                    <a:lstStyle/>
                    <a:p>
                      <a:pPr algn="r"/>
                      <a:r>
                        <a:rPr sz="1350" b="0" i="0">
                          <a:solidFill>
                            <a:srgbClr val="2E3D4A"/>
                          </a:solidFill>
                          <a:latin typeface="Consolas"/>
                        </a:rPr>
                        <a:t>16</a:t>
                      </a:r>
                    </a:p>
                  </a:txBody>
                  <a:tcPr marL="109728" marR="109728" anchor="ctr">
                    <a:solidFill>
                      <a:srgbClr val="FFFFFF"/>
                    </a:solidFill>
                  </a:tcPr>
                </a:tc>
              </a:tr>
            </a:tbl>
          </a:graphicData>
        </a:graphic>
      </p:graphicFrame>
      <p:sp>
        <p:nvSpPr>
          <p:cNvPr id="7" name="TextBox 6"/>
          <p:cNvSpPr txBox="1"/>
          <p:nvPr/>
        </p:nvSpPr>
        <p:spPr>
          <a:xfrm>
            <a:off x="685800" y="5394960"/>
            <a:ext cx="10881360" cy="822960"/>
          </a:xfrm>
          <a:prstGeom prst="rect">
            <a:avLst/>
          </a:prstGeom>
          <a:noFill/>
        </p:spPr>
        <p:txBody>
          <a:bodyPr wrap="square">
            <a:spAutoFit/>
          </a:bodyPr>
          <a:lstStyle/>
          <a:p>
            <a:pPr algn="l"/>
            <a:r>
              <a:rPr sz="1350" b="0" i="0">
                <a:solidFill>
                  <a:srgbClr val="2C6E49"/>
                </a:solidFill>
                <a:latin typeface="Segoe UI"/>
              </a:rPr>
              <a:t>The window is 10 s for the demo so the market value sinks say something without a minute of waiting — the job defaults to the specified minute, and the calculation is identical either way. Committing to these numbers before the run is what makes the demo a verification rather than a tour; scripts/verify-topics.sh checks every one of them against the real topics, on every push.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22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05840" y="2377440"/>
            <a:ext cx="10241280" cy="1828800"/>
          </a:xfrm>
          <a:prstGeom prst="rect">
            <a:avLst/>
          </a:prstGeom>
          <a:noFill/>
        </p:spPr>
        <p:txBody>
          <a:bodyPr wrap="square">
            <a:spAutoFit/>
          </a:bodyPr>
          <a:lstStyle/>
          <a:p>
            <a:pPr algn="l"/>
            <a:r>
              <a:rPr sz="1300" b="1" i="0" spc="200">
                <a:solidFill>
                  <a:srgbClr val="7FB6CB"/>
                </a:solidFill>
                <a:latin typeface="Segoe UI"/>
              </a:rPr>
              <a:t>LIVE</a:t>
            </a:r>
          </a:p>
          <a:p>
            <a:r>
              <a:rPr sz="3400" b="1" i="0">
                <a:solidFill>
                  <a:srgbClr val="FFFFFF"/>
                </a:solidFill>
                <a:latin typeface="Segoe UI"/>
              </a:rPr>
              <a:t>Start the generators, then switch to Grafana</a:t>
            </a:r>
          </a:p>
          <a:p>
            <a:pPr>
              <a:spcBef>
                <a:spcPts val="1600"/>
              </a:spcBef>
            </a:pPr>
            <a:r>
              <a:rPr sz="1500" b="0" i="0">
                <a:solidFill>
                  <a:srgbClr val="B9C6D0"/>
                </a:solidFill>
                <a:latin typeface="Consolas"/>
              </a:rPr>
              <a:t>docker compose -f docker/compose.yml up -d --build     →     ./scripts/start-generators.sh</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75488"/>
            <a:ext cx="10972800" cy="274320"/>
          </a:xfrm>
          <a:prstGeom prst="rect">
            <a:avLst/>
          </a:prstGeom>
          <a:noFill/>
        </p:spPr>
        <p:txBody>
          <a:bodyPr wrap="square">
            <a:spAutoFit/>
          </a:bodyPr>
          <a:lstStyle/>
          <a:p>
            <a:pPr algn="l"/>
            <a:r>
              <a:rPr sz="1150" b="1" i="0" spc="120">
                <a:solidFill>
                  <a:srgbClr val="1B6B8A"/>
                </a:solidFill>
                <a:latin typeface="Segoe UI"/>
              </a:rPr>
              <a:t>EXPLAIN IT</a:t>
            </a:r>
          </a:p>
        </p:txBody>
      </p:sp>
      <p:sp>
        <p:nvSpPr>
          <p:cNvPr id="3" name="TextBox 2"/>
          <p:cNvSpPr txBox="1"/>
          <p:nvPr/>
        </p:nvSpPr>
        <p:spPr>
          <a:xfrm>
            <a:off x="640080" y="786384"/>
            <a:ext cx="10972800" cy="731520"/>
          </a:xfrm>
          <a:prstGeom prst="rect">
            <a:avLst/>
          </a:prstGeom>
          <a:noFill/>
        </p:spPr>
        <p:txBody>
          <a:bodyPr wrap="square">
            <a:spAutoFit/>
          </a:bodyPr>
          <a:lstStyle/>
          <a:p>
            <a:pPr algn="l"/>
            <a:r>
              <a:rPr sz="3000" b="1" i="0">
                <a:solidFill>
                  <a:srgbClr val="14222E"/>
                </a:solidFill>
                <a:latin typeface="Segoe UI"/>
              </a:rPr>
              <a:t>Every number on the screen has an answer</a:t>
            </a:r>
          </a:p>
        </p:txBody>
      </p:sp>
      <p:sp>
        <p:nvSpPr>
          <p:cNvPr id="4" name="Rectangle 3"/>
          <p:cNvSpPr/>
          <p:nvPr/>
        </p:nvSpPr>
        <p:spPr>
          <a:xfrm>
            <a:off x="640080" y="1444752"/>
            <a:ext cx="10908792" cy="12700"/>
          </a:xfrm>
          <a:prstGeom prst="rect">
            <a:avLst/>
          </a:prstGeom>
          <a:solidFill>
            <a:srgbClr val="D8DF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1746504"/>
            <a:ext cx="10881360" cy="3840480"/>
          </a:xfrm>
          <a:prstGeom prst="rect">
            <a:avLst/>
          </a:prstGeom>
          <a:noFill/>
        </p:spPr>
        <p:txBody>
          <a:bodyPr wrap="square">
            <a:spAutoFit/>
          </a:bodyPr>
          <a:lstStyle/>
          <a:p>
            <a:pPr algn="l">
              <a:spcAft>
                <a:spcPts val="1400"/>
              </a:spcAft>
            </a:pPr>
            <a:r>
              <a:rPr sz="1700" b="1" i="0">
                <a:solidFill>
                  <a:srgbClr val="1B6B8A"/>
                </a:solidFill>
                <a:latin typeface="Segoe UI"/>
              </a:rPr>
              <a:t>▸   </a:t>
            </a:r>
            <a:r>
              <a:rPr sz="1700" b="1" i="0">
                <a:solidFill>
                  <a:srgbClr val="14222E"/>
                </a:solidFill>
                <a:latin typeface="Segoe UI"/>
              </a:rPr>
              <a:t>Why does sink 4 update four times as often as sink 3?  </a:t>
            </a:r>
            <a:r>
              <a:rPr sz="1700" b="0" i="0">
                <a:solidFill>
                  <a:srgbClr val="2E3D4A"/>
                </a:solidFill>
                <a:latin typeface="Segoe UI"/>
              </a:rPr>
              <a:t>Every block trade splits across four accounts. The quantities reconcile; the counts differ by design.</a:t>
            </a:r>
          </a:p>
          <a:p>
            <a:pPr>
              <a:spcAft>
                <a:spcPts val="1400"/>
              </a:spcAft>
            </a:pPr>
            <a:r>
              <a:rPr sz="1700" b="1" i="0">
                <a:solidFill>
                  <a:srgbClr val="1B6B8A"/>
                </a:solidFill>
                <a:latin typeface="Segoe UI"/>
              </a:rPr>
              <a:t>▸   </a:t>
            </a:r>
            <a:r>
              <a:rPr sz="1700" b="1" i="0">
                <a:solidFill>
                  <a:srgbClr val="14222E"/>
                </a:solidFill>
                <a:latin typeface="Segoe UI"/>
              </a:rPr>
              <a:t>Why do the market value sinks look like steps?  </a:t>
            </a:r>
            <a:r>
              <a:rPr sz="1700" b="0" i="0">
                <a:solidFill>
                  <a:srgbClr val="2E3D4A"/>
                </a:solidFill>
                <a:latin typeface="Segoe UI"/>
              </a:rPr>
              <a:t>They emit once per key per window, not continuously.</a:t>
            </a:r>
          </a:p>
          <a:p>
            <a:pPr>
              <a:spcAft>
                <a:spcPts val="1400"/>
              </a:spcAft>
            </a:pPr>
            <a:r>
              <a:rPr sz="1700" b="1" i="0">
                <a:solidFill>
                  <a:srgbClr val="1B6B8A"/>
                </a:solidFill>
                <a:latin typeface="Segoe UI"/>
              </a:rPr>
              <a:t>▸   </a:t>
            </a:r>
            <a:r>
              <a:rPr sz="1700" b="1" i="0">
                <a:solidFill>
                  <a:srgbClr val="14222E"/>
                </a:solidFill>
                <a:latin typeface="Segoe UI"/>
              </a:rPr>
              <a:t>Why is there one aborted checkpoint?  </a:t>
            </a:r>
            <a:r>
              <a:rPr sz="1700" b="0" i="0">
                <a:solidFill>
                  <a:srgbClr val="2E3D4A"/>
                </a:solidFill>
                <a:latin typeface="Segoe UI"/>
              </a:rPr>
              <a:t>At startup the first checkpoint triggers before every task is running. Harmless, and the panel says so.</a:t>
            </a:r>
          </a:p>
        </p:txBody>
      </p:sp>
      <p:sp>
        <p:nvSpPr>
          <p:cNvPr id="6" name="TextBox 5"/>
          <p:cNvSpPr txBox="1"/>
          <p:nvPr/>
        </p:nvSpPr>
        <p:spPr>
          <a:xfrm>
            <a:off x="685800" y="4123944"/>
            <a:ext cx="10881360" cy="1463040"/>
          </a:xfrm>
          <a:prstGeom prst="rect">
            <a:avLst/>
          </a:prstGeom>
          <a:noFill/>
        </p:spPr>
        <p:txBody>
          <a:bodyPr wrap="square">
            <a:spAutoFit/>
          </a:bodyPr>
          <a:lstStyle/>
          <a:p>
            <a:pPr algn="l"/>
            <a:r>
              <a:rPr sz="1500" b="0" i="0">
                <a:solidFill>
                  <a:srgbClr val="2E3D4A"/>
                </a:solidFill>
                <a:latin typeface="Segoe UI"/>
              </a:rPr>
              <a:t>The requirement is to be able to explain any number on the dashboard, and if a question cannot be answered, to change the logging until it can. The aborted-checkpoint panel is an example of that going the other way first: it originally implied the guarantee was being retried, which would have raised a false alarm mid-demo.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75488"/>
            <a:ext cx="10972800" cy="274320"/>
          </a:xfrm>
          <a:prstGeom prst="rect">
            <a:avLst/>
          </a:prstGeom>
          <a:noFill/>
        </p:spPr>
        <p:txBody>
          <a:bodyPr wrap="square">
            <a:spAutoFit/>
          </a:bodyPr>
          <a:lstStyle/>
          <a:p>
            <a:pPr algn="l"/>
            <a:r>
              <a:rPr sz="1150" b="1" i="0" spc="120">
                <a:solidFill>
                  <a:srgbClr val="1B6B8A"/>
                </a:solidFill>
                <a:latin typeface="Segoe UI"/>
              </a:rPr>
              <a:t>CORRECTNESS UNDER FAILURE</a:t>
            </a:r>
          </a:p>
        </p:txBody>
      </p:sp>
      <p:sp>
        <p:nvSpPr>
          <p:cNvPr id="3" name="TextBox 2"/>
          <p:cNvSpPr txBox="1"/>
          <p:nvPr/>
        </p:nvSpPr>
        <p:spPr>
          <a:xfrm>
            <a:off x="640080" y="786384"/>
            <a:ext cx="10972800" cy="731520"/>
          </a:xfrm>
          <a:prstGeom prst="rect">
            <a:avLst/>
          </a:prstGeom>
          <a:noFill/>
        </p:spPr>
        <p:txBody>
          <a:bodyPr wrap="square">
            <a:spAutoFit/>
          </a:bodyPr>
          <a:lstStyle/>
          <a:p>
            <a:pPr algn="l"/>
            <a:r>
              <a:rPr sz="3000" b="1" i="0">
                <a:solidFill>
                  <a:srgbClr val="14222E"/>
                </a:solidFill>
                <a:latin typeface="Segoe UI"/>
              </a:rPr>
              <a:t>A replayed record is a wrong number, not a duplicate</a:t>
            </a:r>
          </a:p>
        </p:txBody>
      </p:sp>
      <p:sp>
        <p:nvSpPr>
          <p:cNvPr id="4" name="Rectangle 3"/>
          <p:cNvSpPr/>
          <p:nvPr/>
        </p:nvSpPr>
        <p:spPr>
          <a:xfrm>
            <a:off x="640080" y="1444752"/>
            <a:ext cx="10908792" cy="12700"/>
          </a:xfrm>
          <a:prstGeom prst="rect">
            <a:avLst/>
          </a:prstGeom>
          <a:solidFill>
            <a:srgbClr val="D8DF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1746504"/>
            <a:ext cx="10881360" cy="3840480"/>
          </a:xfrm>
          <a:prstGeom prst="rect">
            <a:avLst/>
          </a:prstGeom>
          <a:noFill/>
        </p:spPr>
        <p:txBody>
          <a:bodyPr wrap="square">
            <a:spAutoFit/>
          </a:bodyPr>
          <a:lstStyle/>
          <a:p>
            <a:pPr algn="l">
              <a:spcAft>
                <a:spcPts val="1400"/>
              </a:spcAft>
            </a:pPr>
            <a:r>
              <a:rPr sz="1700" b="1" i="0">
                <a:solidFill>
                  <a:srgbClr val="1B6B8A"/>
                </a:solidFill>
                <a:latin typeface="Segoe UI"/>
              </a:rPr>
              <a:t>▸   </a:t>
            </a:r>
            <a:r>
              <a:rPr sz="1700" b="1" i="0">
                <a:solidFill>
                  <a:srgbClr val="14222E"/>
                </a:solidFill>
                <a:latin typeface="Segoe UI"/>
              </a:rPr>
              <a:t>A position is a running sum.  </a:t>
            </a:r>
            <a:r>
              <a:rPr sz="1700" b="0" i="0">
                <a:solidFill>
                  <a:srgbClr val="2E3D4A"/>
                </a:solidFill>
                <a:latin typeface="Segoe UI"/>
              </a:rPr>
              <a:t>At-least-once would silently corrupt it — and a wrong number is harder to spot than a missing one.</a:t>
            </a:r>
          </a:p>
          <a:p>
            <a:pPr>
              <a:spcAft>
                <a:spcPts val="1400"/>
              </a:spcAft>
            </a:pPr>
            <a:r>
              <a:rPr sz="1700" b="1" i="0">
                <a:solidFill>
                  <a:srgbClr val="1B6B8A"/>
                </a:solidFill>
                <a:latin typeface="Segoe UI"/>
              </a:rPr>
              <a:t>▸   </a:t>
            </a:r>
            <a:r>
              <a:rPr sz="1700" b="1" i="0">
                <a:solidFill>
                  <a:srgbClr val="14222E"/>
                </a:solidFill>
                <a:latin typeface="Segoe UI"/>
              </a:rPr>
              <a:t>EXACTLY_ONCE, one transactional id prefix per sink.  </a:t>
            </a:r>
            <a:r>
              <a:rPr sz="1700" b="0" i="0">
                <a:solidFill>
                  <a:srgbClr val="2E3D4A"/>
                </a:solidFill>
                <a:latin typeface="Segoe UI"/>
              </a:rPr>
              <a:t>Every reader in the verification path uses read_committed.</a:t>
            </a:r>
          </a:p>
          <a:p>
            <a:pPr>
              <a:spcAft>
                <a:spcPts val="1400"/>
              </a:spcAft>
            </a:pPr>
            <a:r>
              <a:rPr sz="1700" b="1" i="0">
                <a:solidFill>
                  <a:srgbClr val="1B6B8A"/>
                </a:solidFill>
                <a:latin typeface="Segoe UI"/>
              </a:rPr>
              <a:t>▸   </a:t>
            </a:r>
            <a:r>
              <a:rPr sz="1700" b="1" i="0">
                <a:solidFill>
                  <a:srgbClr val="14222E"/>
                </a:solidFill>
                <a:latin typeface="Segoe UI"/>
              </a:rPr>
              <a:t>Proved by breaking it.  </a:t>
            </a:r>
            <a:r>
              <a:rPr sz="1700" b="0" i="0">
                <a:solidFill>
                  <a:srgbClr val="2E3D4A"/>
                </a:solidFill>
                <a:latin typeface="Segoe UI"/>
              </a:rPr>
              <a:t>scripts/chaos-exactly-once.sh kills a task manager mid-run; the job recovers from checkpoint and the totals still reconcile.</a:t>
            </a:r>
          </a:p>
        </p:txBody>
      </p:sp>
      <p:sp>
        <p:nvSpPr>
          <p:cNvPr id="6" name="TextBox 5"/>
          <p:cNvSpPr txBox="1"/>
          <p:nvPr/>
        </p:nvSpPr>
        <p:spPr>
          <a:xfrm>
            <a:off x="685800" y="4123944"/>
            <a:ext cx="10881360" cy="1463040"/>
          </a:xfrm>
          <a:prstGeom prst="rect">
            <a:avLst/>
          </a:prstGeom>
          <a:noFill/>
        </p:spPr>
        <p:txBody>
          <a:bodyPr wrap="square">
            <a:spAutoFit/>
          </a:bodyPr>
          <a:lstStyle/>
          <a:p>
            <a:pPr algn="l"/>
            <a:r>
              <a:rPr sz="1500" b="0" i="0">
                <a:solidFill>
                  <a:srgbClr val="2E3D4A"/>
                </a:solidFill>
                <a:latin typeface="Segoe UI"/>
              </a:rPr>
              <a:t>Exactly-once is a claim about what happens when something fails, so without a failure the setting is untested and at-least-once looks identical. That is why the proof is a chaos script rather than a configuration screenshot. It also has a visible cost, which the next slide is about.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75488"/>
            <a:ext cx="10972800" cy="274320"/>
          </a:xfrm>
          <a:prstGeom prst="rect">
            <a:avLst/>
          </a:prstGeom>
          <a:noFill/>
        </p:spPr>
        <p:txBody>
          <a:bodyPr wrap="square">
            <a:spAutoFit/>
          </a:bodyPr>
          <a:lstStyle/>
          <a:p>
            <a:pPr algn="l"/>
            <a:r>
              <a:rPr sz="1150" b="1" i="0" spc="120">
                <a:solidFill>
                  <a:srgbClr val="1B6B8A"/>
                </a:solidFill>
                <a:latin typeface="Segoe UI"/>
              </a:rPr>
              <a:t>LATENCY</a:t>
            </a:r>
          </a:p>
        </p:txBody>
      </p:sp>
      <p:sp>
        <p:nvSpPr>
          <p:cNvPr id="3" name="TextBox 2"/>
          <p:cNvSpPr txBox="1"/>
          <p:nvPr/>
        </p:nvSpPr>
        <p:spPr>
          <a:xfrm>
            <a:off x="640080" y="786384"/>
            <a:ext cx="10972800" cy="731520"/>
          </a:xfrm>
          <a:prstGeom prst="rect">
            <a:avLst/>
          </a:prstGeom>
          <a:noFill/>
        </p:spPr>
        <p:txBody>
          <a:bodyPr wrap="square">
            <a:spAutoFit/>
          </a:bodyPr>
          <a:lstStyle/>
          <a:p>
            <a:pPr algn="l"/>
            <a:r>
              <a:rPr sz="3000" b="1" i="0">
                <a:solidFill>
                  <a:srgbClr val="14222E"/>
                </a:solidFill>
                <a:latin typeface="Segoe UI"/>
              </a:rPr>
              <a:t>Two numbers, and they are not the same</a:t>
            </a:r>
          </a:p>
        </p:txBody>
      </p:sp>
      <p:sp>
        <p:nvSpPr>
          <p:cNvPr id="4" name="Rectangle 3"/>
          <p:cNvSpPr/>
          <p:nvPr/>
        </p:nvSpPr>
        <p:spPr>
          <a:xfrm>
            <a:off x="640080" y="1444752"/>
            <a:ext cx="10908792" cy="12700"/>
          </a:xfrm>
          <a:prstGeom prst="rect">
            <a:avLst/>
          </a:prstGeom>
          <a:solidFill>
            <a:srgbClr val="D8DF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685800" y="1746504"/>
          <a:ext cx="5760720" cy="1133856"/>
        </p:xfrm>
        <a:graphic>
          <a:graphicData uri="http://schemas.openxmlformats.org/drawingml/2006/table">
            <a:tbl>
              <a:tblPr bandRow="1">
                <a:tableStyleId>{5C22544A-7EE6-4342-B048-85BDC9FD1C3A}</a:tableStyleId>
              </a:tblPr>
              <a:tblGrid>
                <a:gridCol w="3291840"/>
                <a:gridCol w="1234440"/>
                <a:gridCol w="1234440"/>
              </a:tblGrid>
              <a:tr h="402336">
                <a:tc>
                  <a:txBody>
                    <a:bodyPr wrap="square"/>
                    <a:lstStyle/>
                    <a:p>
                      <a:pPr algn="l"/>
                      <a:r>
                        <a:rPr sz="1400" b="1" i="0">
                          <a:solidFill>
                            <a:srgbClr val="FFFFFF"/>
                          </a:solidFill>
                          <a:latin typeface="Segoe UI"/>
                        </a:rPr>
                        <a:t/>
                      </a:r>
                    </a:p>
                  </a:txBody>
                  <a:tcPr marL="109728" marR="109728" anchor="ctr">
                    <a:solidFill>
                      <a:srgbClr val="14222E"/>
                    </a:solidFill>
                  </a:tcPr>
                </a:tc>
                <a:tc>
                  <a:txBody>
                    <a:bodyPr wrap="square"/>
                    <a:lstStyle/>
                    <a:p>
                      <a:pPr algn="r"/>
                      <a:r>
                        <a:rPr sz="1400" b="1" i="0">
                          <a:solidFill>
                            <a:srgbClr val="FFFFFF"/>
                          </a:solidFill>
                          <a:latin typeface="Segoe UI"/>
                        </a:rPr>
                        <a:t>p50</a:t>
                      </a:r>
                    </a:p>
                  </a:txBody>
                  <a:tcPr marL="109728" marR="109728" anchor="ctr">
                    <a:solidFill>
                      <a:srgbClr val="14222E"/>
                    </a:solidFill>
                  </a:tcPr>
                </a:tc>
                <a:tc>
                  <a:txBody>
                    <a:bodyPr wrap="square"/>
                    <a:lstStyle/>
                    <a:p>
                      <a:pPr algn="r"/>
                      <a:r>
                        <a:rPr sz="1400" b="1" i="0">
                          <a:solidFill>
                            <a:srgbClr val="FFFFFF"/>
                          </a:solidFill>
                          <a:latin typeface="Segoe UI"/>
                        </a:rPr>
                        <a:t>p99</a:t>
                      </a:r>
                    </a:p>
                  </a:txBody>
                  <a:tcPr marL="109728" marR="109728" anchor="ctr">
                    <a:solidFill>
                      <a:srgbClr val="14222E"/>
                    </a:solidFill>
                  </a:tcPr>
                </a:tc>
              </a:tr>
              <a:tr h="365760">
                <a:tc>
                  <a:txBody>
                    <a:bodyPr wrap="square"/>
                    <a:lstStyle/>
                    <a:p>
                      <a:pPr algn="l"/>
                      <a:r>
                        <a:rPr sz="1400" b="0" i="0">
                          <a:solidFill>
                            <a:srgbClr val="2E3D4A"/>
                          </a:solidFill>
                          <a:latin typeface="Segoe UI"/>
                        </a:rPr>
                        <a:t>What the pipeline takes</a:t>
                      </a:r>
                    </a:p>
                  </a:txBody>
                  <a:tcPr marL="109728" marR="109728" anchor="ctr">
                    <a:solidFill>
                      <a:srgbClr val="FFFFFF"/>
                    </a:solidFill>
                  </a:tcPr>
                </a:tc>
                <a:tc>
                  <a:txBody>
                    <a:bodyPr wrap="square"/>
                    <a:lstStyle/>
                    <a:p>
                      <a:pPr algn="r"/>
                      <a:r>
                        <a:rPr sz="1400" b="0" i="0">
                          <a:solidFill>
                            <a:srgbClr val="2E3D4A"/>
                          </a:solidFill>
                          <a:latin typeface="Consolas"/>
                        </a:rPr>
                        <a:t>59 ms</a:t>
                      </a:r>
                    </a:p>
                  </a:txBody>
                  <a:tcPr marL="109728" marR="109728" anchor="ctr">
                    <a:solidFill>
                      <a:srgbClr val="FFFFFF"/>
                    </a:solidFill>
                  </a:tcPr>
                </a:tc>
                <a:tc>
                  <a:txBody>
                    <a:bodyPr wrap="square"/>
                    <a:lstStyle/>
                    <a:p>
                      <a:pPr algn="r"/>
                      <a:r>
                        <a:rPr sz="1400" b="0" i="0">
                          <a:solidFill>
                            <a:srgbClr val="2E3D4A"/>
                          </a:solidFill>
                          <a:latin typeface="Consolas"/>
                        </a:rPr>
                        <a:t>110 ms</a:t>
                      </a:r>
                    </a:p>
                  </a:txBody>
                  <a:tcPr marL="109728" marR="109728" anchor="ctr">
                    <a:solidFill>
                      <a:srgbClr val="FFFFFF"/>
                    </a:solidFill>
                  </a:tcPr>
                </a:tc>
              </a:tr>
              <a:tr h="365760">
                <a:tc>
                  <a:txBody>
                    <a:bodyPr wrap="square"/>
                    <a:lstStyle/>
                    <a:p>
                      <a:pPr algn="l"/>
                      <a:r>
                        <a:rPr sz="1400" b="1" i="0">
                          <a:solidFill>
                            <a:srgbClr val="14222E"/>
                          </a:solidFill>
                          <a:latin typeface="Segoe UI"/>
                        </a:rPr>
                        <a:t>What a consumer waits for</a:t>
                      </a:r>
                    </a:p>
                  </a:txBody>
                  <a:tcPr marL="109728" marR="109728" anchor="ctr">
                    <a:solidFill>
                      <a:srgbClr val="F2F5F7"/>
                    </a:solidFill>
                  </a:tcPr>
                </a:tc>
                <a:tc>
                  <a:txBody>
                    <a:bodyPr wrap="square"/>
                    <a:lstStyle/>
                    <a:p>
                      <a:pPr algn="r"/>
                      <a:r>
                        <a:rPr sz="1400" b="1" i="0">
                          <a:solidFill>
                            <a:srgbClr val="14222E"/>
                          </a:solidFill>
                          <a:latin typeface="Consolas"/>
                        </a:rPr>
                        <a:t>518 ms</a:t>
                      </a:r>
                    </a:p>
                  </a:txBody>
                  <a:tcPr marL="109728" marR="109728" anchor="ctr">
                    <a:solidFill>
                      <a:srgbClr val="F2F5F7"/>
                    </a:solidFill>
                  </a:tcPr>
                </a:tc>
                <a:tc>
                  <a:txBody>
                    <a:bodyPr wrap="square"/>
                    <a:lstStyle/>
                    <a:p>
                      <a:pPr algn="r"/>
                      <a:r>
                        <a:rPr sz="1400" b="1" i="0">
                          <a:solidFill>
                            <a:srgbClr val="14222E"/>
                          </a:solidFill>
                          <a:latin typeface="Consolas"/>
                        </a:rPr>
                        <a:t>1 020 ms</a:t>
                      </a:r>
                    </a:p>
                  </a:txBody>
                  <a:tcPr marL="109728" marR="109728" anchor="ctr">
                    <a:solidFill>
                      <a:srgbClr val="F2F5F7"/>
                    </a:solidFill>
                  </a:tcPr>
                </a:tc>
              </a:tr>
            </a:tbl>
          </a:graphicData>
        </a:graphic>
      </p:graphicFrame>
      <p:graphicFrame>
        <p:nvGraphicFramePr>
          <p:cNvPr id="6" name="Table 5"/>
          <p:cNvGraphicFramePr>
            <a:graphicFrameLocks noGrp="1"/>
          </p:cNvGraphicFramePr>
          <p:nvPr/>
        </p:nvGraphicFramePr>
        <p:xfrm>
          <a:off x="6766560" y="1746504"/>
          <a:ext cx="5120640" cy="1133856"/>
        </p:xfrm>
        <a:graphic>
          <a:graphicData uri="http://schemas.openxmlformats.org/drawingml/2006/table">
            <a:tbl>
              <a:tblPr bandRow="1">
                <a:tableStyleId>{5C22544A-7EE6-4342-B048-85BDC9FD1C3A}</a:tableStyleId>
              </a:tblPr>
              <a:tblGrid>
                <a:gridCol w="2651760"/>
                <a:gridCol w="1234440"/>
                <a:gridCol w="1234440"/>
              </a:tblGrid>
              <a:tr h="402336">
                <a:tc>
                  <a:txBody>
                    <a:bodyPr wrap="square"/>
                    <a:lstStyle/>
                    <a:p>
                      <a:pPr algn="l"/>
                      <a:r>
                        <a:rPr sz="1400" b="1" i="0">
                          <a:solidFill>
                            <a:srgbClr val="FFFFFF"/>
                          </a:solidFill>
                          <a:latin typeface="Segoe UI"/>
                        </a:rPr>
                        <a:t>Checkpoint interval</a:t>
                      </a:r>
                    </a:p>
                  </a:txBody>
                  <a:tcPr marL="109728" marR="109728" anchor="ctr">
                    <a:solidFill>
                      <a:srgbClr val="14222E"/>
                    </a:solidFill>
                  </a:tcPr>
                </a:tc>
                <a:tc>
                  <a:txBody>
                    <a:bodyPr wrap="square"/>
                    <a:lstStyle/>
                    <a:p>
                      <a:pPr algn="r"/>
                      <a:r>
                        <a:rPr sz="1400" b="1" i="0">
                          <a:solidFill>
                            <a:srgbClr val="FFFFFF"/>
                          </a:solidFill>
                          <a:latin typeface="Segoe UI"/>
                        </a:rPr>
                        <a:t>p50</a:t>
                      </a:r>
                    </a:p>
                  </a:txBody>
                  <a:tcPr marL="109728" marR="109728" anchor="ctr">
                    <a:solidFill>
                      <a:srgbClr val="14222E"/>
                    </a:solidFill>
                  </a:tcPr>
                </a:tc>
                <a:tc>
                  <a:txBody>
                    <a:bodyPr wrap="square"/>
                    <a:lstStyle/>
                    <a:p>
                      <a:pPr algn="r"/>
                      <a:r>
                        <a:rPr sz="1400" b="1" i="0">
                          <a:solidFill>
                            <a:srgbClr val="FFFFFF"/>
                          </a:solidFill>
                          <a:latin typeface="Segoe UI"/>
                        </a:rPr>
                        <a:t>max</a:t>
                      </a:r>
                    </a:p>
                  </a:txBody>
                  <a:tcPr marL="109728" marR="109728" anchor="ctr">
                    <a:solidFill>
                      <a:srgbClr val="14222E"/>
                    </a:solidFill>
                  </a:tcPr>
                </a:tc>
              </a:tr>
              <a:tr h="365760">
                <a:tc>
                  <a:txBody>
                    <a:bodyPr wrap="square"/>
                    <a:lstStyle/>
                    <a:p>
                      <a:pPr algn="l"/>
                      <a:r>
                        <a:rPr sz="1400" b="0" i="0">
                          <a:solidFill>
                            <a:srgbClr val="2E3D4A"/>
                          </a:solidFill>
                          <a:latin typeface="Segoe UI"/>
                        </a:rPr>
                        <a:t>5 s</a:t>
                      </a:r>
                    </a:p>
                  </a:txBody>
                  <a:tcPr marL="109728" marR="109728" anchor="ctr">
                    <a:solidFill>
                      <a:srgbClr val="FFFFFF"/>
                    </a:solidFill>
                  </a:tcPr>
                </a:tc>
                <a:tc>
                  <a:txBody>
                    <a:bodyPr wrap="square"/>
                    <a:lstStyle/>
                    <a:p>
                      <a:pPr algn="r"/>
                      <a:r>
                        <a:rPr sz="1400" b="0" i="0">
                          <a:solidFill>
                            <a:srgbClr val="2E3D4A"/>
                          </a:solidFill>
                          <a:latin typeface="Consolas"/>
                        </a:rPr>
                        <a:t>2 488 ms</a:t>
                      </a:r>
                    </a:p>
                  </a:txBody>
                  <a:tcPr marL="109728" marR="109728" anchor="ctr">
                    <a:solidFill>
                      <a:srgbClr val="FFFFFF"/>
                    </a:solidFill>
                  </a:tcPr>
                </a:tc>
                <a:tc>
                  <a:txBody>
                    <a:bodyPr wrap="square"/>
                    <a:lstStyle/>
                    <a:p>
                      <a:pPr algn="r"/>
                      <a:r>
                        <a:rPr sz="1400" b="0" i="0">
                          <a:solidFill>
                            <a:srgbClr val="2E3D4A"/>
                          </a:solidFill>
                          <a:latin typeface="Consolas"/>
                        </a:rPr>
                        <a:t>4 988 ms</a:t>
                      </a:r>
                    </a:p>
                  </a:txBody>
                  <a:tcPr marL="109728" marR="109728" anchor="ctr">
                    <a:solidFill>
                      <a:srgbClr val="FFFFFF"/>
                    </a:solidFill>
                  </a:tcPr>
                </a:tc>
              </a:tr>
              <a:tr h="365760">
                <a:tc>
                  <a:txBody>
                    <a:bodyPr wrap="square"/>
                    <a:lstStyle/>
                    <a:p>
                      <a:pPr algn="l"/>
                      <a:r>
                        <a:rPr sz="1400" b="1" i="0">
                          <a:solidFill>
                            <a:srgbClr val="14222E"/>
                          </a:solidFill>
                          <a:latin typeface="Segoe UI"/>
                        </a:rPr>
                        <a:t>1 s  (the default)</a:t>
                      </a:r>
                    </a:p>
                  </a:txBody>
                  <a:tcPr marL="109728" marR="109728" anchor="ctr">
                    <a:solidFill>
                      <a:srgbClr val="F2F5F7"/>
                    </a:solidFill>
                  </a:tcPr>
                </a:tc>
                <a:tc>
                  <a:txBody>
                    <a:bodyPr wrap="square"/>
                    <a:lstStyle/>
                    <a:p>
                      <a:pPr algn="r"/>
                      <a:r>
                        <a:rPr sz="1400" b="1" i="0">
                          <a:solidFill>
                            <a:srgbClr val="14222E"/>
                          </a:solidFill>
                          <a:latin typeface="Consolas"/>
                        </a:rPr>
                        <a:t>497 ms</a:t>
                      </a:r>
                    </a:p>
                  </a:txBody>
                  <a:tcPr marL="109728" marR="109728" anchor="ctr">
                    <a:solidFill>
                      <a:srgbClr val="F2F5F7"/>
                    </a:solidFill>
                  </a:tcPr>
                </a:tc>
                <a:tc>
                  <a:txBody>
                    <a:bodyPr wrap="square"/>
                    <a:lstStyle/>
                    <a:p>
                      <a:pPr algn="r"/>
                      <a:r>
                        <a:rPr sz="1400" b="1" i="0">
                          <a:solidFill>
                            <a:srgbClr val="14222E"/>
                          </a:solidFill>
                          <a:latin typeface="Consolas"/>
                        </a:rPr>
                        <a:t>1 041 ms</a:t>
                      </a:r>
                    </a:p>
                  </a:txBody>
                  <a:tcPr marL="109728" marR="109728" anchor="ctr">
                    <a:solidFill>
                      <a:srgbClr val="F2F5F7"/>
                    </a:solidFill>
                  </a:tcPr>
                </a:tc>
              </a:tr>
            </a:tbl>
          </a:graphicData>
        </a:graphic>
      </p:graphicFrame>
      <p:sp>
        <p:nvSpPr>
          <p:cNvPr id="7" name="TextBox 6"/>
          <p:cNvSpPr txBox="1"/>
          <p:nvPr/>
        </p:nvSpPr>
        <p:spPr>
          <a:xfrm>
            <a:off x="685800" y="3483864"/>
            <a:ext cx="10881360" cy="1463040"/>
          </a:xfrm>
          <a:prstGeom prst="rect">
            <a:avLst/>
          </a:prstGeom>
          <a:noFill/>
        </p:spPr>
        <p:txBody>
          <a:bodyPr wrap="square">
            <a:spAutoFit/>
          </a:bodyPr>
          <a:lstStyle/>
          <a:p>
            <a:pPr algn="l"/>
            <a:r>
              <a:rPr sz="1500" b="0" i="0">
                <a:solidFill>
                  <a:srgbClr val="2E3D4A"/>
                </a:solidFill>
                <a:latin typeface="Segoe UI"/>
              </a:rPr>
              <a:t>The gap is the guarantee, not the work. Under exactly-once nothing is readable until the checkpoint that produced it commits, so a consumer waits a roughly uniform interval on top of the processing time. Cut the interval by five and the latency falls by five, with the maximum landing inside one interval each time — which is what a uniform wait for the next commit looks like, and the strongest evidence that the delay is the guarantee rather than the pipeline. A checkpoint itself takes about 13 ms.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75488"/>
            <a:ext cx="10972800" cy="274320"/>
          </a:xfrm>
          <a:prstGeom prst="rect">
            <a:avLst/>
          </a:prstGeom>
          <a:noFill/>
        </p:spPr>
        <p:txBody>
          <a:bodyPr wrap="square">
            <a:spAutoFit/>
          </a:bodyPr>
          <a:lstStyle/>
          <a:p>
            <a:pPr algn="l"/>
            <a:r>
              <a:rPr sz="1150" b="1" i="0" spc="120">
                <a:solidFill>
                  <a:srgbClr val="1B6B8A"/>
                </a:solidFill>
                <a:latin typeface="Segoe UI"/>
              </a:rPr>
              <a:t>LOAD</a:t>
            </a:r>
          </a:p>
        </p:txBody>
      </p:sp>
      <p:sp>
        <p:nvSpPr>
          <p:cNvPr id="3" name="TextBox 2"/>
          <p:cNvSpPr txBox="1"/>
          <p:nvPr/>
        </p:nvSpPr>
        <p:spPr>
          <a:xfrm>
            <a:off x="640080" y="786384"/>
            <a:ext cx="10972800" cy="731520"/>
          </a:xfrm>
          <a:prstGeom prst="rect">
            <a:avLst/>
          </a:prstGeom>
          <a:noFill/>
        </p:spPr>
        <p:txBody>
          <a:bodyPr wrap="square">
            <a:spAutoFit/>
          </a:bodyPr>
          <a:lstStyle/>
          <a:p>
            <a:pPr algn="l"/>
            <a:r>
              <a:rPr sz="3000" b="1" i="0">
                <a:solidFill>
                  <a:srgbClr val="14222E"/>
                </a:solidFill>
                <a:latin typeface="Segoe UI"/>
              </a:rPr>
              <a:t>Both required cases pass</a:t>
            </a:r>
          </a:p>
        </p:txBody>
      </p:sp>
      <p:sp>
        <p:nvSpPr>
          <p:cNvPr id="4" name="Rectangle 3"/>
          <p:cNvSpPr/>
          <p:nvPr/>
        </p:nvSpPr>
        <p:spPr>
          <a:xfrm>
            <a:off x="640080" y="1444752"/>
            <a:ext cx="10908792" cy="12700"/>
          </a:xfrm>
          <a:prstGeom prst="rect">
            <a:avLst/>
          </a:prstGeom>
          <a:solidFill>
            <a:srgbClr val="D8DF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685800" y="1746504"/>
          <a:ext cx="9509760" cy="1499616"/>
        </p:xfrm>
        <a:graphic>
          <a:graphicData uri="http://schemas.openxmlformats.org/drawingml/2006/table">
            <a:tbl>
              <a:tblPr bandRow="1">
                <a:tableStyleId>{5C22544A-7EE6-4342-B048-85BDC9FD1C3A}</a:tableStyleId>
              </a:tblPr>
              <a:tblGrid>
                <a:gridCol w="1371600"/>
                <a:gridCol w="2011680"/>
                <a:gridCol w="1371600"/>
                <a:gridCol w="1828800"/>
                <a:gridCol w="1554480"/>
                <a:gridCol w="1371600"/>
              </a:tblGrid>
              <a:tr h="402336">
                <a:tc>
                  <a:txBody>
                    <a:bodyPr wrap="square"/>
                    <a:lstStyle/>
                    <a:p>
                      <a:pPr algn="l"/>
                      <a:r>
                        <a:rPr sz="1350" b="1" i="0">
                          <a:solidFill>
                            <a:srgbClr val="FFFFFF"/>
                          </a:solidFill>
                          <a:latin typeface="Segoe UI"/>
                        </a:rPr>
                        <a:t/>
                      </a:r>
                    </a:p>
                  </a:txBody>
                  <a:tcPr marL="109728" marR="109728" anchor="ctr">
                    <a:solidFill>
                      <a:srgbClr val="14222E"/>
                    </a:solidFill>
                  </a:tcPr>
                </a:tc>
                <a:tc>
                  <a:txBody>
                    <a:bodyPr wrap="square"/>
                    <a:lstStyle/>
                    <a:p>
                      <a:pPr algn="r"/>
                      <a:r>
                        <a:rPr sz="1350" b="1" i="0">
                          <a:solidFill>
                            <a:srgbClr val="FFFFFF"/>
                          </a:solidFill>
                          <a:latin typeface="Segoe UI"/>
                        </a:rPr>
                        <a:t>orders/s asked</a:t>
                      </a:r>
                    </a:p>
                  </a:txBody>
                  <a:tcPr marL="109728" marR="109728" anchor="ctr">
                    <a:solidFill>
                      <a:srgbClr val="14222E"/>
                    </a:solidFill>
                  </a:tcPr>
                </a:tc>
                <a:tc>
                  <a:txBody>
                    <a:bodyPr wrap="square"/>
                    <a:lstStyle/>
                    <a:p>
                      <a:pPr algn="r"/>
                      <a:r>
                        <a:rPr sz="1350" b="1" i="0">
                          <a:solidFill>
                            <a:srgbClr val="FFFFFF"/>
                          </a:solidFill>
                          <a:latin typeface="Segoe UI"/>
                        </a:rPr>
                        <a:t>prices/s</a:t>
                      </a:r>
                    </a:p>
                  </a:txBody>
                  <a:tcPr marL="109728" marR="109728" anchor="ctr">
                    <a:solidFill>
                      <a:srgbClr val="14222E"/>
                    </a:solidFill>
                  </a:tcPr>
                </a:tc>
                <a:tc>
                  <a:txBody>
                    <a:bodyPr wrap="square"/>
                    <a:lstStyle/>
                    <a:p>
                      <a:pPr algn="r"/>
                      <a:r>
                        <a:rPr sz="1350" b="1" i="0">
                          <a:solidFill>
                            <a:srgbClr val="FFFFFF"/>
                          </a:solidFill>
                          <a:latin typeface="Segoe UI"/>
                        </a:rPr>
                        <a:t>orders through</a:t>
                      </a:r>
                    </a:p>
                  </a:txBody>
                  <a:tcPr marL="109728" marR="109728" anchor="ctr">
                    <a:solidFill>
                      <a:srgbClr val="14222E"/>
                    </a:solidFill>
                  </a:tcPr>
                </a:tc>
                <a:tc>
                  <a:txBody>
                    <a:bodyPr wrap="square"/>
                    <a:lstStyle/>
                    <a:p>
                      <a:pPr algn="r"/>
                      <a:r>
                        <a:rPr sz="1350" b="1" i="0">
                          <a:solidFill>
                            <a:srgbClr val="FFFFFF"/>
                          </a:solidFill>
                          <a:latin typeface="Segoe UI"/>
                        </a:rPr>
                        <a:t>allocations</a:t>
                      </a:r>
                    </a:p>
                  </a:txBody>
                  <a:tcPr marL="109728" marR="109728" anchor="ctr">
                    <a:solidFill>
                      <a:srgbClr val="14222E"/>
                    </a:solidFill>
                  </a:tcPr>
                </a:tc>
                <a:tc>
                  <a:txBody>
                    <a:bodyPr wrap="square"/>
                    <a:lstStyle/>
                    <a:p>
                      <a:pPr algn="r"/>
                      <a:r>
                        <a:rPr sz="1350" b="1" i="0">
                          <a:solidFill>
                            <a:srgbClr val="FFFFFF"/>
                          </a:solidFill>
                          <a:latin typeface="Segoe UI"/>
                        </a:rPr>
                        <a:t>order p50</a:t>
                      </a:r>
                    </a:p>
                  </a:txBody>
                  <a:tcPr marL="109728" marR="109728" anchor="ctr">
                    <a:solidFill>
                      <a:srgbClr val="14222E"/>
                    </a:solidFill>
                  </a:tcPr>
                </a:tc>
              </a:tr>
              <a:tr h="365760">
                <a:tc>
                  <a:txBody>
                    <a:bodyPr wrap="square"/>
                    <a:lstStyle/>
                    <a:p>
                      <a:pPr algn="l"/>
                      <a:r>
                        <a:rPr sz="1350" b="0" i="0">
                          <a:solidFill>
                            <a:srgbClr val="2E3D4A"/>
                          </a:solidFill>
                          <a:latin typeface="Segoe UI"/>
                        </a:rPr>
                        <a:t>baseline</a:t>
                      </a:r>
                    </a:p>
                  </a:txBody>
                  <a:tcPr marL="109728" marR="109728" anchor="ctr">
                    <a:solidFill>
                      <a:srgbClr val="FFFFFF"/>
                    </a:solidFill>
                  </a:tcPr>
                </a:tc>
                <a:tc>
                  <a:txBody>
                    <a:bodyPr wrap="square"/>
                    <a:lstStyle/>
                    <a:p>
                      <a:pPr algn="r"/>
                      <a:r>
                        <a:rPr sz="1350" b="0" i="0">
                          <a:solidFill>
                            <a:srgbClr val="2E3D4A"/>
                          </a:solidFill>
                          <a:latin typeface="Consolas"/>
                        </a:rPr>
                        <a:t>10</a:t>
                      </a:r>
                    </a:p>
                  </a:txBody>
                  <a:tcPr marL="109728" marR="109728" anchor="ctr">
                    <a:solidFill>
                      <a:srgbClr val="FFFFFF"/>
                    </a:solidFill>
                  </a:tcPr>
                </a:tc>
                <a:tc>
                  <a:txBody>
                    <a:bodyPr wrap="square"/>
                    <a:lstStyle/>
                    <a:p>
                      <a:pPr algn="r"/>
                      <a:r>
                        <a:rPr sz="1350" b="0" i="0">
                          <a:solidFill>
                            <a:srgbClr val="2E3D4A"/>
                          </a:solidFill>
                          <a:latin typeface="Consolas"/>
                        </a:rPr>
                        <a:t>1 000</a:t>
                      </a:r>
                    </a:p>
                  </a:txBody>
                  <a:tcPr marL="109728" marR="109728" anchor="ctr">
                    <a:solidFill>
                      <a:srgbClr val="FFFFFF"/>
                    </a:solidFill>
                  </a:tcPr>
                </a:tc>
                <a:tc>
                  <a:txBody>
                    <a:bodyPr wrap="square"/>
                    <a:lstStyle/>
                    <a:p>
                      <a:pPr algn="r"/>
                      <a:r>
                        <a:rPr sz="1350" b="0" i="0">
                          <a:solidFill>
                            <a:srgbClr val="2E3D4A"/>
                          </a:solidFill>
                          <a:latin typeface="Consolas"/>
                        </a:rPr>
                        <a:t>8/s</a:t>
                      </a:r>
                    </a:p>
                  </a:txBody>
                  <a:tcPr marL="109728" marR="109728" anchor="ctr">
                    <a:solidFill>
                      <a:srgbClr val="FFFFFF"/>
                    </a:solidFill>
                  </a:tcPr>
                </a:tc>
                <a:tc>
                  <a:txBody>
                    <a:bodyPr wrap="square"/>
                    <a:lstStyle/>
                    <a:p>
                      <a:pPr algn="r"/>
                      <a:r>
                        <a:rPr sz="1350" b="0" i="0">
                          <a:solidFill>
                            <a:srgbClr val="2E3D4A"/>
                          </a:solidFill>
                          <a:latin typeface="Consolas"/>
                        </a:rPr>
                        <a:t>33/s</a:t>
                      </a:r>
                    </a:p>
                  </a:txBody>
                  <a:tcPr marL="109728" marR="109728" anchor="ctr">
                    <a:solidFill>
                      <a:srgbClr val="FFFFFF"/>
                    </a:solidFill>
                  </a:tcPr>
                </a:tc>
                <a:tc>
                  <a:txBody>
                    <a:bodyPr wrap="square"/>
                    <a:lstStyle/>
                    <a:p>
                      <a:pPr algn="r"/>
                      <a:r>
                        <a:rPr sz="1350" b="0" i="0">
                          <a:solidFill>
                            <a:srgbClr val="2E3D4A"/>
                          </a:solidFill>
                          <a:latin typeface="Consolas"/>
                        </a:rPr>
                        <a:t>519 ms</a:t>
                      </a:r>
                    </a:p>
                  </a:txBody>
                  <a:tcPr marL="109728" marR="109728" anchor="ctr">
                    <a:solidFill>
                      <a:srgbClr val="FFFFFF"/>
                    </a:solidFill>
                  </a:tcPr>
                </a:tc>
              </a:tr>
              <a:tr h="365760">
                <a:tc>
                  <a:txBody>
                    <a:bodyPr wrap="square"/>
                    <a:lstStyle/>
                    <a:p>
                      <a:pPr algn="l"/>
                      <a:r>
                        <a:rPr sz="1350" b="1" i="0">
                          <a:solidFill>
                            <a:srgbClr val="14222E"/>
                          </a:solidFill>
                          <a:latin typeface="Segoe UI"/>
                        </a:rPr>
                        <a:t>case 1</a:t>
                      </a:r>
                    </a:p>
                  </a:txBody>
                  <a:tcPr marL="109728" marR="109728" anchor="ctr">
                    <a:solidFill>
                      <a:srgbClr val="F2F5F7"/>
                    </a:solidFill>
                  </a:tcPr>
                </a:tc>
                <a:tc>
                  <a:txBody>
                    <a:bodyPr wrap="square"/>
                    <a:lstStyle/>
                    <a:p>
                      <a:pPr algn="r"/>
                      <a:r>
                        <a:rPr sz="1350" b="1" i="0">
                          <a:solidFill>
                            <a:srgbClr val="14222E"/>
                          </a:solidFill>
                          <a:latin typeface="Consolas"/>
                        </a:rPr>
                        <a:t>1 000</a:t>
                      </a:r>
                    </a:p>
                  </a:txBody>
                  <a:tcPr marL="109728" marR="109728" anchor="ctr">
                    <a:solidFill>
                      <a:srgbClr val="F2F5F7"/>
                    </a:solidFill>
                  </a:tcPr>
                </a:tc>
                <a:tc>
                  <a:txBody>
                    <a:bodyPr wrap="square"/>
                    <a:lstStyle/>
                    <a:p>
                      <a:pPr algn="r"/>
                      <a:r>
                        <a:rPr sz="1350" b="1" i="0">
                          <a:solidFill>
                            <a:srgbClr val="14222E"/>
                          </a:solidFill>
                          <a:latin typeface="Consolas"/>
                        </a:rPr>
                        <a:t>1 000</a:t>
                      </a:r>
                    </a:p>
                  </a:txBody>
                  <a:tcPr marL="109728" marR="109728" anchor="ctr">
                    <a:solidFill>
                      <a:srgbClr val="F2F5F7"/>
                    </a:solidFill>
                  </a:tcPr>
                </a:tc>
                <a:tc>
                  <a:txBody>
                    <a:bodyPr wrap="square"/>
                    <a:lstStyle/>
                    <a:p>
                      <a:pPr algn="r"/>
                      <a:r>
                        <a:rPr sz="1350" b="1" i="0">
                          <a:solidFill>
                            <a:srgbClr val="14222E"/>
                          </a:solidFill>
                          <a:latin typeface="Consolas"/>
                        </a:rPr>
                        <a:t>816/s</a:t>
                      </a:r>
                    </a:p>
                  </a:txBody>
                  <a:tcPr marL="109728" marR="109728" anchor="ctr">
                    <a:solidFill>
                      <a:srgbClr val="F2F5F7"/>
                    </a:solidFill>
                  </a:tcPr>
                </a:tc>
                <a:tc>
                  <a:txBody>
                    <a:bodyPr wrap="square"/>
                    <a:lstStyle/>
                    <a:p>
                      <a:pPr algn="r"/>
                      <a:r>
                        <a:rPr sz="1350" b="1" i="0">
                          <a:solidFill>
                            <a:srgbClr val="14222E"/>
                          </a:solidFill>
                          <a:latin typeface="Consolas"/>
                        </a:rPr>
                        <a:t>3 269/s</a:t>
                      </a:r>
                    </a:p>
                  </a:txBody>
                  <a:tcPr marL="109728" marR="109728" anchor="ctr">
                    <a:solidFill>
                      <a:srgbClr val="F2F5F7"/>
                    </a:solidFill>
                  </a:tcPr>
                </a:tc>
                <a:tc>
                  <a:txBody>
                    <a:bodyPr wrap="square"/>
                    <a:lstStyle/>
                    <a:p>
                      <a:pPr algn="r"/>
                      <a:r>
                        <a:rPr sz="1350" b="1" i="0">
                          <a:solidFill>
                            <a:srgbClr val="14222E"/>
                          </a:solidFill>
                          <a:latin typeface="Consolas"/>
                        </a:rPr>
                        <a:t>522 ms</a:t>
                      </a:r>
                    </a:p>
                  </a:txBody>
                  <a:tcPr marL="109728" marR="109728" anchor="ctr">
                    <a:solidFill>
                      <a:srgbClr val="F2F5F7"/>
                    </a:solidFill>
                  </a:tcPr>
                </a:tc>
              </a:tr>
              <a:tr h="365760">
                <a:tc>
                  <a:txBody>
                    <a:bodyPr wrap="square"/>
                    <a:lstStyle/>
                    <a:p>
                      <a:pPr algn="l"/>
                      <a:r>
                        <a:rPr sz="1350" b="1" i="0">
                          <a:solidFill>
                            <a:srgbClr val="14222E"/>
                          </a:solidFill>
                          <a:latin typeface="Segoe UI"/>
                        </a:rPr>
                        <a:t>case 2</a:t>
                      </a:r>
                    </a:p>
                  </a:txBody>
                  <a:tcPr marL="109728" marR="109728" anchor="ctr">
                    <a:solidFill>
                      <a:srgbClr val="F2F5F7"/>
                    </a:solidFill>
                  </a:tcPr>
                </a:tc>
                <a:tc>
                  <a:txBody>
                    <a:bodyPr wrap="square"/>
                    <a:lstStyle/>
                    <a:p>
                      <a:pPr algn="r"/>
                      <a:r>
                        <a:rPr sz="1350" b="1" i="0">
                          <a:solidFill>
                            <a:srgbClr val="14222E"/>
                          </a:solidFill>
                          <a:latin typeface="Consolas"/>
                        </a:rPr>
                        <a:t>10</a:t>
                      </a:r>
                    </a:p>
                  </a:txBody>
                  <a:tcPr marL="109728" marR="109728" anchor="ctr">
                    <a:solidFill>
                      <a:srgbClr val="F2F5F7"/>
                    </a:solidFill>
                  </a:tcPr>
                </a:tc>
                <a:tc>
                  <a:txBody>
                    <a:bodyPr wrap="square"/>
                    <a:lstStyle/>
                    <a:p>
                      <a:pPr algn="r"/>
                      <a:r>
                        <a:rPr sz="1350" b="1" i="0">
                          <a:solidFill>
                            <a:srgbClr val="14222E"/>
                          </a:solidFill>
                          <a:latin typeface="Consolas"/>
                        </a:rPr>
                        <a:t>20 000</a:t>
                      </a:r>
                    </a:p>
                  </a:txBody>
                  <a:tcPr marL="109728" marR="109728" anchor="ctr">
                    <a:solidFill>
                      <a:srgbClr val="F2F5F7"/>
                    </a:solidFill>
                  </a:tcPr>
                </a:tc>
                <a:tc>
                  <a:txBody>
                    <a:bodyPr wrap="square"/>
                    <a:lstStyle/>
                    <a:p>
                      <a:pPr algn="r"/>
                      <a:r>
                        <a:rPr sz="1350" b="1" i="0">
                          <a:solidFill>
                            <a:srgbClr val="14222E"/>
                          </a:solidFill>
                          <a:latin typeface="Consolas"/>
                        </a:rPr>
                        <a:t>8/s</a:t>
                      </a:r>
                    </a:p>
                  </a:txBody>
                  <a:tcPr marL="109728" marR="109728" anchor="ctr">
                    <a:solidFill>
                      <a:srgbClr val="F2F5F7"/>
                    </a:solidFill>
                  </a:tcPr>
                </a:tc>
                <a:tc>
                  <a:txBody>
                    <a:bodyPr wrap="square"/>
                    <a:lstStyle/>
                    <a:p>
                      <a:pPr algn="r"/>
                      <a:r>
                        <a:rPr sz="1350" b="1" i="0">
                          <a:solidFill>
                            <a:srgbClr val="14222E"/>
                          </a:solidFill>
                          <a:latin typeface="Consolas"/>
                        </a:rPr>
                        <a:t>33/s</a:t>
                      </a:r>
                    </a:p>
                  </a:txBody>
                  <a:tcPr marL="109728" marR="109728" anchor="ctr">
                    <a:solidFill>
                      <a:srgbClr val="F2F5F7"/>
                    </a:solidFill>
                  </a:tcPr>
                </a:tc>
                <a:tc>
                  <a:txBody>
                    <a:bodyPr wrap="square"/>
                    <a:lstStyle/>
                    <a:p>
                      <a:pPr algn="r"/>
                      <a:r>
                        <a:rPr sz="1350" b="1" i="0">
                          <a:solidFill>
                            <a:srgbClr val="14222E"/>
                          </a:solidFill>
                          <a:latin typeface="Consolas"/>
                        </a:rPr>
                        <a:t>513 ms</a:t>
                      </a:r>
                    </a:p>
                  </a:txBody>
                  <a:tcPr marL="109728" marR="109728" anchor="ctr">
                    <a:solidFill>
                      <a:srgbClr val="F2F5F7"/>
                    </a:solidFill>
                  </a:tcPr>
                </a:tc>
              </a:tr>
            </a:tbl>
          </a:graphicData>
        </a:graphic>
      </p:graphicFrame>
      <p:sp>
        <p:nvSpPr>
          <p:cNvPr id="6" name="TextBox 5"/>
          <p:cNvSpPr txBox="1"/>
          <p:nvPr/>
        </p:nvSpPr>
        <p:spPr>
          <a:xfrm>
            <a:off x="685800" y="3712464"/>
            <a:ext cx="10881360" cy="1463040"/>
          </a:xfrm>
          <a:prstGeom prst="rect">
            <a:avLst/>
          </a:prstGeom>
          <a:noFill/>
        </p:spPr>
        <p:txBody>
          <a:bodyPr wrap="square">
            <a:spAutoFit/>
          </a:bodyPr>
          <a:lstStyle/>
          <a:p>
            <a:pPr algn="l"/>
            <a:r>
              <a:rPr sz="1500" b="0" i="0">
                <a:solidFill>
                  <a:srgbClr val="2E3D4A"/>
                </a:solidFill>
                <a:latin typeface="Segoe UI"/>
              </a:rPr>
              <a:t>Case 1 raised throughput a hundredfold and order latency did not move — the requirement allows latency to rise, and it did not need to. Case 2 raised the price rate twentyfold and latency was again unchanged, which settles the question left open when prices were made a broadcast: the concern was that every price would pass through the threads doing order work, and at twenty times the rate it does not.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75488"/>
            <a:ext cx="10972800" cy="274320"/>
          </a:xfrm>
          <a:prstGeom prst="rect">
            <a:avLst/>
          </a:prstGeom>
          <a:noFill/>
        </p:spPr>
        <p:txBody>
          <a:bodyPr wrap="square">
            <a:spAutoFit/>
          </a:bodyPr>
          <a:lstStyle/>
          <a:p>
            <a:pPr algn="l"/>
            <a:r>
              <a:rPr sz="1150" b="1" i="0" spc="120">
                <a:solidFill>
                  <a:srgbClr val="1B6B8A"/>
                </a:solidFill>
                <a:latin typeface="Segoe UI"/>
              </a:rPr>
              <a:t>SCALING</a:t>
            </a:r>
          </a:p>
        </p:txBody>
      </p:sp>
      <p:sp>
        <p:nvSpPr>
          <p:cNvPr id="3" name="TextBox 2"/>
          <p:cNvSpPr txBox="1"/>
          <p:nvPr/>
        </p:nvSpPr>
        <p:spPr>
          <a:xfrm>
            <a:off x="640080" y="786384"/>
            <a:ext cx="10972800" cy="731520"/>
          </a:xfrm>
          <a:prstGeom prst="rect">
            <a:avLst/>
          </a:prstGeom>
          <a:noFill/>
        </p:spPr>
        <p:txBody>
          <a:bodyPr wrap="square">
            <a:spAutoFit/>
          </a:bodyPr>
          <a:lstStyle/>
          <a:p>
            <a:pPr algn="l"/>
            <a:r>
              <a:rPr sz="3000" b="1" i="0">
                <a:solidFill>
                  <a:srgbClr val="14222E"/>
                </a:solidFill>
                <a:latin typeface="Segoe UI"/>
              </a:rPr>
              <a:t>Double the units, double the throughput</a:t>
            </a:r>
          </a:p>
        </p:txBody>
      </p:sp>
      <p:sp>
        <p:nvSpPr>
          <p:cNvPr id="4" name="Rectangle 3"/>
          <p:cNvSpPr/>
          <p:nvPr/>
        </p:nvSpPr>
        <p:spPr>
          <a:xfrm>
            <a:off x="640080" y="1444752"/>
            <a:ext cx="10908792" cy="12700"/>
          </a:xfrm>
          <a:prstGeom prst="rect">
            <a:avLst/>
          </a:prstGeom>
          <a:solidFill>
            <a:srgbClr val="D8DF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685800" y="1746504"/>
          <a:ext cx="10607040" cy="1133856"/>
        </p:xfrm>
        <a:graphic>
          <a:graphicData uri="http://schemas.openxmlformats.org/drawingml/2006/table">
            <a:tbl>
              <a:tblPr bandRow="1">
                <a:tableStyleId>{5C22544A-7EE6-4342-B048-85BDC9FD1C3A}</a:tableStyleId>
              </a:tblPr>
              <a:tblGrid>
                <a:gridCol w="1188720"/>
                <a:gridCol w="1828800"/>
                <a:gridCol w="1828800"/>
                <a:gridCol w="1920240"/>
                <a:gridCol w="1828800"/>
                <a:gridCol w="2011680"/>
              </a:tblGrid>
              <a:tr h="402336">
                <a:tc>
                  <a:txBody>
                    <a:bodyPr wrap="square"/>
                    <a:lstStyle/>
                    <a:p>
                      <a:pPr algn="l"/>
                      <a:r>
                        <a:rPr sz="1400" b="1" i="0">
                          <a:solidFill>
                            <a:srgbClr val="FFFFFF"/>
                          </a:solidFill>
                          <a:latin typeface="Segoe UI"/>
                        </a:rPr>
                        <a:t>units</a:t>
                      </a:r>
                    </a:p>
                  </a:txBody>
                  <a:tcPr marL="109728" marR="109728" anchor="ctr">
                    <a:solidFill>
                      <a:srgbClr val="14222E"/>
                    </a:solidFill>
                  </a:tcPr>
                </a:tc>
                <a:tc>
                  <a:txBody>
                    <a:bodyPr wrap="square"/>
                    <a:lstStyle/>
                    <a:p>
                      <a:pPr algn="r"/>
                      <a:r>
                        <a:rPr sz="1400" b="1" i="0">
                          <a:solidFill>
                            <a:srgbClr val="FFFFFF"/>
                          </a:solidFill>
                          <a:latin typeface="Segoe UI"/>
                        </a:rPr>
                        <a:t>orders/sec</a:t>
                      </a:r>
                    </a:p>
                  </a:txBody>
                  <a:tcPr marL="109728" marR="109728" anchor="ctr">
                    <a:solidFill>
                      <a:srgbClr val="14222E"/>
                    </a:solidFill>
                  </a:tcPr>
                </a:tc>
                <a:tc>
                  <a:txBody>
                    <a:bodyPr wrap="square"/>
                    <a:lstStyle/>
                    <a:p>
                      <a:pPr algn="r"/>
                      <a:r>
                        <a:rPr sz="1400" b="1" i="0">
                          <a:solidFill>
                            <a:srgbClr val="FFFFFF"/>
                          </a:solidFill>
                          <a:latin typeface="Segoe UI"/>
                        </a:rPr>
                        <a:t>vs previous</a:t>
                      </a:r>
                    </a:p>
                  </a:txBody>
                  <a:tcPr marL="109728" marR="109728" anchor="ctr">
                    <a:solidFill>
                      <a:srgbClr val="14222E"/>
                    </a:solidFill>
                  </a:tcPr>
                </a:tc>
                <a:tc>
                  <a:txBody>
                    <a:bodyPr wrap="square"/>
                    <a:lstStyle/>
                    <a:p>
                      <a:pPr algn="r"/>
                      <a:r>
                        <a:rPr sz="1400" b="1" i="0">
                          <a:solidFill>
                            <a:srgbClr val="FFFFFF"/>
                          </a:solidFill>
                          <a:latin typeface="Segoe UI"/>
                        </a:rPr>
                        <a:t>Flink cores</a:t>
                      </a:r>
                    </a:p>
                  </a:txBody>
                  <a:tcPr marL="109728" marR="109728" anchor="ctr">
                    <a:solidFill>
                      <a:srgbClr val="14222E"/>
                    </a:solidFill>
                  </a:tcPr>
                </a:tc>
                <a:tc>
                  <a:txBody>
                    <a:bodyPr wrap="square"/>
                    <a:lstStyle/>
                    <a:p>
                      <a:pPr algn="r"/>
                      <a:r>
                        <a:rPr sz="1400" b="1" i="0">
                          <a:solidFill>
                            <a:srgbClr val="FFFFFF"/>
                          </a:solidFill>
                          <a:latin typeface="Segoe UI"/>
                        </a:rPr>
                        <a:t>broker cores</a:t>
                      </a:r>
                    </a:p>
                  </a:txBody>
                  <a:tcPr marL="109728" marR="109728" anchor="ctr">
                    <a:solidFill>
                      <a:srgbClr val="14222E"/>
                    </a:solidFill>
                  </a:tcPr>
                </a:tc>
                <a:tc>
                  <a:txBody>
                    <a:bodyPr wrap="square"/>
                    <a:lstStyle/>
                    <a:p>
                      <a:pPr algn="r"/>
                      <a:r>
                        <a:rPr sz="1400" b="1" i="0">
                          <a:solidFill>
                            <a:srgbClr val="FFFFFF"/>
                          </a:solidFill>
                          <a:latin typeface="Segoe UI"/>
                        </a:rPr>
                        <a:t>back-pressure</a:t>
                      </a:r>
                    </a:p>
                  </a:txBody>
                  <a:tcPr marL="109728" marR="109728" anchor="ctr">
                    <a:solidFill>
                      <a:srgbClr val="14222E"/>
                    </a:solidFill>
                  </a:tcPr>
                </a:tc>
              </a:tr>
              <a:tr h="365760">
                <a:tc>
                  <a:txBody>
                    <a:bodyPr wrap="square"/>
                    <a:lstStyle/>
                    <a:p>
                      <a:pPr algn="l"/>
                      <a:r>
                        <a:rPr sz="1400" b="0" i="0">
                          <a:solidFill>
                            <a:srgbClr val="2E3D4A"/>
                          </a:solidFill>
                          <a:latin typeface="Segoe UI"/>
                        </a:rPr>
                        <a:t>2</a:t>
                      </a:r>
                    </a:p>
                  </a:txBody>
                  <a:tcPr marL="109728" marR="109728" anchor="ctr">
                    <a:solidFill>
                      <a:srgbClr val="FFFFFF"/>
                    </a:solidFill>
                  </a:tcPr>
                </a:tc>
                <a:tc>
                  <a:txBody>
                    <a:bodyPr wrap="square"/>
                    <a:lstStyle/>
                    <a:p>
                      <a:pPr algn="r"/>
                      <a:r>
                        <a:rPr sz="1400" b="0" i="0">
                          <a:solidFill>
                            <a:srgbClr val="2E3D4A"/>
                          </a:solidFill>
                          <a:latin typeface="Consolas"/>
                        </a:rPr>
                        <a:t>65 721</a:t>
                      </a:r>
                    </a:p>
                  </a:txBody>
                  <a:tcPr marL="109728" marR="109728" anchor="ctr">
                    <a:solidFill>
                      <a:srgbClr val="FFFFFF"/>
                    </a:solidFill>
                  </a:tcPr>
                </a:tc>
                <a:tc>
                  <a:txBody>
                    <a:bodyPr wrap="square"/>
                    <a:lstStyle/>
                    <a:p>
                      <a:pPr algn="r"/>
                      <a:r>
                        <a:rPr sz="1400" b="0" i="0">
                          <a:solidFill>
                            <a:srgbClr val="2E3D4A"/>
                          </a:solidFill>
                          <a:latin typeface="Consolas"/>
                        </a:rPr>
                        <a:t>—</a:t>
                      </a:r>
                    </a:p>
                  </a:txBody>
                  <a:tcPr marL="109728" marR="109728" anchor="ctr">
                    <a:solidFill>
                      <a:srgbClr val="FFFFFF"/>
                    </a:solidFill>
                  </a:tcPr>
                </a:tc>
                <a:tc>
                  <a:txBody>
                    <a:bodyPr wrap="square"/>
                    <a:lstStyle/>
                    <a:p>
                      <a:pPr algn="r"/>
                      <a:r>
                        <a:rPr sz="1400" b="0" i="0">
                          <a:solidFill>
                            <a:srgbClr val="2E3D4A"/>
                          </a:solidFill>
                          <a:latin typeface="Consolas"/>
                        </a:rPr>
                        <a:t>2.00 of 2</a:t>
                      </a:r>
                    </a:p>
                  </a:txBody>
                  <a:tcPr marL="109728" marR="109728" anchor="ctr">
                    <a:solidFill>
                      <a:srgbClr val="FFFFFF"/>
                    </a:solidFill>
                  </a:tcPr>
                </a:tc>
                <a:tc>
                  <a:txBody>
                    <a:bodyPr wrap="square"/>
                    <a:lstStyle/>
                    <a:p>
                      <a:pPr algn="r"/>
                      <a:r>
                        <a:rPr sz="1400" b="0" i="0">
                          <a:solidFill>
                            <a:srgbClr val="2E3D4A"/>
                          </a:solidFill>
                          <a:latin typeface="Consolas"/>
                        </a:rPr>
                        <a:t>0.25</a:t>
                      </a:r>
                    </a:p>
                  </a:txBody>
                  <a:tcPr marL="109728" marR="109728" anchor="ctr">
                    <a:solidFill>
                      <a:srgbClr val="FFFFFF"/>
                    </a:solidFill>
                  </a:tcPr>
                </a:tc>
                <a:tc>
                  <a:txBody>
                    <a:bodyPr wrap="square"/>
                    <a:lstStyle/>
                    <a:p>
                      <a:pPr algn="r"/>
                      <a:r>
                        <a:rPr sz="1400" b="0" i="0">
                          <a:solidFill>
                            <a:srgbClr val="2E3D4A"/>
                          </a:solidFill>
                          <a:latin typeface="Consolas"/>
                        </a:rPr>
                        <a:t>28.5%</a:t>
                      </a:r>
                    </a:p>
                  </a:txBody>
                  <a:tcPr marL="109728" marR="109728" anchor="ctr">
                    <a:solidFill>
                      <a:srgbClr val="FFFFFF"/>
                    </a:solidFill>
                  </a:tcPr>
                </a:tc>
              </a:tr>
              <a:tr h="365760">
                <a:tc>
                  <a:txBody>
                    <a:bodyPr wrap="square"/>
                    <a:lstStyle/>
                    <a:p>
                      <a:pPr algn="l"/>
                      <a:r>
                        <a:rPr sz="1400" b="1" i="0">
                          <a:solidFill>
                            <a:srgbClr val="14222E"/>
                          </a:solidFill>
                          <a:latin typeface="Segoe UI"/>
                        </a:rPr>
                        <a:t>4</a:t>
                      </a:r>
                    </a:p>
                  </a:txBody>
                  <a:tcPr marL="109728" marR="109728" anchor="ctr">
                    <a:solidFill>
                      <a:srgbClr val="F2F5F7"/>
                    </a:solidFill>
                  </a:tcPr>
                </a:tc>
                <a:tc>
                  <a:txBody>
                    <a:bodyPr wrap="square"/>
                    <a:lstStyle/>
                    <a:p>
                      <a:pPr algn="r"/>
                      <a:r>
                        <a:rPr sz="1400" b="1" i="0">
                          <a:solidFill>
                            <a:srgbClr val="14222E"/>
                          </a:solidFill>
                          <a:latin typeface="Consolas"/>
                        </a:rPr>
                        <a:t>129 056</a:t>
                      </a:r>
                    </a:p>
                  </a:txBody>
                  <a:tcPr marL="109728" marR="109728" anchor="ctr">
                    <a:solidFill>
                      <a:srgbClr val="F2F5F7"/>
                    </a:solidFill>
                  </a:tcPr>
                </a:tc>
                <a:tc>
                  <a:txBody>
                    <a:bodyPr wrap="square"/>
                    <a:lstStyle/>
                    <a:p>
                      <a:pPr algn="r"/>
                      <a:r>
                        <a:rPr sz="1400" b="1" i="0">
                          <a:solidFill>
                            <a:srgbClr val="14222E"/>
                          </a:solidFill>
                          <a:latin typeface="Consolas"/>
                        </a:rPr>
                        <a:t>1.96×</a:t>
                      </a:r>
                    </a:p>
                  </a:txBody>
                  <a:tcPr marL="109728" marR="109728" anchor="ctr">
                    <a:solidFill>
                      <a:srgbClr val="F2F5F7"/>
                    </a:solidFill>
                  </a:tcPr>
                </a:tc>
                <a:tc>
                  <a:txBody>
                    <a:bodyPr wrap="square"/>
                    <a:lstStyle/>
                    <a:p>
                      <a:pPr algn="r"/>
                      <a:r>
                        <a:rPr sz="1400" b="1" i="0">
                          <a:solidFill>
                            <a:srgbClr val="14222E"/>
                          </a:solidFill>
                          <a:latin typeface="Consolas"/>
                        </a:rPr>
                        <a:t>3.94 of 4</a:t>
                      </a:r>
                    </a:p>
                  </a:txBody>
                  <a:tcPr marL="109728" marR="109728" anchor="ctr">
                    <a:solidFill>
                      <a:srgbClr val="F2F5F7"/>
                    </a:solidFill>
                  </a:tcPr>
                </a:tc>
                <a:tc>
                  <a:txBody>
                    <a:bodyPr wrap="square"/>
                    <a:lstStyle/>
                    <a:p>
                      <a:pPr algn="r"/>
                      <a:r>
                        <a:rPr sz="1400" b="1" i="0">
                          <a:solidFill>
                            <a:srgbClr val="14222E"/>
                          </a:solidFill>
                          <a:latin typeface="Consolas"/>
                        </a:rPr>
                        <a:t>0.39</a:t>
                      </a:r>
                    </a:p>
                  </a:txBody>
                  <a:tcPr marL="109728" marR="109728" anchor="ctr">
                    <a:solidFill>
                      <a:srgbClr val="F2F5F7"/>
                    </a:solidFill>
                  </a:tcPr>
                </a:tc>
                <a:tc>
                  <a:txBody>
                    <a:bodyPr wrap="square"/>
                    <a:lstStyle/>
                    <a:p>
                      <a:pPr algn="r"/>
                      <a:r>
                        <a:rPr sz="1400" b="1" i="0">
                          <a:solidFill>
                            <a:srgbClr val="14222E"/>
                          </a:solidFill>
                          <a:latin typeface="Consolas"/>
                        </a:rPr>
                        <a:t>51.6%</a:t>
                      </a:r>
                    </a:p>
                  </a:txBody>
                  <a:tcPr marL="109728" marR="109728" anchor="ctr">
                    <a:solidFill>
                      <a:srgbClr val="F2F5F7"/>
                    </a:solidFill>
                  </a:tcPr>
                </a:tc>
              </a:tr>
            </a:tbl>
          </a:graphicData>
        </a:graphic>
      </p:graphicFrame>
      <p:sp>
        <p:nvSpPr>
          <p:cNvPr id="6" name="TextBox 5"/>
          <p:cNvSpPr txBox="1"/>
          <p:nvPr/>
        </p:nvSpPr>
        <p:spPr>
          <a:xfrm>
            <a:off x="685800" y="3438144"/>
            <a:ext cx="10881360" cy="1463040"/>
          </a:xfrm>
          <a:prstGeom prst="rect">
            <a:avLst/>
          </a:prstGeom>
          <a:noFill/>
        </p:spPr>
        <p:txBody>
          <a:bodyPr wrap="square">
            <a:spAutoFit/>
          </a:bodyPr>
          <a:lstStyle/>
          <a:p>
            <a:pPr algn="l"/>
            <a:r>
              <a:rPr sz="1500" b="0" i="0">
                <a:solidFill>
                  <a:srgbClr val="2E3D4A"/>
                </a:solidFill>
                <a:latin typeface="Segoe UI"/>
              </a:rPr>
              <a:t>A unit is one core and one degree of parallelism, bought together — which is exactly what a KPU is in Managed Service for Apache Flink. Two columns turn this from an assertion into a measurement. Flink used every core it was given, 2.00 of 2 and 3.94 of 4, so a unit bought is a unit worked. And the broker stayed under half a core, so Flink was unambiguously the constrained component — which is the precondition for showing that anything scales at all. Eight partitions were held constant across both cases, so nothing varied but the units.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75488"/>
            <a:ext cx="10972800" cy="274320"/>
          </a:xfrm>
          <a:prstGeom prst="rect">
            <a:avLst/>
          </a:prstGeom>
          <a:noFill/>
        </p:spPr>
        <p:txBody>
          <a:bodyPr wrap="square">
            <a:spAutoFit/>
          </a:bodyPr>
          <a:lstStyle/>
          <a:p>
            <a:pPr algn="l"/>
            <a:r>
              <a:rPr sz="1150" b="1" i="0" spc="120">
                <a:solidFill>
                  <a:srgbClr val="1B6B8A"/>
                </a:solidFill>
                <a:latin typeface="Segoe UI"/>
              </a:rPr>
              <a:t>BACKUP — THE WHOLE CURVE</a:t>
            </a:r>
          </a:p>
        </p:txBody>
      </p:sp>
      <p:sp>
        <p:nvSpPr>
          <p:cNvPr id="3" name="TextBox 2"/>
          <p:cNvSpPr txBox="1"/>
          <p:nvPr/>
        </p:nvSpPr>
        <p:spPr>
          <a:xfrm>
            <a:off x="640080" y="786384"/>
            <a:ext cx="10972800" cy="731520"/>
          </a:xfrm>
          <a:prstGeom prst="rect">
            <a:avLst/>
          </a:prstGeom>
          <a:noFill/>
        </p:spPr>
        <p:txBody>
          <a:bodyPr wrap="square">
            <a:spAutoFit/>
          </a:bodyPr>
          <a:lstStyle/>
          <a:p>
            <a:pPr algn="l"/>
            <a:r>
              <a:rPr sz="3000" b="1" i="0">
                <a:solidFill>
                  <a:srgbClr val="14222E"/>
                </a:solidFill>
                <a:latin typeface="Segoe UI"/>
              </a:rPr>
              <a:t>Where it stops, and why the broker looks idle</a:t>
            </a:r>
          </a:p>
        </p:txBody>
      </p:sp>
      <p:sp>
        <p:nvSpPr>
          <p:cNvPr id="4" name="Rectangle 3"/>
          <p:cNvSpPr/>
          <p:nvPr/>
        </p:nvSpPr>
        <p:spPr>
          <a:xfrm>
            <a:off x="640080" y="1444752"/>
            <a:ext cx="10908792" cy="12700"/>
          </a:xfrm>
          <a:prstGeom prst="rect">
            <a:avLst/>
          </a:prstGeom>
          <a:solidFill>
            <a:srgbClr val="D8DF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685800" y="1746504"/>
          <a:ext cx="10607040" cy="1865376"/>
        </p:xfrm>
        <a:graphic>
          <a:graphicData uri="http://schemas.openxmlformats.org/drawingml/2006/table">
            <a:tbl>
              <a:tblPr bandRow="1">
                <a:tableStyleId>{5C22544A-7EE6-4342-B048-85BDC9FD1C3A}</a:tableStyleId>
              </a:tblPr>
              <a:tblGrid>
                <a:gridCol w="1188720"/>
                <a:gridCol w="1828800"/>
                <a:gridCol w="1828800"/>
                <a:gridCol w="1920240"/>
                <a:gridCol w="1828800"/>
                <a:gridCol w="2011680"/>
              </a:tblGrid>
              <a:tr h="402336">
                <a:tc>
                  <a:txBody>
                    <a:bodyPr wrap="square"/>
                    <a:lstStyle/>
                    <a:p>
                      <a:pPr algn="l"/>
                      <a:r>
                        <a:rPr sz="1400" b="1" i="0">
                          <a:solidFill>
                            <a:srgbClr val="FFFFFF"/>
                          </a:solidFill>
                          <a:latin typeface="Segoe UI"/>
                        </a:rPr>
                        <a:t>units</a:t>
                      </a:r>
                    </a:p>
                  </a:txBody>
                  <a:tcPr marL="109728" marR="109728" anchor="ctr">
                    <a:solidFill>
                      <a:srgbClr val="14222E"/>
                    </a:solidFill>
                  </a:tcPr>
                </a:tc>
                <a:tc>
                  <a:txBody>
                    <a:bodyPr wrap="square"/>
                    <a:lstStyle/>
                    <a:p>
                      <a:pPr algn="r"/>
                      <a:r>
                        <a:rPr sz="1400" b="1" i="0">
                          <a:solidFill>
                            <a:srgbClr val="FFFFFF"/>
                          </a:solidFill>
                          <a:latin typeface="Segoe UI"/>
                        </a:rPr>
                        <a:t>orders/sec</a:t>
                      </a:r>
                    </a:p>
                  </a:txBody>
                  <a:tcPr marL="109728" marR="109728" anchor="ctr">
                    <a:solidFill>
                      <a:srgbClr val="14222E"/>
                    </a:solidFill>
                  </a:tcPr>
                </a:tc>
                <a:tc>
                  <a:txBody>
                    <a:bodyPr wrap="square"/>
                    <a:lstStyle/>
                    <a:p>
                      <a:pPr algn="r"/>
                      <a:r>
                        <a:rPr sz="1400" b="1" i="0">
                          <a:solidFill>
                            <a:srgbClr val="FFFFFF"/>
                          </a:solidFill>
                          <a:latin typeface="Segoe UI"/>
                        </a:rPr>
                        <a:t>vs previous</a:t>
                      </a:r>
                    </a:p>
                  </a:txBody>
                  <a:tcPr marL="109728" marR="109728" anchor="ctr">
                    <a:solidFill>
                      <a:srgbClr val="14222E"/>
                    </a:solidFill>
                  </a:tcPr>
                </a:tc>
                <a:tc>
                  <a:txBody>
                    <a:bodyPr wrap="square"/>
                    <a:lstStyle/>
                    <a:p>
                      <a:pPr algn="r"/>
                      <a:r>
                        <a:rPr sz="1400" b="1" i="0">
                          <a:solidFill>
                            <a:srgbClr val="FFFFFF"/>
                          </a:solidFill>
                          <a:latin typeface="Segoe UI"/>
                        </a:rPr>
                        <a:t>Flink cores</a:t>
                      </a:r>
                    </a:p>
                  </a:txBody>
                  <a:tcPr marL="109728" marR="109728" anchor="ctr">
                    <a:solidFill>
                      <a:srgbClr val="14222E"/>
                    </a:solidFill>
                  </a:tcPr>
                </a:tc>
                <a:tc>
                  <a:txBody>
                    <a:bodyPr wrap="square"/>
                    <a:lstStyle/>
                    <a:p>
                      <a:pPr algn="r"/>
                      <a:r>
                        <a:rPr sz="1400" b="1" i="0">
                          <a:solidFill>
                            <a:srgbClr val="FFFFFF"/>
                          </a:solidFill>
                          <a:latin typeface="Segoe UI"/>
                        </a:rPr>
                        <a:t>broker cores</a:t>
                      </a:r>
                    </a:p>
                  </a:txBody>
                  <a:tcPr marL="109728" marR="109728" anchor="ctr">
                    <a:solidFill>
                      <a:srgbClr val="14222E"/>
                    </a:solidFill>
                  </a:tcPr>
                </a:tc>
                <a:tc>
                  <a:txBody>
                    <a:bodyPr wrap="square"/>
                    <a:lstStyle/>
                    <a:p>
                      <a:pPr algn="r"/>
                      <a:r>
                        <a:rPr sz="1400" b="1" i="0">
                          <a:solidFill>
                            <a:srgbClr val="FFFFFF"/>
                          </a:solidFill>
                          <a:latin typeface="Segoe UI"/>
                        </a:rPr>
                        <a:t>back-pressure</a:t>
                      </a:r>
                    </a:p>
                  </a:txBody>
                  <a:tcPr marL="109728" marR="109728" anchor="ctr">
                    <a:solidFill>
                      <a:srgbClr val="14222E"/>
                    </a:solidFill>
                  </a:tcPr>
                </a:tc>
              </a:tr>
              <a:tr h="365760">
                <a:tc>
                  <a:txBody>
                    <a:bodyPr wrap="square"/>
                    <a:lstStyle/>
                    <a:p>
                      <a:pPr algn="l"/>
                      <a:r>
                        <a:rPr sz="1400" b="0" i="0">
                          <a:solidFill>
                            <a:srgbClr val="2E3D4A"/>
                          </a:solidFill>
                          <a:latin typeface="Segoe UI"/>
                        </a:rPr>
                        <a:t>1</a:t>
                      </a:r>
                    </a:p>
                  </a:txBody>
                  <a:tcPr marL="109728" marR="109728" anchor="ctr">
                    <a:solidFill>
                      <a:srgbClr val="FFFFFF"/>
                    </a:solidFill>
                  </a:tcPr>
                </a:tc>
                <a:tc>
                  <a:txBody>
                    <a:bodyPr wrap="square"/>
                    <a:lstStyle/>
                    <a:p>
                      <a:pPr algn="r"/>
                      <a:r>
                        <a:rPr sz="1400" b="0" i="0">
                          <a:solidFill>
                            <a:srgbClr val="2E3D4A"/>
                          </a:solidFill>
                          <a:latin typeface="Consolas"/>
                        </a:rPr>
                        <a:t>30 505</a:t>
                      </a:r>
                    </a:p>
                  </a:txBody>
                  <a:tcPr marL="109728" marR="109728" anchor="ctr">
                    <a:solidFill>
                      <a:srgbClr val="FFFFFF"/>
                    </a:solidFill>
                  </a:tcPr>
                </a:tc>
                <a:tc>
                  <a:txBody>
                    <a:bodyPr wrap="square"/>
                    <a:lstStyle/>
                    <a:p>
                      <a:pPr algn="r"/>
                      <a:r>
                        <a:rPr sz="1400" b="0" i="0">
                          <a:solidFill>
                            <a:srgbClr val="2E3D4A"/>
                          </a:solidFill>
                          <a:latin typeface="Consolas"/>
                        </a:rPr>
                        <a:t>—</a:t>
                      </a:r>
                    </a:p>
                  </a:txBody>
                  <a:tcPr marL="109728" marR="109728" anchor="ctr">
                    <a:solidFill>
                      <a:srgbClr val="FFFFFF"/>
                    </a:solidFill>
                  </a:tcPr>
                </a:tc>
                <a:tc>
                  <a:txBody>
                    <a:bodyPr wrap="square"/>
                    <a:lstStyle/>
                    <a:p>
                      <a:pPr algn="r"/>
                      <a:r>
                        <a:rPr sz="1400" b="0" i="0">
                          <a:solidFill>
                            <a:srgbClr val="2E3D4A"/>
                          </a:solidFill>
                          <a:latin typeface="Consolas"/>
                        </a:rPr>
                        <a:t>1.00 of 1</a:t>
                      </a:r>
                    </a:p>
                  </a:txBody>
                  <a:tcPr marL="109728" marR="109728" anchor="ctr">
                    <a:solidFill>
                      <a:srgbClr val="FFFFFF"/>
                    </a:solidFill>
                  </a:tcPr>
                </a:tc>
                <a:tc>
                  <a:txBody>
                    <a:bodyPr wrap="square"/>
                    <a:lstStyle/>
                    <a:p>
                      <a:pPr algn="r"/>
                      <a:r>
                        <a:rPr sz="1400" b="0" i="0">
                          <a:solidFill>
                            <a:srgbClr val="2E3D4A"/>
                          </a:solidFill>
                          <a:latin typeface="Consolas"/>
                        </a:rPr>
                        <a:t>0.10</a:t>
                      </a:r>
                    </a:p>
                  </a:txBody>
                  <a:tcPr marL="109728" marR="109728" anchor="ctr">
                    <a:solidFill>
                      <a:srgbClr val="FFFFFF"/>
                    </a:solidFill>
                  </a:tcPr>
                </a:tc>
                <a:tc>
                  <a:txBody>
                    <a:bodyPr wrap="square"/>
                    <a:lstStyle/>
                    <a:p>
                      <a:pPr algn="r"/>
                      <a:r>
                        <a:rPr sz="1400" b="0" i="0">
                          <a:solidFill>
                            <a:srgbClr val="2E3D4A"/>
                          </a:solidFill>
                          <a:latin typeface="Consolas"/>
                        </a:rPr>
                        <a:t>24.1%</a:t>
                      </a:r>
                    </a:p>
                  </a:txBody>
                  <a:tcPr marL="109728" marR="109728" anchor="ctr">
                    <a:solidFill>
                      <a:srgbClr val="FFFFFF"/>
                    </a:solidFill>
                  </a:tcPr>
                </a:tc>
              </a:tr>
              <a:tr h="365760">
                <a:tc>
                  <a:txBody>
                    <a:bodyPr wrap="square"/>
                    <a:lstStyle/>
                    <a:p>
                      <a:pPr algn="l"/>
                      <a:r>
                        <a:rPr sz="1400" b="0" i="0">
                          <a:solidFill>
                            <a:srgbClr val="2E3D4A"/>
                          </a:solidFill>
                          <a:latin typeface="Segoe UI"/>
                        </a:rPr>
                        <a:t>2</a:t>
                      </a:r>
                    </a:p>
                  </a:txBody>
                  <a:tcPr marL="109728" marR="109728" anchor="ctr">
                    <a:solidFill>
                      <a:srgbClr val="FFFFFF"/>
                    </a:solidFill>
                  </a:tcPr>
                </a:tc>
                <a:tc>
                  <a:txBody>
                    <a:bodyPr wrap="square"/>
                    <a:lstStyle/>
                    <a:p>
                      <a:pPr algn="r"/>
                      <a:r>
                        <a:rPr sz="1400" b="0" i="0">
                          <a:solidFill>
                            <a:srgbClr val="2E3D4A"/>
                          </a:solidFill>
                          <a:latin typeface="Consolas"/>
                        </a:rPr>
                        <a:t>65 721</a:t>
                      </a:r>
                    </a:p>
                  </a:txBody>
                  <a:tcPr marL="109728" marR="109728" anchor="ctr">
                    <a:solidFill>
                      <a:srgbClr val="FFFFFF"/>
                    </a:solidFill>
                  </a:tcPr>
                </a:tc>
                <a:tc>
                  <a:txBody>
                    <a:bodyPr wrap="square"/>
                    <a:lstStyle/>
                    <a:p>
                      <a:pPr algn="r"/>
                      <a:r>
                        <a:rPr sz="1400" b="0" i="0">
                          <a:solidFill>
                            <a:srgbClr val="2E3D4A"/>
                          </a:solidFill>
                          <a:latin typeface="Consolas"/>
                        </a:rPr>
                        <a:t>2.15×</a:t>
                      </a:r>
                    </a:p>
                  </a:txBody>
                  <a:tcPr marL="109728" marR="109728" anchor="ctr">
                    <a:solidFill>
                      <a:srgbClr val="FFFFFF"/>
                    </a:solidFill>
                  </a:tcPr>
                </a:tc>
                <a:tc>
                  <a:txBody>
                    <a:bodyPr wrap="square"/>
                    <a:lstStyle/>
                    <a:p>
                      <a:pPr algn="r"/>
                      <a:r>
                        <a:rPr sz="1400" b="0" i="0">
                          <a:solidFill>
                            <a:srgbClr val="2E3D4A"/>
                          </a:solidFill>
                          <a:latin typeface="Consolas"/>
                        </a:rPr>
                        <a:t>2.00 of 2</a:t>
                      </a:r>
                    </a:p>
                  </a:txBody>
                  <a:tcPr marL="109728" marR="109728" anchor="ctr">
                    <a:solidFill>
                      <a:srgbClr val="FFFFFF"/>
                    </a:solidFill>
                  </a:tcPr>
                </a:tc>
                <a:tc>
                  <a:txBody>
                    <a:bodyPr wrap="square"/>
                    <a:lstStyle/>
                    <a:p>
                      <a:pPr algn="r"/>
                      <a:r>
                        <a:rPr sz="1400" b="0" i="0">
                          <a:solidFill>
                            <a:srgbClr val="2E3D4A"/>
                          </a:solidFill>
                          <a:latin typeface="Consolas"/>
                        </a:rPr>
                        <a:t>0.25</a:t>
                      </a:r>
                    </a:p>
                  </a:txBody>
                  <a:tcPr marL="109728" marR="109728" anchor="ctr">
                    <a:solidFill>
                      <a:srgbClr val="FFFFFF"/>
                    </a:solidFill>
                  </a:tcPr>
                </a:tc>
                <a:tc>
                  <a:txBody>
                    <a:bodyPr wrap="square"/>
                    <a:lstStyle/>
                    <a:p>
                      <a:pPr algn="r"/>
                      <a:r>
                        <a:rPr sz="1400" b="0" i="0">
                          <a:solidFill>
                            <a:srgbClr val="2E3D4A"/>
                          </a:solidFill>
                          <a:latin typeface="Consolas"/>
                        </a:rPr>
                        <a:t>28.5%</a:t>
                      </a:r>
                    </a:p>
                  </a:txBody>
                  <a:tcPr marL="109728" marR="109728" anchor="ctr">
                    <a:solidFill>
                      <a:srgbClr val="FFFFFF"/>
                    </a:solidFill>
                  </a:tcPr>
                </a:tc>
              </a:tr>
              <a:tr h="365760">
                <a:tc>
                  <a:txBody>
                    <a:bodyPr wrap="square"/>
                    <a:lstStyle/>
                    <a:p>
                      <a:pPr algn="l"/>
                      <a:r>
                        <a:rPr sz="1400" b="0" i="0">
                          <a:solidFill>
                            <a:srgbClr val="2E3D4A"/>
                          </a:solidFill>
                          <a:latin typeface="Segoe UI"/>
                        </a:rPr>
                        <a:t>4</a:t>
                      </a:r>
                    </a:p>
                  </a:txBody>
                  <a:tcPr marL="109728" marR="109728" anchor="ctr">
                    <a:solidFill>
                      <a:srgbClr val="FFFFFF"/>
                    </a:solidFill>
                  </a:tcPr>
                </a:tc>
                <a:tc>
                  <a:txBody>
                    <a:bodyPr wrap="square"/>
                    <a:lstStyle/>
                    <a:p>
                      <a:pPr algn="r"/>
                      <a:r>
                        <a:rPr sz="1400" b="0" i="0">
                          <a:solidFill>
                            <a:srgbClr val="2E3D4A"/>
                          </a:solidFill>
                          <a:latin typeface="Consolas"/>
                        </a:rPr>
                        <a:t>129 056</a:t>
                      </a:r>
                    </a:p>
                  </a:txBody>
                  <a:tcPr marL="109728" marR="109728" anchor="ctr">
                    <a:solidFill>
                      <a:srgbClr val="FFFFFF"/>
                    </a:solidFill>
                  </a:tcPr>
                </a:tc>
                <a:tc>
                  <a:txBody>
                    <a:bodyPr wrap="square"/>
                    <a:lstStyle/>
                    <a:p>
                      <a:pPr algn="r"/>
                      <a:r>
                        <a:rPr sz="1400" b="0" i="0">
                          <a:solidFill>
                            <a:srgbClr val="2E3D4A"/>
                          </a:solidFill>
                          <a:latin typeface="Consolas"/>
                        </a:rPr>
                        <a:t>1.96×</a:t>
                      </a:r>
                    </a:p>
                  </a:txBody>
                  <a:tcPr marL="109728" marR="109728" anchor="ctr">
                    <a:solidFill>
                      <a:srgbClr val="FFFFFF"/>
                    </a:solidFill>
                  </a:tcPr>
                </a:tc>
                <a:tc>
                  <a:txBody>
                    <a:bodyPr wrap="square"/>
                    <a:lstStyle/>
                    <a:p>
                      <a:pPr algn="r"/>
                      <a:r>
                        <a:rPr sz="1400" b="0" i="0">
                          <a:solidFill>
                            <a:srgbClr val="2E3D4A"/>
                          </a:solidFill>
                          <a:latin typeface="Consolas"/>
                        </a:rPr>
                        <a:t>3.94 of 4</a:t>
                      </a:r>
                    </a:p>
                  </a:txBody>
                  <a:tcPr marL="109728" marR="109728" anchor="ctr">
                    <a:solidFill>
                      <a:srgbClr val="FFFFFF"/>
                    </a:solidFill>
                  </a:tcPr>
                </a:tc>
                <a:tc>
                  <a:txBody>
                    <a:bodyPr wrap="square"/>
                    <a:lstStyle/>
                    <a:p>
                      <a:pPr algn="r"/>
                      <a:r>
                        <a:rPr sz="1400" b="0" i="0">
                          <a:solidFill>
                            <a:srgbClr val="2E3D4A"/>
                          </a:solidFill>
                          <a:latin typeface="Consolas"/>
                        </a:rPr>
                        <a:t>0.39</a:t>
                      </a:r>
                    </a:p>
                  </a:txBody>
                  <a:tcPr marL="109728" marR="109728" anchor="ctr">
                    <a:solidFill>
                      <a:srgbClr val="FFFFFF"/>
                    </a:solidFill>
                  </a:tcPr>
                </a:tc>
                <a:tc>
                  <a:txBody>
                    <a:bodyPr wrap="square"/>
                    <a:lstStyle/>
                    <a:p>
                      <a:pPr algn="r"/>
                      <a:r>
                        <a:rPr sz="1400" b="0" i="0">
                          <a:solidFill>
                            <a:srgbClr val="2E3D4A"/>
                          </a:solidFill>
                          <a:latin typeface="Consolas"/>
                        </a:rPr>
                        <a:t>51.6%</a:t>
                      </a:r>
                    </a:p>
                  </a:txBody>
                  <a:tcPr marL="109728" marR="109728" anchor="ctr">
                    <a:solidFill>
                      <a:srgbClr val="FFFFFF"/>
                    </a:solidFill>
                  </a:tcPr>
                </a:tc>
              </a:tr>
              <a:tr h="365760">
                <a:tc>
                  <a:txBody>
                    <a:bodyPr wrap="square"/>
                    <a:lstStyle/>
                    <a:p>
                      <a:pPr algn="l"/>
                      <a:r>
                        <a:rPr sz="1400" b="1" i="0">
                          <a:solidFill>
                            <a:srgbClr val="14222E"/>
                          </a:solidFill>
                          <a:latin typeface="Segoe UI"/>
                        </a:rPr>
                        <a:t>8</a:t>
                      </a:r>
                    </a:p>
                  </a:txBody>
                  <a:tcPr marL="109728" marR="109728" anchor="ctr">
                    <a:solidFill>
                      <a:srgbClr val="F2F5F7"/>
                    </a:solidFill>
                  </a:tcPr>
                </a:tc>
                <a:tc>
                  <a:txBody>
                    <a:bodyPr wrap="square"/>
                    <a:lstStyle/>
                    <a:p>
                      <a:pPr algn="r"/>
                      <a:r>
                        <a:rPr sz="1400" b="1" i="0">
                          <a:solidFill>
                            <a:srgbClr val="14222E"/>
                          </a:solidFill>
                          <a:latin typeface="Consolas"/>
                        </a:rPr>
                        <a:t>151 969</a:t>
                      </a:r>
                    </a:p>
                  </a:txBody>
                  <a:tcPr marL="109728" marR="109728" anchor="ctr">
                    <a:solidFill>
                      <a:srgbClr val="F2F5F7"/>
                    </a:solidFill>
                  </a:tcPr>
                </a:tc>
                <a:tc>
                  <a:txBody>
                    <a:bodyPr wrap="square"/>
                    <a:lstStyle/>
                    <a:p>
                      <a:pPr algn="r"/>
                      <a:r>
                        <a:rPr sz="1400" b="1" i="0">
                          <a:solidFill>
                            <a:srgbClr val="14222E"/>
                          </a:solidFill>
                          <a:latin typeface="Consolas"/>
                        </a:rPr>
                        <a:t>1.18×</a:t>
                      </a:r>
                    </a:p>
                  </a:txBody>
                  <a:tcPr marL="109728" marR="109728" anchor="ctr">
                    <a:solidFill>
                      <a:srgbClr val="F2F5F7"/>
                    </a:solidFill>
                  </a:tcPr>
                </a:tc>
                <a:tc>
                  <a:txBody>
                    <a:bodyPr wrap="square"/>
                    <a:lstStyle/>
                    <a:p>
                      <a:pPr algn="r"/>
                      <a:r>
                        <a:rPr sz="1400" b="1" i="0">
                          <a:solidFill>
                            <a:srgbClr val="14222E"/>
                          </a:solidFill>
                          <a:latin typeface="Consolas"/>
                        </a:rPr>
                        <a:t>4.98 of 8</a:t>
                      </a:r>
                    </a:p>
                  </a:txBody>
                  <a:tcPr marL="109728" marR="109728" anchor="ctr">
                    <a:solidFill>
                      <a:srgbClr val="F2F5F7"/>
                    </a:solidFill>
                  </a:tcPr>
                </a:tc>
                <a:tc>
                  <a:txBody>
                    <a:bodyPr wrap="square"/>
                    <a:lstStyle/>
                    <a:p>
                      <a:pPr algn="r"/>
                      <a:r>
                        <a:rPr sz="1400" b="1" i="0">
                          <a:solidFill>
                            <a:srgbClr val="14222E"/>
                          </a:solidFill>
                          <a:latin typeface="Consolas"/>
                        </a:rPr>
                        <a:t>0.48</a:t>
                      </a:r>
                    </a:p>
                  </a:txBody>
                  <a:tcPr marL="109728" marR="109728" anchor="ctr">
                    <a:solidFill>
                      <a:srgbClr val="F2F5F7"/>
                    </a:solidFill>
                  </a:tcPr>
                </a:tc>
                <a:tc>
                  <a:txBody>
                    <a:bodyPr wrap="square"/>
                    <a:lstStyle/>
                    <a:p>
                      <a:pPr algn="r"/>
                      <a:r>
                        <a:rPr sz="1400" b="1" i="0">
                          <a:solidFill>
                            <a:srgbClr val="14222E"/>
                          </a:solidFill>
                          <a:latin typeface="Consolas"/>
                        </a:rPr>
                        <a:t>72.7%</a:t>
                      </a:r>
                    </a:p>
                  </a:txBody>
                  <a:tcPr marL="109728" marR="109728" anchor="ctr">
                    <a:solidFill>
                      <a:srgbClr val="F2F5F7"/>
                    </a:solidFill>
                  </a:tcPr>
                </a:tc>
              </a:tr>
            </a:tbl>
          </a:graphicData>
        </a:graphic>
      </p:graphicFrame>
      <p:sp>
        <p:nvSpPr>
          <p:cNvPr id="6" name="TextBox 5"/>
          <p:cNvSpPr txBox="1"/>
          <p:nvPr/>
        </p:nvSpPr>
        <p:spPr>
          <a:xfrm>
            <a:off x="685800" y="4169664"/>
            <a:ext cx="10881360" cy="1645920"/>
          </a:xfrm>
          <a:prstGeom prst="rect">
            <a:avLst/>
          </a:prstGeom>
          <a:noFill/>
        </p:spPr>
        <p:txBody>
          <a:bodyPr wrap="square">
            <a:spAutoFit/>
          </a:bodyPr>
          <a:lstStyle/>
          <a:p>
            <a:pPr algn="l"/>
            <a:r>
              <a:rPr sz="1600" b="1" i="0">
                <a:solidFill>
                  <a:srgbClr val="A84B2A"/>
                </a:solidFill>
                <a:latin typeface="Segoe UI"/>
              </a:rPr>
              <a:t>The broker is at 0.48 cores while being the thing in the way.  </a:t>
            </a:r>
            <a:r>
              <a:rPr sz="1600" b="0" i="0">
                <a:solidFill>
                  <a:srgbClr val="2E3D4A"/>
                </a:solidFill>
                <a:latin typeface="Segoe UI"/>
              </a:rPr>
              <a:t>It has run out of write throughput, not CPU: 151 969 orders/sec is 759 845 records/sec, against the ~750 000 one broker accepts — because each order becomes five records.</a:t>
            </a:r>
          </a:p>
          <a:p>
            <a:pPr>
              <a:spcBef>
                <a:spcPts val="1200"/>
              </a:spcBef>
            </a:pPr>
            <a:r>
              <a:rPr sz="1500" b="0" i="0">
                <a:solidFill>
                  <a:srgbClr val="2E3D4A"/>
                </a:solidFill>
                <a:latin typeface="Segoe UI"/>
              </a:rPr>
              <a:t>A broker that looks asleep can still be the ceiling, and the only way to tell is to have both CPU figures beside the throughput. "The broker is full" would have been the wrong way to say it — it implies a busy broker, and the two cases are only distinguishable from this table.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75488"/>
            <a:ext cx="10972800" cy="274320"/>
          </a:xfrm>
          <a:prstGeom prst="rect">
            <a:avLst/>
          </a:prstGeom>
          <a:noFill/>
        </p:spPr>
        <p:txBody>
          <a:bodyPr wrap="square">
            <a:spAutoFit/>
          </a:bodyPr>
          <a:lstStyle/>
          <a:p>
            <a:pPr algn="l"/>
            <a:r>
              <a:rPr sz="1150" b="1" i="0" spc="120">
                <a:solidFill>
                  <a:srgbClr val="1B6B8A"/>
                </a:solidFill>
                <a:latin typeface="Segoe UI"/>
              </a:rPr>
              <a:t>BACKUP — SAME SCRIPT, BIGGER KAFKA</a:t>
            </a:r>
          </a:p>
        </p:txBody>
      </p:sp>
      <p:sp>
        <p:nvSpPr>
          <p:cNvPr id="3" name="TextBox 2"/>
          <p:cNvSpPr txBox="1"/>
          <p:nvPr/>
        </p:nvSpPr>
        <p:spPr>
          <a:xfrm>
            <a:off x="640080" y="786384"/>
            <a:ext cx="10972800" cy="731520"/>
          </a:xfrm>
          <a:prstGeom prst="rect">
            <a:avLst/>
          </a:prstGeom>
          <a:noFill/>
        </p:spPr>
        <p:txBody>
          <a:bodyPr wrap="square">
            <a:spAutoFit/>
          </a:bodyPr>
          <a:lstStyle/>
          <a:p>
            <a:pPr algn="l"/>
            <a:r>
              <a:rPr sz="3000" b="1" i="0">
                <a:solidFill>
                  <a:srgbClr val="14222E"/>
                </a:solidFill>
                <a:latin typeface="Segoe UI"/>
              </a:rPr>
              <a:t>Is that Flink's ceiling, or the laptop's?</a:t>
            </a:r>
          </a:p>
        </p:txBody>
      </p:sp>
      <p:sp>
        <p:nvSpPr>
          <p:cNvPr id="4" name="Rectangle 3"/>
          <p:cNvSpPr/>
          <p:nvPr/>
        </p:nvSpPr>
        <p:spPr>
          <a:xfrm>
            <a:off x="640080" y="1444752"/>
            <a:ext cx="10908792" cy="12700"/>
          </a:xfrm>
          <a:prstGeom prst="rect">
            <a:avLst/>
          </a:prstGeom>
          <a:solidFill>
            <a:srgbClr val="D8DF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685800" y="1746504"/>
          <a:ext cx="8412480" cy="1499616"/>
        </p:xfrm>
        <a:graphic>
          <a:graphicData uri="http://schemas.openxmlformats.org/drawingml/2006/table">
            <a:tbl>
              <a:tblPr bandRow="1">
                <a:tableStyleId>{5C22544A-7EE6-4342-B048-85BDC9FD1C3A}</a:tableStyleId>
              </a:tblPr>
              <a:tblGrid>
                <a:gridCol w="4023360"/>
                <a:gridCol w="2194560"/>
                <a:gridCol w="2194560"/>
              </a:tblGrid>
              <a:tr h="402336">
                <a:tc>
                  <a:txBody>
                    <a:bodyPr wrap="square"/>
                    <a:lstStyle/>
                    <a:p>
                      <a:pPr algn="l"/>
                      <a:r>
                        <a:rPr sz="1500" b="1" i="0">
                          <a:solidFill>
                            <a:srgbClr val="FFFFFF"/>
                          </a:solidFill>
                          <a:latin typeface="Segoe UI"/>
                        </a:rPr>
                        <a:t/>
                      </a:r>
                    </a:p>
                  </a:txBody>
                  <a:tcPr marL="109728" marR="109728" anchor="ctr">
                    <a:solidFill>
                      <a:srgbClr val="14222E"/>
                    </a:solidFill>
                  </a:tcPr>
                </a:tc>
                <a:tc>
                  <a:txBody>
                    <a:bodyPr wrap="square"/>
                    <a:lstStyle/>
                    <a:p>
                      <a:pPr algn="r"/>
                      <a:r>
                        <a:rPr sz="1500" b="1" i="0">
                          <a:solidFill>
                            <a:srgbClr val="FFFFFF"/>
                          </a:solidFill>
                          <a:latin typeface="Segoe UI"/>
                        </a:rPr>
                        <a:t>laptop</a:t>
                      </a:r>
                    </a:p>
                  </a:txBody>
                  <a:tcPr marL="109728" marR="109728" anchor="ctr">
                    <a:solidFill>
                      <a:srgbClr val="14222E"/>
                    </a:solidFill>
                  </a:tcPr>
                </a:tc>
                <a:tc>
                  <a:txBody>
                    <a:bodyPr wrap="square"/>
                    <a:lstStyle/>
                    <a:p>
                      <a:pPr algn="r"/>
                      <a:r>
                        <a:rPr sz="1500" b="1" i="0">
                          <a:solidFill>
                            <a:srgbClr val="FFFFFF"/>
                          </a:solidFill>
                          <a:latin typeface="Segoe UI"/>
                        </a:rPr>
                        <a:t>AWS</a:t>
                      </a:r>
                    </a:p>
                  </a:txBody>
                  <a:tcPr marL="109728" marR="109728" anchor="ctr">
                    <a:solidFill>
                      <a:srgbClr val="14222E"/>
                    </a:solidFill>
                  </a:tcPr>
                </a:tc>
              </a:tr>
              <a:tr h="365760">
                <a:tc>
                  <a:txBody>
                    <a:bodyPr wrap="square"/>
                    <a:lstStyle/>
                    <a:p>
                      <a:pPr algn="l"/>
                      <a:r>
                        <a:rPr sz="1500" b="1" i="0">
                          <a:solidFill>
                            <a:srgbClr val="14222E"/>
                          </a:solidFill>
                          <a:latin typeface="Segoe UI"/>
                        </a:rPr>
                        <a:t>4 → 8 units</a:t>
                      </a:r>
                    </a:p>
                  </a:txBody>
                  <a:tcPr marL="109728" marR="109728" anchor="ctr">
                    <a:solidFill>
                      <a:srgbClr val="F2F5F7"/>
                    </a:solidFill>
                  </a:tcPr>
                </a:tc>
                <a:tc>
                  <a:txBody>
                    <a:bodyPr wrap="square"/>
                    <a:lstStyle/>
                    <a:p>
                      <a:pPr algn="r"/>
                      <a:r>
                        <a:rPr sz="1500" b="1" i="0">
                          <a:solidFill>
                            <a:srgbClr val="14222E"/>
                          </a:solidFill>
                          <a:latin typeface="Consolas"/>
                        </a:rPr>
                        <a:t>1.18×</a:t>
                      </a:r>
                    </a:p>
                  </a:txBody>
                  <a:tcPr marL="109728" marR="109728" anchor="ctr">
                    <a:solidFill>
                      <a:srgbClr val="F2F5F7"/>
                    </a:solidFill>
                  </a:tcPr>
                </a:tc>
                <a:tc>
                  <a:txBody>
                    <a:bodyPr wrap="square"/>
                    <a:lstStyle/>
                    <a:p>
                      <a:pPr algn="r"/>
                      <a:r>
                        <a:rPr sz="1500" b="1" i="0">
                          <a:solidFill>
                            <a:srgbClr val="14222E"/>
                          </a:solidFill>
                          <a:latin typeface="Consolas"/>
                        </a:rPr>
                        <a:t>1.73×</a:t>
                      </a:r>
                    </a:p>
                  </a:txBody>
                  <a:tcPr marL="109728" marR="109728" anchor="ctr">
                    <a:solidFill>
                      <a:srgbClr val="F2F5F7"/>
                    </a:solidFill>
                  </a:tcPr>
                </a:tc>
              </a:tr>
              <a:tr h="365760">
                <a:tc>
                  <a:txBody>
                    <a:bodyPr wrap="square"/>
                    <a:lstStyle/>
                    <a:p>
                      <a:pPr algn="l"/>
                      <a:r>
                        <a:rPr sz="1500" b="1" i="0">
                          <a:solidFill>
                            <a:srgbClr val="14222E"/>
                          </a:solidFill>
                          <a:latin typeface="Segoe UI"/>
                        </a:rPr>
                        <a:t>Flink cores at 8 units</a:t>
                      </a:r>
                    </a:p>
                  </a:txBody>
                  <a:tcPr marL="109728" marR="109728" anchor="ctr">
                    <a:solidFill>
                      <a:srgbClr val="F2F5F7"/>
                    </a:solidFill>
                  </a:tcPr>
                </a:tc>
                <a:tc>
                  <a:txBody>
                    <a:bodyPr wrap="square"/>
                    <a:lstStyle/>
                    <a:p>
                      <a:pPr algn="r"/>
                      <a:r>
                        <a:rPr sz="1500" b="1" i="0">
                          <a:solidFill>
                            <a:srgbClr val="14222E"/>
                          </a:solidFill>
                          <a:latin typeface="Consolas"/>
                        </a:rPr>
                        <a:t>4.98 of 8</a:t>
                      </a:r>
                    </a:p>
                  </a:txBody>
                  <a:tcPr marL="109728" marR="109728" anchor="ctr">
                    <a:solidFill>
                      <a:srgbClr val="F2F5F7"/>
                    </a:solidFill>
                  </a:tcPr>
                </a:tc>
                <a:tc>
                  <a:txBody>
                    <a:bodyPr wrap="square"/>
                    <a:lstStyle/>
                    <a:p>
                      <a:pPr algn="r"/>
                      <a:r>
                        <a:rPr sz="1500" b="1" i="0">
                          <a:solidFill>
                            <a:srgbClr val="14222E"/>
                          </a:solidFill>
                          <a:latin typeface="Consolas"/>
                        </a:rPr>
                        <a:t>7.99 of 8</a:t>
                      </a:r>
                    </a:p>
                  </a:txBody>
                  <a:tcPr marL="109728" marR="109728" anchor="ctr">
                    <a:solidFill>
                      <a:srgbClr val="F2F5F7"/>
                    </a:solidFill>
                  </a:tcPr>
                </a:tc>
              </a:tr>
              <a:tr h="365760">
                <a:tc>
                  <a:txBody>
                    <a:bodyPr wrap="square"/>
                    <a:lstStyle/>
                    <a:p>
                      <a:pPr algn="l"/>
                      <a:r>
                        <a:rPr sz="1500" b="0" i="0">
                          <a:solidFill>
                            <a:srgbClr val="2E3D4A"/>
                          </a:solidFill>
                          <a:latin typeface="Segoe UI"/>
                        </a:rPr>
                        <a:t>broker cores at 8 units</a:t>
                      </a:r>
                    </a:p>
                  </a:txBody>
                  <a:tcPr marL="109728" marR="109728" anchor="ctr">
                    <a:solidFill>
                      <a:srgbClr val="FFFFFF"/>
                    </a:solidFill>
                  </a:tcPr>
                </a:tc>
                <a:tc>
                  <a:txBody>
                    <a:bodyPr wrap="square"/>
                    <a:lstStyle/>
                    <a:p>
                      <a:pPr algn="r"/>
                      <a:r>
                        <a:rPr sz="1500" b="0" i="0">
                          <a:solidFill>
                            <a:srgbClr val="2E3D4A"/>
                          </a:solidFill>
                          <a:latin typeface="Consolas"/>
                        </a:rPr>
                        <a:t>0.48</a:t>
                      </a:r>
                    </a:p>
                  </a:txBody>
                  <a:tcPr marL="109728" marR="109728" anchor="ctr">
                    <a:solidFill>
                      <a:srgbClr val="FFFFFF"/>
                    </a:solidFill>
                  </a:tcPr>
                </a:tc>
                <a:tc>
                  <a:txBody>
                    <a:bodyPr wrap="square"/>
                    <a:lstStyle/>
                    <a:p>
                      <a:pPr algn="r"/>
                      <a:r>
                        <a:rPr sz="1500" b="0" i="0">
                          <a:solidFill>
                            <a:srgbClr val="2E3D4A"/>
                          </a:solidFill>
                          <a:latin typeface="Consolas"/>
                        </a:rPr>
                        <a:t>0.62</a:t>
                      </a:r>
                    </a:p>
                  </a:txBody>
                  <a:tcPr marL="109728" marR="109728" anchor="ctr">
                    <a:solidFill>
                      <a:srgbClr val="FFFFFF"/>
                    </a:solidFill>
                  </a:tcPr>
                </a:tc>
              </a:tr>
            </a:tbl>
          </a:graphicData>
        </a:graphic>
      </p:graphicFrame>
      <p:sp>
        <p:nvSpPr>
          <p:cNvPr id="6" name="TextBox 5"/>
          <p:cNvSpPr txBox="1"/>
          <p:nvPr/>
        </p:nvSpPr>
        <p:spPr>
          <a:xfrm>
            <a:off x="685800" y="3803904"/>
            <a:ext cx="10881360" cy="1828800"/>
          </a:xfrm>
          <a:prstGeom prst="rect">
            <a:avLst/>
          </a:prstGeom>
          <a:noFill/>
        </p:spPr>
        <p:txBody>
          <a:bodyPr wrap="square">
            <a:spAutoFit/>
          </a:bodyPr>
          <a:lstStyle/>
          <a:p>
            <a:pPr algn="l"/>
            <a:r>
              <a:rPr sz="1700" b="1" i="0">
                <a:solidFill>
                  <a:srgbClr val="2C6E49"/>
                </a:solidFill>
                <a:latin typeface="Segoe UI"/>
              </a:rPr>
              <a:t>The laptop's.  </a:t>
            </a:r>
            <a:r>
              <a:rPr sz="1700" b="0" i="0">
                <a:solidFill>
                  <a:srgbClr val="2E3D4A"/>
                </a:solidFill>
                <a:latin typeface="Segoe UI"/>
              </a:rPr>
              <a:t>The same script, unchanged, against a two-broker MSK cluster. With the broker no longer in the way, Flink uses everything it is given and the flattening disappears. Nothing about the job changed.</a:t>
            </a:r>
          </a:p>
          <a:p>
            <a:pPr>
              <a:spcBef>
                <a:spcPts val="1400"/>
              </a:spcBef>
            </a:pPr>
            <a:r>
              <a:rPr sz="1450" b="0" i="1">
                <a:solidFill>
                  <a:srgbClr val="6B7A87"/>
                </a:solidFill>
                <a:latin typeface="Segoe UI"/>
              </a:rPr>
              <a:t>Stated honestly: that run was a confirmation, not a second demo. Its step ratios rise rather than decay, which is backwards and is not yet explained, and its two highest points were measured once each. The laptop numbers are the ones to stand behind.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75488"/>
            <a:ext cx="10972800" cy="274320"/>
          </a:xfrm>
          <a:prstGeom prst="rect">
            <a:avLst/>
          </a:prstGeom>
          <a:noFill/>
        </p:spPr>
        <p:txBody>
          <a:bodyPr wrap="square">
            <a:spAutoFit/>
          </a:bodyPr>
          <a:lstStyle/>
          <a:p>
            <a:pPr algn="l"/>
            <a:r>
              <a:rPr sz="1150" b="1" i="0" spc="120">
                <a:solidFill>
                  <a:srgbClr val="1B6B8A"/>
                </a:solidFill>
                <a:latin typeface="Segoe UI"/>
              </a:rPr>
              <a:t>BACKUP — HOW IT WAS BUILT</a:t>
            </a:r>
          </a:p>
        </p:txBody>
      </p:sp>
      <p:sp>
        <p:nvSpPr>
          <p:cNvPr id="3" name="TextBox 2"/>
          <p:cNvSpPr txBox="1"/>
          <p:nvPr/>
        </p:nvSpPr>
        <p:spPr>
          <a:xfrm>
            <a:off x="640080" y="786384"/>
            <a:ext cx="10972800" cy="731520"/>
          </a:xfrm>
          <a:prstGeom prst="rect">
            <a:avLst/>
          </a:prstGeom>
          <a:noFill/>
        </p:spPr>
        <p:txBody>
          <a:bodyPr wrap="square">
            <a:spAutoFit/>
          </a:bodyPr>
          <a:lstStyle/>
          <a:p>
            <a:pPr algn="l"/>
            <a:r>
              <a:rPr sz="3000" b="1" i="0">
                <a:solidFill>
                  <a:srgbClr val="14222E"/>
                </a:solidFill>
                <a:latin typeface="Segoe UI"/>
              </a:rPr>
              <a:t>Thirteen steps, each reviewed before the next</a:t>
            </a:r>
          </a:p>
        </p:txBody>
      </p:sp>
      <p:sp>
        <p:nvSpPr>
          <p:cNvPr id="4" name="Rectangle 3"/>
          <p:cNvSpPr/>
          <p:nvPr/>
        </p:nvSpPr>
        <p:spPr>
          <a:xfrm>
            <a:off x="640080" y="1444752"/>
            <a:ext cx="10908792" cy="12700"/>
          </a:xfrm>
          <a:prstGeom prst="rect">
            <a:avLst/>
          </a:prstGeom>
          <a:solidFill>
            <a:srgbClr val="D8DF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1746504"/>
            <a:ext cx="10881360" cy="3840480"/>
          </a:xfrm>
          <a:prstGeom prst="rect">
            <a:avLst/>
          </a:prstGeom>
          <a:noFill/>
        </p:spPr>
        <p:txBody>
          <a:bodyPr wrap="square">
            <a:spAutoFit/>
          </a:bodyPr>
          <a:lstStyle/>
          <a:p>
            <a:pPr algn="l">
              <a:spcAft>
                <a:spcPts val="1400"/>
              </a:spcAft>
            </a:pPr>
            <a:r>
              <a:rPr sz="1600" b="1" i="0">
                <a:solidFill>
                  <a:srgbClr val="1B6B8A"/>
                </a:solidFill>
                <a:latin typeface="Segoe UI"/>
              </a:rPr>
              <a:t>▸   </a:t>
            </a:r>
            <a:r>
              <a:rPr sz="1600" b="1" i="0">
                <a:solidFill>
                  <a:srgbClr val="14222E"/>
                </a:solidFill>
                <a:latin typeface="Segoe UI"/>
              </a:rPr>
              <a:t>One branch per step, squash-merged.  </a:t>
            </a:r>
            <a:r>
              <a:rPr sz="1600" b="0" i="0">
                <a:solidFill>
                  <a:srgbClr val="2E3D4A"/>
                </a:solidFill>
                <a:latin typeface="Segoe UI"/>
              </a:rPr>
              <a:t>Linear history, one commit and one tag per step, branches kept so the working history stays inspectable.</a:t>
            </a:r>
          </a:p>
          <a:p>
            <a:pPr>
              <a:spcAft>
                <a:spcPts val="1400"/>
              </a:spcAft>
            </a:pPr>
            <a:r>
              <a:rPr sz="1600" b="1" i="0">
                <a:solidFill>
                  <a:srgbClr val="1B6B8A"/>
                </a:solidFill>
                <a:latin typeface="Segoe UI"/>
              </a:rPr>
              <a:t>▸   </a:t>
            </a:r>
            <a:r>
              <a:rPr sz="1600" b="1" i="0">
                <a:solidFill>
                  <a:srgbClr val="14222E"/>
                </a:solidFill>
                <a:latin typeface="Segoe UI"/>
              </a:rPr>
              <a:t>CI on every push.  </a:t>
            </a:r>
            <a:r>
              <a:rPr sz="1600" b="0" i="0">
                <a:solidFill>
                  <a:srgbClr val="2E3D4A"/>
                </a:solidFill>
                <a:latin typeface="Segoe UI"/>
              </a:rPr>
              <a:t>Build and unit tests, shellcheck, a cold-start run of the whole stack, and a job that verifies the expected numbers against real topics.</a:t>
            </a:r>
          </a:p>
          <a:p>
            <a:pPr>
              <a:spcAft>
                <a:spcPts val="1400"/>
              </a:spcAft>
            </a:pPr>
            <a:r>
              <a:rPr sz="1600" b="1" i="0">
                <a:solidFill>
                  <a:srgbClr val="1B6B8A"/>
                </a:solidFill>
                <a:latin typeface="Segoe UI"/>
              </a:rPr>
              <a:t>▸   </a:t>
            </a:r>
            <a:r>
              <a:rPr sz="1600" b="1" i="0">
                <a:solidFill>
                  <a:srgbClr val="14222E"/>
                </a:solidFill>
                <a:latin typeface="Segoe UI"/>
              </a:rPr>
              <a:t>Everything is scripted.  </a:t>
            </a:r>
            <a:r>
              <a:rPr sz="1600" b="0" i="0">
                <a:solidFill>
                  <a:srgbClr val="2E3D4A"/>
                </a:solidFill>
                <a:latin typeface="Segoe UI"/>
              </a:rPr>
              <a:t>The demo, the chaos test, the latency measurement, the scaling run — and this deck.</a:t>
            </a:r>
          </a:p>
        </p:txBody>
      </p:sp>
      <p:sp>
        <p:nvSpPr>
          <p:cNvPr id="6" name="TextBox 5"/>
          <p:cNvSpPr txBox="1"/>
          <p:nvPr/>
        </p:nvSpPr>
        <p:spPr>
          <a:xfrm>
            <a:off x="685800" y="4032504"/>
            <a:ext cx="10881360" cy="1463040"/>
          </a:xfrm>
          <a:prstGeom prst="rect">
            <a:avLst/>
          </a:prstGeom>
          <a:noFill/>
        </p:spPr>
        <p:txBody>
          <a:bodyPr wrap="square">
            <a:spAutoFit/>
          </a:bodyPr>
          <a:lstStyle/>
          <a:p>
            <a:pPr algn="l"/>
            <a:r>
              <a:rPr sz="1500" b="0" i="0">
                <a:solidFill>
                  <a:srgbClr val="2E3D4A"/>
                </a:solidFill>
                <a:latin typeface="Segoe UI"/>
              </a:rPr>
              <a:t>The scaling harness refuses to report a number it cannot stand behind: it checks that the CPU limit was applied to the container, that a job is actually running, that the backlog outlasted the measurement window, and that no previous run still owns the cluster. Every one of those was a real failure during the scaling work, and each had produced a confident wrong answer.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