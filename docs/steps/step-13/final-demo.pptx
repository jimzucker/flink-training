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this guarantee is the latency on the next slide. Don't let anyone read the 518ms as slowness — it is the commit interval, and it is a dial.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value latency is measured from the window close, not the trade — the window is the specification, not a delay to account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asked where it stops. The demo pair is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volunteer this. It is an answer to one question, not a slide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journal records what drove each step, what was decided, and what its review changed. docs/reviews/ has the exchanges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122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1  </a:t>
            </a:r>
            <a:r>
              <a:rPr sz="1250" b="1" i="0">
                <a:solidFill>
                  <a:srgbClr val="FFFFFF"/>
                </a:solidFill>
                <a:latin typeface="Consolas"/>
              </a:rPr>
              <a:t>orders</a:t>
            </a:r>
          </a:p>
          <a:p>
            <a:pPr algn="ctr"/>
            <a:r>
              <a:rPr sz="1000" b="0" i="0">
                <a:solidFill>
                  <a:srgbClr val="FFFFFF"/>
                </a:solidFill>
                <a:latin typeface="Segoe UI"/>
              </a:rPr>
              <a:t>K: tradeId</a:t>
            </a:r>
          </a:p>
        </p:txBody>
      </p:sp>
      <p:sp>
        <p:nvSpPr>
          <p:cNvPr id="6" name="Rounded Rectangle 5"/>
          <p:cNvSpPr/>
          <p:nvPr/>
        </p:nvSpPr>
        <p:spPr>
          <a:xfrm>
            <a:off x="685800" y="3483863"/>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2  </a:t>
            </a:r>
            <a:r>
              <a:rPr sz="1250" b="1" i="0">
                <a:solidFill>
                  <a:srgbClr val="FFFFFF"/>
                </a:solidFill>
                <a:latin typeface="Consolas"/>
              </a:rPr>
              <a:t>prices</a:t>
            </a:r>
          </a:p>
          <a:p>
            <a:pPr algn="ctr"/>
            <a:r>
              <a:rPr sz="1000" b="0" i="0">
                <a:solidFill>
                  <a:srgbClr val="FFFFFF"/>
                </a:solidFill>
                <a:latin typeface="Segoe UI"/>
              </a:rPr>
              <a:t>K: symbol</a:t>
            </a:r>
          </a:p>
        </p:txBody>
      </p:sp>
      <p:sp>
        <p:nvSpPr>
          <p:cNvPr id="7" name="Right Arrow 6"/>
          <p:cNvSpPr/>
          <p:nvPr/>
        </p:nvSpPr>
        <p:spPr>
          <a:xfrm>
            <a:off x="294436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74720" y="1993392"/>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positions</a:t>
            </a:r>
          </a:p>
          <a:p>
            <a:pPr algn="ctr"/>
            <a:r>
              <a:rPr sz="1000" b="0" i="0">
                <a:solidFill>
                  <a:srgbClr val="FFFFFF"/>
                </a:solidFill>
                <a:latin typeface="Segoe UI"/>
              </a:rPr>
              <a:t>keyBy symbol  /  acct·sub·sym</a:t>
            </a:r>
          </a:p>
        </p:txBody>
      </p:sp>
      <p:sp>
        <p:nvSpPr>
          <p:cNvPr id="9" name="Right Arrow 8"/>
          <p:cNvSpPr/>
          <p:nvPr/>
        </p:nvSpPr>
        <p:spPr>
          <a:xfrm>
            <a:off x="587044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0" y="160934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3  </a:t>
            </a:r>
            <a:r>
              <a:rPr sz="1250" b="1" i="0">
                <a:solidFill>
                  <a:srgbClr val="FFFFFF"/>
                </a:solidFill>
                <a:latin typeface="Consolas"/>
              </a:rPr>
              <a:t>positions-by-symbol</a:t>
            </a:r>
          </a:p>
          <a:p>
            <a:pPr algn="ctr"/>
            <a:r>
              <a:rPr sz="1000" b="0" i="0">
                <a:solidFill>
                  <a:srgbClr val="FFFFFF"/>
                </a:solidFill>
                <a:latin typeface="Segoe UI"/>
              </a:rPr>
              <a:t>4 keys · 10/sec</a:t>
            </a:r>
          </a:p>
        </p:txBody>
      </p:sp>
      <p:sp>
        <p:nvSpPr>
          <p:cNvPr id="11" name="Rounded Rectangle 10"/>
          <p:cNvSpPr/>
          <p:nvPr/>
        </p:nvSpPr>
        <p:spPr>
          <a:xfrm>
            <a:off x="6400800" y="25694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4  </a:t>
            </a:r>
            <a:r>
              <a:rPr sz="1250" b="1" i="0">
                <a:solidFill>
                  <a:srgbClr val="FFFFFF"/>
                </a:solidFill>
                <a:latin typeface="Consolas"/>
              </a:rPr>
              <a:t>positions-by-account</a:t>
            </a:r>
          </a:p>
          <a:p>
            <a:pPr algn="ctr"/>
            <a:r>
              <a:rPr sz="1000" b="0" i="0">
                <a:solidFill>
                  <a:srgbClr val="FFFFFF"/>
                </a:solidFill>
                <a:latin typeface="Segoe UI"/>
              </a:rPr>
              <a:t>16 keys · 40/sec</a:t>
            </a:r>
          </a:p>
        </p:txBody>
      </p:sp>
      <p:sp>
        <p:nvSpPr>
          <p:cNvPr id="12" name="Right Arrow 11"/>
          <p:cNvSpPr/>
          <p:nvPr/>
        </p:nvSpPr>
        <p:spPr>
          <a:xfrm>
            <a:off x="294436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720" y="3392424"/>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market value</a:t>
            </a:r>
          </a:p>
          <a:p>
            <a:pPr algn="ctr"/>
            <a:r>
              <a:rPr sz="1000" b="0" i="0">
                <a:solidFill>
                  <a:srgbClr val="FFFFFF"/>
                </a:solidFill>
                <a:latin typeface="Segoe UI"/>
              </a:rPr>
              <a:t>price × position, 10s window</a:t>
            </a:r>
          </a:p>
        </p:txBody>
      </p:sp>
      <p:sp>
        <p:nvSpPr>
          <p:cNvPr id="14" name="Right Arrow 13"/>
          <p:cNvSpPr/>
          <p:nvPr/>
        </p:nvSpPr>
        <p:spPr>
          <a:xfrm>
            <a:off x="587044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0" y="352958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5  </a:t>
            </a:r>
            <a:r>
              <a:rPr sz="1250" b="1" i="0">
                <a:solidFill>
                  <a:srgbClr val="FFFFFF"/>
                </a:solidFill>
                <a:latin typeface="Consolas"/>
              </a:rPr>
              <a:t>mv-by-symbol</a:t>
            </a:r>
          </a:p>
          <a:p>
            <a:pPr algn="ctr"/>
            <a:r>
              <a:rPr sz="1000" b="0" i="0">
                <a:solidFill>
                  <a:srgbClr val="FFFFFF"/>
                </a:solidFill>
                <a:latin typeface="Segoe UI"/>
              </a:rPr>
              <a:t>4 keys · 4 per window</a:t>
            </a:r>
          </a:p>
        </p:txBody>
      </p:sp>
      <p:sp>
        <p:nvSpPr>
          <p:cNvPr id="16" name="Rounded Rectangle 15"/>
          <p:cNvSpPr/>
          <p:nvPr/>
        </p:nvSpPr>
        <p:spPr>
          <a:xfrm>
            <a:off x="6400800" y="448970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6  </a:t>
            </a:r>
            <a:r>
              <a:rPr sz="1250" b="1" i="0">
                <a:solidFill>
                  <a:srgbClr val="FFFFFF"/>
                </a:solidFill>
                <a:latin typeface="Consolas"/>
              </a:rPr>
              <a:t>mv-by-account</a:t>
            </a:r>
          </a:p>
          <a:p>
            <a:pPr algn="ctr"/>
            <a:r>
              <a:rPr sz="1000" b="0" i="0">
                <a:solidFill>
                  <a:srgbClr val="FFFFFF"/>
                </a:solidFill>
                <a:latin typeface="Segoe UI"/>
              </a:rPr>
              <a:t>16 keys · 16 per window</a:t>
            </a:r>
          </a:p>
        </p:txBody>
      </p:sp>
      <p:sp>
        <p:nvSpPr>
          <p:cNvPr id="17" name="TextBox 16"/>
          <p:cNvSpPr txBox="1"/>
          <p:nvPr/>
        </p:nvSpPr>
        <p:spPr>
          <a:xfrm>
            <a:off x="8915400" y="1929384"/>
            <a:ext cx="2834640" cy="2926080"/>
          </a:xfrm>
          <a:prstGeom prst="rect">
            <a:avLst/>
          </a:prstGeom>
          <a:noFill/>
        </p:spPr>
        <p:txBody>
          <a:bodyPr wrap="square">
            <a:spAutoFit/>
          </a:bodyPr>
          <a:lstStyle/>
          <a:p>
            <a:pPr algn="l">
              <a:spcAft>
                <a:spcPts val="1200"/>
              </a:spcAft>
            </a:pPr>
            <a:r>
              <a:rPr sz="1200" b="1" i="0">
                <a:solidFill>
                  <a:srgbClr val="14222E"/>
                </a:solidFill>
                <a:latin typeface="Segoe UI"/>
              </a:rPr>
              <a:t>One order, five records.  </a:t>
            </a:r>
            <a:r>
              <a:rPr sz="1200" b="0" i="0">
                <a:solidFill>
                  <a:srgbClr val="2E3D4A"/>
                </a:solidFill>
                <a:latin typeface="Segoe UI"/>
              </a:rPr>
              <a:t>Four account-side allocations plus one symbol-side position.</a:t>
            </a:r>
          </a:p>
          <a:p>
            <a:pPr>
              <a:spcAft>
                <a:spcPts val="1200"/>
              </a:spcAft>
            </a:pPr>
            <a:r>
              <a:rPr sz="1200" b="1" i="0">
                <a:solidFill>
                  <a:srgbClr val="14222E"/>
                </a:solidFill>
                <a:latin typeface="Segoe UI"/>
              </a:rPr>
              <a:t>Two aggregations, in parallel.  </a:t>
            </a:r>
            <a:r>
              <a:rPr sz="1200" b="0" i="0">
                <a:solidFill>
                  <a:srgbClr val="2E3D4A"/>
                </a:solidFill>
                <a:latin typeface="Segoe UI"/>
              </a:rPr>
              <a:t>One key per symbol; one per account and symbol.</a:t>
            </a:r>
          </a:p>
          <a:p>
            <a:pPr>
              <a:spcAft>
                <a:spcPts val="1200"/>
              </a:spcAft>
            </a:pPr>
            <a:r>
              <a:rPr sz="1200" b="1" i="0">
                <a:solidFill>
                  <a:srgbClr val="14222E"/>
                </a:solidFill>
                <a:latin typeface="Segoe UI"/>
              </a:rPr>
              <a:t>Prices are broadcast.  </a:t>
            </a:r>
            <a:r>
              <a:rPr sz="1200" b="0" i="0">
                <a:solidFill>
                  <a:srgbClr val="2E3D4A"/>
                </a:solidFill>
                <a:latin typeface="Segoe UI"/>
              </a:rPr>
              <a:t>Every task sees every price.</a:t>
            </a:r>
          </a:p>
        </p:txBody>
      </p:sp>
      <p:sp>
        <p:nvSpPr>
          <p:cNvPr id="18" name="TextBox 17"/>
          <p:cNvSpPr txBox="1"/>
          <p:nvPr/>
        </p:nvSpPr>
        <p:spPr>
          <a:xfrm>
            <a:off x="685800" y="5806440"/>
            <a:ext cx="10881360" cy="822960"/>
          </a:xfrm>
          <a:prstGeom prst="rect">
            <a:avLst/>
          </a:prstGeom>
          <a:noFill/>
        </p:spPr>
        <p:txBody>
          <a:bodyPr wrap="square">
            <a:spAutoFit/>
          </a:bodyPr>
          <a:lstStyle/>
          <a:p>
            <a:pPr algn="l"/>
            <a:r>
              <a:rPr sz="1350" b="0" i="1">
                <a:solidFill>
                  <a:srgbClr val="6B7A87"/>
                </a:solidFill>
                <a:latin typeface="Segoe UI"/>
              </a:rPr>
              <a:t>Every edge is labelled with its key and value; the full walkthrough and object model are in docs/design/pipeline-design.md.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96265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 / setting</a:t>
                      </a:r>
                    </a:p>
                  </a:txBody>
                  <a:tcPr marL="109728" marR="109728" anchor="ctr">
                    <a:solidFill>
                      <a:srgbClr val="14222E"/>
                    </a:solidFill>
                  </a:tcPr>
                </a:tc>
                <a:tc>
                  <a:txBody>
                    <a:bodyPr wrap="square"/>
                    <a:lstStyle/>
                    <a:p>
                      <a:pPr algn="r"/>
                      <a:r>
                        <a:rPr sz="1350" b="1" i="0">
                          <a:solidFill>
                            <a:srgbClr val="FFFFFF"/>
                          </a:solidFill>
                          <a:latin typeface="Segoe UI"/>
                        </a:rPr>
                        <a:t>Demo value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r h="365760">
                <a:tc>
                  <a:txBody>
                    <a:bodyPr wrap="square"/>
                    <a:lstStyle/>
                    <a:p>
                      <a:pPr algn="l"/>
                      <a:r>
                        <a:rPr sz="1350" b="1" i="0">
                          <a:solidFill>
                            <a:srgbClr val="14222E"/>
                          </a:solidFill>
                          <a:latin typeface="Segoe UI"/>
                        </a:rPr>
                        <a:t>Window</a:t>
                      </a:r>
                    </a:p>
                  </a:txBody>
                  <a:tcPr marL="109728" marR="109728" anchor="ctr">
                    <a:solidFill>
                      <a:srgbClr val="F2F5F7"/>
                    </a:solidFill>
                  </a:tcPr>
                </a:tc>
                <a:tc>
                  <a:txBody>
                    <a:bodyPr wrap="square"/>
                    <a:lstStyle/>
                    <a:p>
                      <a:pPr algn="r"/>
                      <a:r>
                        <a:rPr sz="1350" b="1" i="0">
                          <a:solidFill>
                            <a:srgbClr val="14222E"/>
                          </a:solidFill>
                          <a:latin typeface="Consolas"/>
                        </a:rPr>
                        <a:t>10 s  (spec: 1 min)</a:t>
                      </a:r>
                    </a:p>
                  </a:txBody>
                  <a:tcPr marL="109728" marR="109728" anchor="ctr">
                    <a:solidFill>
                      <a:srgbClr val="F2F5F7"/>
                    </a:solidFill>
                  </a:tcPr>
                </a:tc>
              </a:tr>
              <a:tr h="365760">
                <a:tc>
                  <a:txBody>
                    <a:bodyPr wrap="square"/>
                    <a:lstStyle/>
                    <a:p>
                      <a:pPr algn="l"/>
                      <a:r>
                        <a:rPr sz="1350" b="1" i="0">
                          <a:solidFill>
                            <a:srgbClr val="14222E"/>
                          </a:solidFill>
                          <a:latin typeface="Segoe UI"/>
                        </a:rPr>
                        <a:t>Checkpoint interval</a:t>
                      </a:r>
                    </a:p>
                  </a:txBody>
                  <a:tcPr marL="109728" marR="109728" anchor="ctr">
                    <a:solidFill>
                      <a:srgbClr val="F2F5F7"/>
                    </a:solidFill>
                  </a:tcPr>
                </a:tc>
                <a:tc>
                  <a:txBody>
                    <a:bodyPr wrap="square"/>
                    <a:lstStyle/>
                    <a:p>
                      <a:pPr algn="r"/>
                      <a:r>
                        <a:rPr sz="1350" b="1" i="0">
                          <a:solidFill>
                            <a:srgbClr val="14222E"/>
                          </a:solidFill>
                          <a:latin typeface="Consolas"/>
                        </a:rPr>
                        <a:t>1 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TextBox 6"/>
          <p:cNvSpPr txBox="1"/>
          <p:nvPr/>
        </p:nvSpPr>
        <p:spPr>
          <a:xfrm>
            <a:off x="685800" y="5394960"/>
            <a:ext cx="10881360" cy="822960"/>
          </a:xfrm>
          <a:prstGeom prst="rect">
            <a:avLst/>
          </a:prstGeom>
          <a:noFill/>
        </p:spPr>
        <p:txBody>
          <a:bodyPr wrap="square">
            <a:spAutoFit/>
          </a:bodyPr>
          <a:lstStyle/>
          <a:p>
            <a:pPr algn="l"/>
            <a:r>
              <a:rPr sz="1350" b="0" i="0">
                <a:solidFill>
                  <a:srgbClr val="2C6E49"/>
                </a:solidFill>
                <a:latin typeface="Segoe UI"/>
              </a:rPr>
              <a:t>The window is 10 s for the demo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CORRECTNESS UNDER FAILURE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A replayed record is a wrong number, not a duplicate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position is a running sum.  </a:t>
            </a:r>
            <a:r>
              <a:rPr sz="1700" b="0" i="0">
                <a:solidFill>
                  <a:srgbClr val="2E3D4A"/>
                </a:solidFill>
                <a:latin typeface="Segoe UI"/>
              </a:rPr>
              <a:t>At-least-once would silently corrupt it — and a wrong number is harder to spot than a missing one.</a:t>
            </a:r>
          </a:p>
          <a:p>
            <a:pPr>
              <a:spcAft>
                <a:spcPts val="1400"/>
              </a:spcAft>
            </a:pPr>
            <a:r>
              <a:rPr sz="1700" b="1" i="0">
                <a:solidFill>
                  <a:srgbClr val="1B6B8A"/>
                </a:solidFill>
                <a:latin typeface="Segoe UI"/>
              </a:rPr>
              <a:t>▸   </a:t>
            </a:r>
            <a:r>
              <a:rPr sz="1700" b="1" i="0">
                <a:solidFill>
                  <a:srgbClr val="14222E"/>
                </a:solidFill>
                <a:latin typeface="Segoe UI"/>
              </a:rPr>
              <a:t>EXACTLY_ONCE, one transactional id prefix per sink.  </a:t>
            </a:r>
            <a:r>
              <a:rPr sz="1700" b="0" i="0">
                <a:solidFill>
                  <a:srgbClr val="2E3D4A"/>
                </a:solidFill>
                <a:latin typeface="Segoe UI"/>
              </a:rPr>
              <a:t>Every reader in the verification path uses read_committed.</a:t>
            </a:r>
          </a:p>
          <a:p>
            <a:pPr>
              <a:spcAft>
                <a:spcPts val="1400"/>
              </a:spcAft>
            </a:pPr>
            <a:r>
              <a:rPr sz="1700" b="1" i="0">
                <a:solidFill>
                  <a:srgbClr val="1B6B8A"/>
                </a:solidFill>
                <a:latin typeface="Segoe UI"/>
              </a:rPr>
              <a:t>▸   </a:t>
            </a:r>
            <a:r>
              <a:rPr sz="1700" b="1" i="0">
                <a:solidFill>
                  <a:srgbClr val="14222E"/>
                </a:solidFill>
                <a:latin typeface="Segoe UI"/>
              </a:rPr>
              <a:t>Proved by breaking it.  </a:t>
            </a:r>
            <a:r>
              <a:rPr sz="1700" b="0" i="0">
                <a:solidFill>
                  <a:srgbClr val="2E3D4A"/>
                </a:solidFill>
                <a:latin typeface="Segoe UI"/>
              </a:rPr>
              <a:t>scripts/chaos-exactly-once.sh kills a task manager mid-run; the job recovers from checkpoint and the totals still reconcile.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LATENCY</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numbers, and they are not the same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5760720" cy="1133856"/>
        </p:xfrm>
        <a:graphic>
          <a:graphicData uri="http://schemas.openxmlformats.org/drawingml/2006/table">
            <a:tbl>
              <a:tblPr bandRow="1">
                <a:tableStyleId>{5C22544A-7EE6-4342-B048-85BDC9FD1C3A}</a:tableStyleId>
              </a:tblPr>
              <a:tblGrid>
                <a:gridCol w="3291840"/>
                <a:gridCol w="1234440"/>
                <a:gridCol w="1234440"/>
              </a:tblGrid>
              <a:tr h="402336">
                <a:tc>
                  <a:txBody>
                    <a:bodyPr wrap="square"/>
                    <a:lstStyle/>
                    <a:p>
                      <a:pPr algn="l"/>
                      <a:r>
                        <a:rPr sz="1400" b="1" i="0">
                          <a:solidFill>
                            <a:srgbClr val="FFFFFF"/>
                          </a:solidFill>
                          <a:latin typeface="Segoe UI"/>
                        </a:rPr>
                        <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p99</a:t>
                      </a:r>
                    </a:p>
                  </a:txBody>
                  <a:tcPr marL="109728" marR="109728" anchor="ctr">
                    <a:solidFill>
                      <a:srgbClr val="14222E"/>
                    </a:solidFill>
                  </a:tcPr>
                </a:tc>
              </a:tr>
              <a:tr h="365760">
                <a:tc>
                  <a:txBody>
                    <a:bodyPr wrap="square"/>
                    <a:lstStyle/>
                    <a:p>
                      <a:pPr algn="l"/>
                      <a:r>
                        <a:rPr sz="1400" b="0" i="0">
                          <a:solidFill>
                            <a:srgbClr val="2E3D4A"/>
                          </a:solidFill>
                          <a:latin typeface="Segoe UI"/>
                        </a:rPr>
                        <a:t>What the pipeline takes</a:t>
                      </a:r>
                    </a:p>
                  </a:txBody>
                  <a:tcPr marL="109728" marR="109728" anchor="ctr">
                    <a:solidFill>
                      <a:srgbClr val="FFFFFF"/>
                    </a:solidFill>
                  </a:tcPr>
                </a:tc>
                <a:tc>
                  <a:txBody>
                    <a:bodyPr wrap="square"/>
                    <a:lstStyle/>
                    <a:p>
                      <a:pPr algn="r"/>
                      <a:r>
                        <a:rPr sz="1400" b="0" i="0">
                          <a:solidFill>
                            <a:srgbClr val="2E3D4A"/>
                          </a:solidFill>
                          <a:latin typeface="Consolas"/>
                        </a:rPr>
                        <a:t>59 ms</a:t>
                      </a:r>
                    </a:p>
                  </a:txBody>
                  <a:tcPr marL="109728" marR="109728" anchor="ctr">
                    <a:solidFill>
                      <a:srgbClr val="FFFFFF"/>
                    </a:solidFill>
                  </a:tcPr>
                </a:tc>
                <a:tc>
                  <a:txBody>
                    <a:bodyPr wrap="square"/>
                    <a:lstStyle/>
                    <a:p>
                      <a:pPr algn="r"/>
                      <a:r>
                        <a:rPr sz="1400" b="0" i="0">
                          <a:solidFill>
                            <a:srgbClr val="2E3D4A"/>
                          </a:solidFill>
                          <a:latin typeface="Consolas"/>
                        </a:rPr>
                        <a:t>110 ms</a:t>
                      </a:r>
                    </a:p>
                  </a:txBody>
                  <a:tcPr marL="109728" marR="109728" anchor="ctr">
                    <a:solidFill>
                      <a:srgbClr val="FFFFFF"/>
                    </a:solidFill>
                  </a:tcPr>
                </a:tc>
              </a:tr>
              <a:tr h="365760">
                <a:tc>
                  <a:txBody>
                    <a:bodyPr wrap="square"/>
                    <a:lstStyle/>
                    <a:p>
                      <a:pPr algn="l"/>
                      <a:r>
                        <a:rPr sz="1400" b="1" i="0">
                          <a:solidFill>
                            <a:srgbClr val="14222E"/>
                          </a:solidFill>
                          <a:latin typeface="Segoe UI"/>
                        </a:rPr>
                        <a:t>What a consumer waits for</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1 020 ms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6766560" y="1746504"/>
          <a:ext cx="5120640" cy="1133856"/>
        </p:xfrm>
        <a:graphic>
          <a:graphicData uri="http://schemas.openxmlformats.org/drawingml/2006/table">
            <a:tbl>
              <a:tblPr bandRow="1">
                <a:tableStyleId>{5C22544A-7EE6-4342-B048-85BDC9FD1C3A}</a:tableStyleId>
              </a:tblPr>
              <a:tblGrid>
                <a:gridCol w="2651760"/>
                <a:gridCol w="1234440"/>
                <a:gridCol w="1234440"/>
              </a:tblGrid>
              <a:tr h="402336">
                <a:tc>
                  <a:txBody>
                    <a:bodyPr wrap="square"/>
                    <a:lstStyle/>
                    <a:p>
                      <a:pPr algn="l"/>
                      <a:r>
                        <a:rPr sz="1400" b="1" i="0">
                          <a:solidFill>
                            <a:srgbClr val="FFFFFF"/>
                          </a:solidFill>
                          <a:latin typeface="Segoe UI"/>
                        </a:rPr>
                        <a:t>Checkpoint interval</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5 s</a:t>
                      </a:r>
                    </a:p>
                  </a:txBody>
                  <a:tcPr marL="109728" marR="109728" anchor="ctr">
                    <a:solidFill>
                      <a:srgbClr val="FFFFFF"/>
                    </a:solidFill>
                  </a:tcPr>
                </a:tc>
                <a:tc>
                  <a:txBody>
                    <a:bodyPr wrap="square"/>
                    <a:lstStyle/>
                    <a:p>
                      <a:pPr algn="r"/>
                      <a:r>
                        <a:rPr sz="1400" b="0" i="0">
                          <a:solidFill>
                            <a:srgbClr val="2E3D4A"/>
                          </a:solidFill>
                          <a:latin typeface="Consolas"/>
                        </a:rPr>
                        <a:t>2 488 ms</a:t>
                      </a:r>
                    </a:p>
                  </a:txBody>
                  <a:tcPr marL="109728" marR="109728" anchor="ctr">
                    <a:solidFill>
                      <a:srgbClr val="FFFFFF"/>
                    </a:solidFill>
                  </a:tcPr>
                </a:tc>
                <a:tc>
                  <a:txBody>
                    <a:bodyPr wrap="square"/>
                    <a:lstStyle/>
                    <a:p>
                      <a:pPr algn="r"/>
                      <a:r>
                        <a:rPr sz="1400" b="0" i="0">
                          <a:solidFill>
                            <a:srgbClr val="2E3D4A"/>
                          </a:solidFill>
                          <a:latin typeface="Consolas"/>
                        </a:rPr>
                        <a:t>4 988 ms</a:t>
                      </a:r>
                    </a:p>
                  </a:txBody>
                  <a:tcPr marL="109728" marR="109728" anchor="ctr">
                    <a:solidFill>
                      <a:srgbClr val="FFFFFF"/>
                    </a:solidFill>
                  </a:tcPr>
                </a:tc>
              </a:tr>
              <a:tr h="365760">
                <a:tc>
                  <a:txBody>
                    <a:bodyPr wrap="square"/>
                    <a:lstStyle/>
                    <a:p>
                      <a:pPr algn="l"/>
                      <a:r>
                        <a:rPr sz="1400" b="1" i="0">
                          <a:solidFill>
                            <a:srgbClr val="14222E"/>
                          </a:solidFill>
                          <a:latin typeface="Segoe UI"/>
                        </a:rPr>
                        <a:t>1 s  (the default)</a:t>
                      </a:r>
                    </a:p>
                  </a:txBody>
                  <a:tcPr marL="109728" marR="109728" anchor="ctr">
                    <a:solidFill>
                      <a:srgbClr val="F2F5F7"/>
                    </a:solidFill>
                  </a:tcPr>
                </a:tc>
                <a:tc>
                  <a:txBody>
                    <a:bodyPr wrap="square"/>
                    <a:lstStyle/>
                    <a:p>
                      <a:pPr algn="r"/>
                      <a:r>
                        <a:rPr sz="1400" b="1" i="0">
                          <a:solidFill>
                            <a:srgbClr val="14222E"/>
                          </a:solidFill>
                          <a:latin typeface="Consolas"/>
                        </a:rPr>
                        <a:t>497 ms</a:t>
                      </a:r>
                    </a:p>
                  </a:txBody>
                  <a:tcPr marL="109728" marR="109728" anchor="ctr">
                    <a:solidFill>
                      <a:srgbClr val="F2F5F7"/>
                    </a:solidFill>
                  </a:tcPr>
                </a:tc>
                <a:tc>
                  <a:txBody>
                    <a:bodyPr wrap="square"/>
                    <a:lstStyle/>
                    <a:p>
                      <a:pPr algn="r"/>
                      <a:r>
                        <a:rPr sz="1400" b="1" i="0">
                          <a:solidFill>
                            <a:srgbClr val="14222E"/>
                          </a:solidFill>
                          <a:latin typeface="Consolas"/>
                        </a:rPr>
                        <a:t>1 041 ms</a:t>
                      </a:r>
                    </a:p>
                  </a:txBody>
                  <a:tcPr marL="109728" marR="109728" anchor="ctr">
                    <a:solidFill>
                      <a:srgbClr val="F2F5F7"/>
                    </a:solidFill>
                  </a:tcPr>
                </a:tc>
              </a:tr>
            </a:tbl>
          </a:graphicData>
        </a:graphic>
      </p:graphicFrame>
      <p:sp>
        <p:nvSpPr>
          <p:cNvPr id="7" name="TextBox 6"/>
          <p:cNvSpPr txBox="1"/>
          <p:nvPr/>
        </p:nvSpPr>
        <p:spPr>
          <a:xfrm>
            <a:off x="685800" y="3575304"/>
            <a:ext cx="10881360" cy="822960"/>
          </a:xfrm>
          <a:prstGeom prst="rect">
            <a:avLst/>
          </a:prstGeom>
          <a:noFill/>
        </p:spPr>
        <p:txBody>
          <a:bodyPr wrap="square">
            <a:spAutoFit/>
          </a:bodyPr>
          <a:lstStyle/>
          <a:p>
            <a:pPr algn="l"/>
            <a:r>
              <a:rPr sz="1600" b="0" i="0">
                <a:solidFill>
                  <a:srgbClr val="14222E"/>
                </a:solidFill>
                <a:latin typeface="Segoe UI"/>
              </a:rPr>
              <a:t>The gap is the guarantee, not the work. Shorten the interval fivefold, the latency falls fivefold. A checkpoint itself takes 13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stayed under half a core.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THE WHOLE CURVE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Where it stops, and why the broker looks idle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86537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1</a:t>
                      </a:r>
                    </a:p>
                  </a:txBody>
                  <a:tcPr marL="109728" marR="109728" anchor="ctr">
                    <a:solidFill>
                      <a:srgbClr val="FFFFFF"/>
                    </a:solidFill>
                  </a:tcPr>
                </a:tc>
                <a:tc>
                  <a:txBody>
                    <a:bodyPr wrap="square"/>
                    <a:lstStyle/>
                    <a:p>
                      <a:pPr algn="r"/>
                      <a:r>
                        <a:rPr sz="1400" b="0" i="0">
                          <a:solidFill>
                            <a:srgbClr val="2E3D4A"/>
                          </a:solidFill>
                          <a:latin typeface="Consolas"/>
                        </a:rPr>
                        <a:t>30 505</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1.00 of 1</a:t>
                      </a:r>
                    </a:p>
                  </a:txBody>
                  <a:tcPr marL="109728" marR="109728" anchor="ctr">
                    <a:solidFill>
                      <a:srgbClr val="FFFFFF"/>
                    </a:solidFill>
                  </a:tcPr>
                </a:tc>
                <a:tc>
                  <a:txBody>
                    <a:bodyPr wrap="square"/>
                    <a:lstStyle/>
                    <a:p>
                      <a:pPr algn="r"/>
                      <a:r>
                        <a:rPr sz="1400" b="0" i="0">
                          <a:solidFill>
                            <a:srgbClr val="2E3D4A"/>
                          </a:solidFill>
                          <a:latin typeface="Consolas"/>
                        </a:rPr>
                        <a:t>0.10</a:t>
                      </a:r>
                    </a:p>
                  </a:txBody>
                  <a:tcPr marL="109728" marR="109728" anchor="ctr">
                    <a:solidFill>
                      <a:srgbClr val="FFFFFF"/>
                    </a:solidFill>
                  </a:tcPr>
                </a:tc>
                <a:tc>
                  <a:txBody>
                    <a:bodyPr wrap="square"/>
                    <a:lstStyle/>
                    <a:p>
                      <a:pPr algn="r"/>
                      <a:r>
                        <a:rPr sz="1400" b="0" i="0">
                          <a:solidFill>
                            <a:srgbClr val="2E3D4A"/>
                          </a:solidFill>
                          <a:latin typeface="Consolas"/>
                        </a:rPr>
                        <a:t>24.1%</a:t>
                      </a:r>
                    </a:p>
                  </a:txBody>
                  <a:tcPr marL="109728" marR="109728" anchor="ctr">
                    <a:solidFill>
                      <a:srgbClr val="FFFFFF"/>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2.15×</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0" i="0">
                          <a:solidFill>
                            <a:srgbClr val="2E3D4A"/>
                          </a:solidFill>
                          <a:latin typeface="Segoe UI"/>
                        </a:rPr>
                        <a:t>4</a:t>
                      </a:r>
                    </a:p>
                  </a:txBody>
                  <a:tcPr marL="109728" marR="109728" anchor="ctr">
                    <a:solidFill>
                      <a:srgbClr val="FFFFFF"/>
                    </a:solidFill>
                  </a:tcPr>
                </a:tc>
                <a:tc>
                  <a:txBody>
                    <a:bodyPr wrap="square"/>
                    <a:lstStyle/>
                    <a:p>
                      <a:pPr algn="r"/>
                      <a:r>
                        <a:rPr sz="1400" b="0" i="0">
                          <a:solidFill>
                            <a:srgbClr val="2E3D4A"/>
                          </a:solidFill>
                          <a:latin typeface="Consolas"/>
                        </a:rPr>
                        <a:t>129 056</a:t>
                      </a:r>
                    </a:p>
                  </a:txBody>
                  <a:tcPr marL="109728" marR="109728" anchor="ctr">
                    <a:solidFill>
                      <a:srgbClr val="FFFFFF"/>
                    </a:solidFill>
                  </a:tcPr>
                </a:tc>
                <a:tc>
                  <a:txBody>
                    <a:bodyPr wrap="square"/>
                    <a:lstStyle/>
                    <a:p>
                      <a:pPr algn="r"/>
                      <a:r>
                        <a:rPr sz="1400" b="0" i="0">
                          <a:solidFill>
                            <a:srgbClr val="2E3D4A"/>
                          </a:solidFill>
                          <a:latin typeface="Consolas"/>
                        </a:rPr>
                        <a:t>1.96×</a:t>
                      </a:r>
                    </a:p>
                  </a:txBody>
                  <a:tcPr marL="109728" marR="109728" anchor="ctr">
                    <a:solidFill>
                      <a:srgbClr val="FFFFFF"/>
                    </a:solidFill>
                  </a:tcPr>
                </a:tc>
                <a:tc>
                  <a:txBody>
                    <a:bodyPr wrap="square"/>
                    <a:lstStyle/>
                    <a:p>
                      <a:pPr algn="r"/>
                      <a:r>
                        <a:rPr sz="1400" b="0" i="0">
                          <a:solidFill>
                            <a:srgbClr val="2E3D4A"/>
                          </a:solidFill>
                          <a:latin typeface="Consolas"/>
                        </a:rPr>
                        <a:t>3.94 of 4</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51.6%</a:t>
                      </a:r>
                    </a:p>
                  </a:txBody>
                  <a:tcPr marL="109728" marR="109728" anchor="ctr">
                    <a:solidFill>
                      <a:srgbClr val="FFFFFF"/>
                    </a:solidFill>
                  </a:tcPr>
                </a:tc>
              </a:tr>
              <a:tr h="365760">
                <a:tc>
                  <a:txBody>
                    <a:bodyPr wrap="square"/>
                    <a:lstStyle/>
                    <a:p>
                      <a:pPr algn="l"/>
                      <a:r>
                        <a:rPr sz="1400" b="1" i="0">
                          <a:solidFill>
                            <a:srgbClr val="14222E"/>
                          </a:solidFill>
                          <a:latin typeface="Segoe UI"/>
                        </a:rPr>
                        <a:t>8</a:t>
                      </a:r>
                    </a:p>
                  </a:txBody>
                  <a:tcPr marL="109728" marR="109728" anchor="ctr">
                    <a:solidFill>
                      <a:srgbClr val="F2F5F7"/>
                    </a:solidFill>
                  </a:tcPr>
                </a:tc>
                <a:tc>
                  <a:txBody>
                    <a:bodyPr wrap="square"/>
                    <a:lstStyle/>
                    <a:p>
                      <a:pPr algn="r"/>
                      <a:r>
                        <a:rPr sz="1400" b="1" i="0">
                          <a:solidFill>
                            <a:srgbClr val="14222E"/>
                          </a:solidFill>
                          <a:latin typeface="Consolas"/>
                        </a:rPr>
                        <a:t>151 969</a:t>
                      </a:r>
                    </a:p>
                  </a:txBody>
                  <a:tcPr marL="109728" marR="109728" anchor="ctr">
                    <a:solidFill>
                      <a:srgbClr val="F2F5F7"/>
                    </a:solidFill>
                  </a:tcPr>
                </a:tc>
                <a:tc>
                  <a:txBody>
                    <a:bodyPr wrap="square"/>
                    <a:lstStyle/>
                    <a:p>
                      <a:pPr algn="r"/>
                      <a:r>
                        <a:rPr sz="1400" b="1" i="0">
                          <a:solidFill>
                            <a:srgbClr val="14222E"/>
                          </a:solidFill>
                          <a:latin typeface="Consolas"/>
                        </a:rPr>
                        <a:t>1.18×</a:t>
                      </a:r>
                    </a:p>
                  </a:txBody>
                  <a:tcPr marL="109728" marR="109728" anchor="ctr">
                    <a:solidFill>
                      <a:srgbClr val="F2F5F7"/>
                    </a:solidFill>
                  </a:tcPr>
                </a:tc>
                <a:tc>
                  <a:txBody>
                    <a:bodyPr wrap="square"/>
                    <a:lstStyle/>
                    <a:p>
                      <a:pPr algn="r"/>
                      <a:r>
                        <a:rPr sz="1400" b="1" i="0">
                          <a:solidFill>
                            <a:srgbClr val="14222E"/>
                          </a:solidFill>
                          <a:latin typeface="Consolas"/>
                        </a:rPr>
                        <a:t>4.98 of 8</a:t>
                      </a:r>
                    </a:p>
                  </a:txBody>
                  <a:tcPr marL="109728" marR="109728" anchor="ctr">
                    <a:solidFill>
                      <a:srgbClr val="F2F5F7"/>
                    </a:solidFill>
                  </a:tcPr>
                </a:tc>
                <a:tc>
                  <a:txBody>
                    <a:bodyPr wrap="square"/>
                    <a:lstStyle/>
                    <a:p>
                      <a:pPr algn="r"/>
                      <a:r>
                        <a:rPr sz="1400" b="1" i="0">
                          <a:solidFill>
                            <a:srgbClr val="14222E"/>
                          </a:solidFill>
                          <a:latin typeface="Consolas"/>
                        </a:rPr>
                        <a:t>0.48</a:t>
                      </a:r>
                    </a:p>
                  </a:txBody>
                  <a:tcPr marL="109728" marR="109728" anchor="ctr">
                    <a:solidFill>
                      <a:srgbClr val="F2F5F7"/>
                    </a:solidFill>
                  </a:tcPr>
                </a:tc>
                <a:tc>
                  <a:txBody>
                    <a:bodyPr wrap="square"/>
                    <a:lstStyle/>
                    <a:p>
                      <a:pPr algn="r"/>
                      <a:r>
                        <a:rPr sz="1400" b="1" i="0">
                          <a:solidFill>
                            <a:srgbClr val="14222E"/>
                          </a:solidFill>
                          <a:latin typeface="Consolas"/>
                        </a:rPr>
                        <a:t>72.7%</a:t>
                      </a:r>
                    </a:p>
                  </a:txBody>
                  <a:tcPr marL="109728" marR="109728" anchor="ctr">
                    <a:solidFill>
                      <a:srgbClr val="F2F5F7"/>
                    </a:solidFill>
                  </a:tcPr>
                </a:tc>
              </a:tr>
            </a:tbl>
          </a:graphicData>
        </a:graphic>
      </p:graphicFrame>
      <p:sp>
        <p:nvSpPr>
          <p:cNvPr id="6" name="TextBox 5"/>
          <p:cNvSpPr txBox="1"/>
          <p:nvPr/>
        </p:nvSpPr>
        <p:spPr>
          <a:xfrm>
            <a:off x="685800" y="4169664"/>
            <a:ext cx="10881360" cy="1645920"/>
          </a:xfrm>
          <a:prstGeom prst="rect">
            <a:avLst/>
          </a:prstGeom>
          <a:noFill/>
        </p:spPr>
        <p:txBody>
          <a:bodyPr wrap="square">
            <a:spAutoFit/>
          </a:bodyPr>
          <a:lstStyle/>
          <a:p>
            <a:pPr algn="l"/>
            <a:r>
              <a:rPr sz="1600" b="1" i="0">
                <a:solidFill>
                  <a:srgbClr val="A84B2A"/>
                </a:solidFill>
                <a:latin typeface="Segoe UI"/>
              </a:rPr>
              <a:t>The broker is at 0.48 cores while being the thing in the way.  </a:t>
            </a:r>
            <a:r>
              <a:rPr sz="1600" b="0" i="0">
                <a:solidFill>
                  <a:srgbClr val="2E3D4A"/>
                </a:solidFill>
                <a:latin typeface="Segoe UI"/>
              </a:rPr>
              <a:t>It has run out of write throughput, not CPU: 151 969 orders/sec is 759 845 records/sec, against the ~750 000 one broker accepts — because each order becomes five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SAME SCRIPT, BIGGER KAFKA</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Is that Flink's ceiling, or the laptop's?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8412480" cy="1499616"/>
        </p:xfrm>
        <a:graphic>
          <a:graphicData uri="http://schemas.openxmlformats.org/drawingml/2006/table">
            <a:tbl>
              <a:tblPr bandRow="1">
                <a:tableStyleId>{5C22544A-7EE6-4342-B048-85BDC9FD1C3A}</a:tableStyleId>
              </a:tblPr>
              <a:tblGrid>
                <a:gridCol w="4023360"/>
                <a:gridCol w="2194560"/>
                <a:gridCol w="2194560"/>
              </a:tblGrid>
              <a:tr h="402336">
                <a:tc>
                  <a:txBody>
                    <a:bodyPr wrap="square"/>
                    <a:lstStyle/>
                    <a:p>
                      <a:pPr algn="l"/>
                      <a:r>
                        <a:rPr sz="1500" b="1" i="0">
                          <a:solidFill>
                            <a:srgbClr val="FFFFFF"/>
                          </a:solidFill>
                          <a:latin typeface="Segoe UI"/>
                        </a:rPr>
                        <a:t/>
                      </a:r>
                    </a:p>
                  </a:txBody>
                  <a:tcPr marL="109728" marR="109728" anchor="ctr">
                    <a:solidFill>
                      <a:srgbClr val="14222E"/>
                    </a:solidFill>
                  </a:tcPr>
                </a:tc>
                <a:tc>
                  <a:txBody>
                    <a:bodyPr wrap="square"/>
                    <a:lstStyle/>
                    <a:p>
                      <a:pPr algn="r"/>
                      <a:r>
                        <a:rPr sz="1500" b="1" i="0">
                          <a:solidFill>
                            <a:srgbClr val="FFFFFF"/>
                          </a:solidFill>
                          <a:latin typeface="Segoe UI"/>
                        </a:rPr>
                        <a:t>laptop</a:t>
                      </a:r>
                    </a:p>
                  </a:txBody>
                  <a:tcPr marL="109728" marR="109728" anchor="ctr">
                    <a:solidFill>
                      <a:srgbClr val="14222E"/>
                    </a:solidFill>
                  </a:tcPr>
                </a:tc>
                <a:tc>
                  <a:txBody>
                    <a:bodyPr wrap="square"/>
                    <a:lstStyle/>
                    <a:p>
                      <a:pPr algn="r"/>
                      <a:r>
                        <a:rPr sz="1500" b="1" i="0">
                          <a:solidFill>
                            <a:srgbClr val="FFFFFF"/>
                          </a:solidFill>
                          <a:latin typeface="Segoe UI"/>
                        </a:rPr>
                        <a:t>AWS</a:t>
                      </a:r>
                    </a:p>
                  </a:txBody>
                  <a:tcPr marL="109728" marR="109728" anchor="ctr">
                    <a:solidFill>
                      <a:srgbClr val="14222E"/>
                    </a:solidFill>
                  </a:tcPr>
                </a:tc>
              </a:tr>
              <a:tr h="365760">
                <a:tc>
                  <a:txBody>
                    <a:bodyPr wrap="square"/>
                    <a:lstStyle/>
                    <a:p>
                      <a:pPr algn="l"/>
                      <a:r>
                        <a:rPr sz="1500" b="1" i="0">
                          <a:solidFill>
                            <a:srgbClr val="14222E"/>
                          </a:solidFill>
                          <a:latin typeface="Segoe UI"/>
                        </a:rPr>
                        <a:t>4 → 8 units</a:t>
                      </a:r>
                    </a:p>
                  </a:txBody>
                  <a:tcPr marL="109728" marR="109728" anchor="ctr">
                    <a:solidFill>
                      <a:srgbClr val="F2F5F7"/>
                    </a:solidFill>
                  </a:tcPr>
                </a:tc>
                <a:tc>
                  <a:txBody>
                    <a:bodyPr wrap="square"/>
                    <a:lstStyle/>
                    <a:p>
                      <a:pPr algn="r"/>
                      <a:r>
                        <a:rPr sz="1500" b="1" i="0">
                          <a:solidFill>
                            <a:srgbClr val="14222E"/>
                          </a:solidFill>
                          <a:latin typeface="Consolas"/>
                        </a:rPr>
                        <a:t>1.18×</a:t>
                      </a:r>
                    </a:p>
                  </a:txBody>
                  <a:tcPr marL="109728" marR="109728" anchor="ctr">
                    <a:solidFill>
                      <a:srgbClr val="F2F5F7"/>
                    </a:solidFill>
                  </a:tcPr>
                </a:tc>
                <a:tc>
                  <a:txBody>
                    <a:bodyPr wrap="square"/>
                    <a:lstStyle/>
                    <a:p>
                      <a:pPr algn="r"/>
                      <a:r>
                        <a:rPr sz="1500" b="1" i="0">
                          <a:solidFill>
                            <a:srgbClr val="14222E"/>
                          </a:solidFill>
                          <a:latin typeface="Consolas"/>
                        </a:rPr>
                        <a:t>1.73×</a:t>
                      </a:r>
                    </a:p>
                  </a:txBody>
                  <a:tcPr marL="109728" marR="109728" anchor="ctr">
                    <a:solidFill>
                      <a:srgbClr val="F2F5F7"/>
                    </a:solidFill>
                  </a:tcPr>
                </a:tc>
              </a:tr>
              <a:tr h="365760">
                <a:tc>
                  <a:txBody>
                    <a:bodyPr wrap="square"/>
                    <a:lstStyle/>
                    <a:p>
                      <a:pPr algn="l"/>
                      <a:r>
                        <a:rPr sz="1500" b="1" i="0">
                          <a:solidFill>
                            <a:srgbClr val="14222E"/>
                          </a:solidFill>
                          <a:latin typeface="Segoe UI"/>
                        </a:rPr>
                        <a:t>Flink cores at 8 units</a:t>
                      </a:r>
                    </a:p>
                  </a:txBody>
                  <a:tcPr marL="109728" marR="109728" anchor="ctr">
                    <a:solidFill>
                      <a:srgbClr val="F2F5F7"/>
                    </a:solidFill>
                  </a:tcPr>
                </a:tc>
                <a:tc>
                  <a:txBody>
                    <a:bodyPr wrap="square"/>
                    <a:lstStyle/>
                    <a:p>
                      <a:pPr algn="r"/>
                      <a:r>
                        <a:rPr sz="1500" b="1" i="0">
                          <a:solidFill>
                            <a:srgbClr val="14222E"/>
                          </a:solidFill>
                          <a:latin typeface="Consolas"/>
                        </a:rPr>
                        <a:t>4.98 of 8</a:t>
                      </a:r>
                    </a:p>
                  </a:txBody>
                  <a:tcPr marL="109728" marR="109728" anchor="ctr">
                    <a:solidFill>
                      <a:srgbClr val="F2F5F7"/>
                    </a:solidFill>
                  </a:tcPr>
                </a:tc>
                <a:tc>
                  <a:txBody>
                    <a:bodyPr wrap="square"/>
                    <a:lstStyle/>
                    <a:p>
                      <a:pPr algn="r"/>
                      <a:r>
                        <a:rPr sz="1500" b="1" i="0">
                          <a:solidFill>
                            <a:srgbClr val="14222E"/>
                          </a:solidFill>
                          <a:latin typeface="Consolas"/>
                        </a:rPr>
                        <a:t>7.99 of 8</a:t>
                      </a:r>
                    </a:p>
                  </a:txBody>
                  <a:tcPr marL="109728" marR="109728" anchor="ctr">
                    <a:solidFill>
                      <a:srgbClr val="F2F5F7"/>
                    </a:solidFill>
                  </a:tcPr>
                </a:tc>
              </a:tr>
              <a:tr h="365760">
                <a:tc>
                  <a:txBody>
                    <a:bodyPr wrap="square"/>
                    <a:lstStyle/>
                    <a:p>
                      <a:pPr algn="l"/>
                      <a:r>
                        <a:rPr sz="1500" b="0" i="0">
                          <a:solidFill>
                            <a:srgbClr val="2E3D4A"/>
                          </a:solidFill>
                          <a:latin typeface="Segoe UI"/>
                        </a:rPr>
                        <a:t>broker cores at 8 units</a:t>
                      </a:r>
                    </a:p>
                  </a:txBody>
                  <a:tcPr marL="109728" marR="109728" anchor="ctr">
                    <a:solidFill>
                      <a:srgbClr val="FFFFFF"/>
                    </a:solidFill>
                  </a:tcPr>
                </a:tc>
                <a:tc>
                  <a:txBody>
                    <a:bodyPr wrap="square"/>
                    <a:lstStyle/>
                    <a:p>
                      <a:pPr algn="r"/>
                      <a:r>
                        <a:rPr sz="1500" b="0" i="0">
                          <a:solidFill>
                            <a:srgbClr val="2E3D4A"/>
                          </a:solidFill>
                          <a:latin typeface="Consolas"/>
                        </a:rPr>
                        <a:t>0.48</a:t>
                      </a:r>
                    </a:p>
                  </a:txBody>
                  <a:tcPr marL="109728" marR="109728" anchor="ctr">
                    <a:solidFill>
                      <a:srgbClr val="FFFFFF"/>
                    </a:solidFill>
                  </a:tcPr>
                </a:tc>
                <a:tc>
                  <a:txBody>
                    <a:bodyPr wrap="square"/>
                    <a:lstStyle/>
                    <a:p>
                      <a:pPr algn="r"/>
                      <a:r>
                        <a:rPr sz="1500" b="0" i="0">
                          <a:solidFill>
                            <a:srgbClr val="2E3D4A"/>
                          </a:solidFill>
                          <a:latin typeface="Consolas"/>
                        </a:rPr>
                        <a:t>0.62</a:t>
                      </a:r>
                    </a:p>
                  </a:txBody>
                  <a:tcPr marL="109728" marR="109728" anchor="ctr">
                    <a:solidFill>
                      <a:srgbClr val="FFFFFF"/>
                    </a:solidFill>
                  </a:tcPr>
                </a:tc>
              </a:tr>
            </a:tbl>
          </a:graphicData>
        </a:graphic>
      </p:graphicFrame>
      <p:sp>
        <p:nvSpPr>
          <p:cNvPr id="6" name="TextBox 5"/>
          <p:cNvSpPr txBox="1"/>
          <p:nvPr/>
        </p:nvSpPr>
        <p:spPr>
          <a:xfrm>
            <a:off x="685800" y="3803904"/>
            <a:ext cx="10881360" cy="1828800"/>
          </a:xfrm>
          <a:prstGeom prst="rect">
            <a:avLst/>
          </a:prstGeom>
          <a:noFill/>
        </p:spPr>
        <p:txBody>
          <a:bodyPr wrap="square">
            <a:spAutoFit/>
          </a:bodyPr>
          <a:lstStyle/>
          <a:p>
            <a:pPr algn="l"/>
            <a:r>
              <a:rPr sz="1700" b="1" i="0">
                <a:solidFill>
                  <a:srgbClr val="2C6E49"/>
                </a:solidFill>
                <a:latin typeface="Segoe UI"/>
              </a:rPr>
              <a:t>The laptop's.  </a:t>
            </a:r>
            <a:r>
              <a:rPr sz="1700" b="0" i="0">
                <a:solidFill>
                  <a:srgbClr val="2E3D4A"/>
                </a:solidFill>
                <a:latin typeface="Segoe UI"/>
              </a:rPr>
              <a:t>The same script, unchanged, against a two-broker MSK cluster. With the broker no longer in the way, Flink uses everything it is given and the flattening disappears. Nothing about the job 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HOW IT WAS BUILT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Thirteen steps, each reviewed before the next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600" b="1" i="0">
                <a:solidFill>
                  <a:srgbClr val="1B6B8A"/>
                </a:solidFill>
                <a:latin typeface="Segoe UI"/>
              </a:rPr>
              <a:t>▸   </a:t>
            </a:r>
            <a:r>
              <a:rPr sz="1600" b="1" i="0">
                <a:solidFill>
                  <a:srgbClr val="14222E"/>
                </a:solidFill>
                <a:latin typeface="Segoe UI"/>
              </a:rPr>
              <a:t>One branch per step, squash-merged.  </a:t>
            </a:r>
            <a:r>
              <a:rPr sz="1600" b="0" i="0">
                <a:solidFill>
                  <a:srgbClr val="2E3D4A"/>
                </a:solidFill>
                <a:latin typeface="Segoe UI"/>
              </a:rPr>
              <a:t>Linear history, one commit and one tag per step, branches kept so the working history stays inspectable.</a:t>
            </a:r>
          </a:p>
          <a:p>
            <a:pPr>
              <a:spcAft>
                <a:spcPts val="1400"/>
              </a:spcAft>
            </a:pPr>
            <a:r>
              <a:rPr sz="1600" b="1" i="0">
                <a:solidFill>
                  <a:srgbClr val="1B6B8A"/>
                </a:solidFill>
                <a:latin typeface="Segoe UI"/>
              </a:rPr>
              <a:t>▸   </a:t>
            </a:r>
            <a:r>
              <a:rPr sz="1600" b="1" i="0">
                <a:solidFill>
                  <a:srgbClr val="14222E"/>
                </a:solidFill>
                <a:latin typeface="Segoe UI"/>
              </a:rPr>
              <a:t>CI on every push.  </a:t>
            </a:r>
            <a:r>
              <a:rPr sz="1600" b="0" i="0">
                <a:solidFill>
                  <a:srgbClr val="2E3D4A"/>
                </a:solidFill>
                <a:latin typeface="Segoe UI"/>
              </a:rPr>
              <a:t>Build and unit tests, shellcheck, a cold-start run of the whole stack, and a job that verifies the expected numbers against real topics.</a:t>
            </a:r>
          </a:p>
          <a:p>
            <a:pPr>
              <a:spcAft>
                <a:spcPts val="1400"/>
              </a:spcAft>
            </a:pPr>
            <a:r>
              <a:rPr sz="1600" b="1" i="0">
                <a:solidFill>
                  <a:srgbClr val="1B6B8A"/>
                </a:solidFill>
                <a:latin typeface="Segoe UI"/>
              </a:rPr>
              <a:t>▸   </a:t>
            </a:r>
            <a:r>
              <a:rPr sz="1600" b="1" i="0">
                <a:solidFill>
                  <a:srgbClr val="14222E"/>
                </a:solidFill>
                <a:latin typeface="Segoe UI"/>
              </a:rPr>
              <a:t>Everything is scripted.  </a:t>
            </a:r>
            <a:r>
              <a:rPr sz="1600" b="0" i="0">
                <a:solidFill>
                  <a:srgbClr val="2E3D4A"/>
                </a:solidFill>
                <a:latin typeface="Segoe UI"/>
              </a:rPr>
              <a:t>The demo, the chaos test, the latency measurement, the scaling run —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